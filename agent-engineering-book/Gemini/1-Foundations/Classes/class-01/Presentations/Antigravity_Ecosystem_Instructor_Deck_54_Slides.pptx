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Antigravity as an ecosystem, not just a single app. The key idea is multiple product surfaces sharing one underlying harness. Frame the talk around where Antigravity fits in modern agent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expectations. This is a structured overview that starts from the why, then walks through the surfaces and architecture, and finally lands on enterprise application and the WidgetWare SDR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industry shift: first we had chat tools, then assistants embedded into workflows, and now platforms designed for orchestration. Position Antigravity inside that larger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rest of the deck on this definition. Antigravity is not one monolithic app. It is a family of surfaces on top of a common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normalize the idea that different tools are appropriate for different levels of control, speed, and abstraction.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useful to distinguish source facts from instructor interpretation. It helps keep the training honest and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now we dive into the four product surfaces individually and compare how they support different developer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four surfaces as complementary. You could use more than one on the same project depending on the task and stage of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desktop as the home base for orchestrated work. Emphasize the concepts of projects, workspaces, and worktrees, and how they support parallel efforts.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desktop mindset: start with a goal, produce a plan, delegate work, observe artifacts, and review outcomes. Stress the value of asynchronous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CLI is about speed and locality. Developers who live in the terminal want agent capability without leaving their normal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terminal value proposition. There is very little friction between asking and doing, and that matters for experienced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SDK is where Antigravity becomes an application platform. Stress that this surface is for people building with agents, not just using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stack from developer code down to model interaction. This is the most extensible surface in the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many developers, the IDE surface will feel the most familiar. It concentrates context, code, tools, and agent interaction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emphasize that the IDE adds leverage through context. Better context usually means better agent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section by bringing everything back to choice. This is less about product rivalry and more about fit for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architectural core. The main claim here is that the surfaces differ, but the underlying harness creates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pedagogical message: surfaces are variable, foundation is stable. This reduces re-learning and helps developers move between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the abstract word 'harness' into responsibilities. This makes the concept concrete and easier for students to connect to systems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important for conceptual clarity. Students often blur model, tool, and system. Separate those layers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lifecycle to teach debugging. If something goes wrong, ask which step in the lifecycle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agentic idea: coordinate rather than merely answer. The more complex the task, the more important planning and control become.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Artifacts help bridge trust. In human terms, they are the evidence trail that lets developers see what happened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the section by summarizing the architecture visually. This slide can be reused later as a reference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architecture to behavior. We now focus on what the system can actually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clearest differentiators between a simple assistant and an agent system. The platform can multiply effort through structured delegation.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idea of embarrassingly parallel work versus tightly coupled work. Not every task should be parallelized, but many can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Artifacts help answer the user's biggest question: what exactly did the agent do? They are crucial for review, compliance, and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opportunity to teach why agent systems need stronger safety practices than ordinary software automation. More autonomy means more surface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examples such as test suites, codebase analysis, documentation synthesis, or multi-repo change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Scheduled execution is one of the bridges from interactive assistance to operational automation. This matters a lot in enterprise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acts as a recap and a transition into integrations. It consolidates the behaviors that students should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now that we understand the core platform, we look at the integrations that extend its usefulness.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specific integrations matter, but the larger lesson is ecosystem fit. Good agent platforms reduce friction around the tools developers already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not need to overclaim specifics here. The point is that Antigravity can meet specialized development communities through curated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nice bridge slide because many developers already understand Firebase and can immediately picture the value of integrated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explain why modern agent systems need access to the web as a tool, not just as text stuffed into a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broadens the audience's imagination. The same platform ideas can support specialized scientific work, not just general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enjoy this concept: the platform can help you use the platform. It is a very modern idea in AI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section by zooming back out. The point is not any one integration. The point is an expandable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product to enterprise usage. This is where you interpret the ecosystem from an architect's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personas. Enterprises rarely have one homogeneous user group. Different personas need different levels of control and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deliberately a conceptual reference architecture. It helps executives and architects understand where Antigravity sits in relation to enterprise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point that governance is not separate from capability. Good platform features can support both productivity and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useful slide for enterprise talks. People often want a rollout model, not just a technology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your teaching framework adds value. It helps students place the product in a larger engineering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the enterprise section with a concrete, practical checklist. This makes the material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architecture to a business workflow example. This grounds the ecosystem in a real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business use case. The point is not only sales; the point is a familiar multi-step workflow that benefits from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uses the case study to show how different Antigravity surfaces could collaborate around one business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process slide for the case study. It mirrors the broader harness lifecycle but in business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the case study by translating platform features into business outcomes. This is often the most memorable part for mixed technical and business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the close. The goal is to reinforce a small number of key messages, not to add new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executive summary of the entire talk. Read it slowly and use it to help the audience compress the material into a few durable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action. Encourage the audience to move from passive awareness to hands-on experimentation with one clear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The Antigravity Ecosystem</a:t>
            </a:r>
          </a:p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A professional instructor deck on product surfaces, shared harness, capabilities, integrations, and enterprise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79476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39" y="395935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922776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4348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  <a:latin typeface="Aptos"/>
              </a:defRPr>
            </a:pPr>
            <a:r>
              <a:t>Projects • async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79476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79" y="395935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3922776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44348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  <a:latin typeface="Aptos"/>
              </a:defRPr>
            </a:pPr>
            <a:r>
              <a:t>Fast terminal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79476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395935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922776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44348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  <a:latin typeface="Aptos"/>
              </a:defRPr>
            </a:pPr>
            <a:r>
              <a:t>Custom Python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79476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395935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922776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44348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  <a:latin typeface="Aptos"/>
              </a:defRPr>
            </a:pPr>
            <a:r>
              <a:t>Integrated coding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5440680"/>
            <a:ext cx="649224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5596128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ptos"/>
              </a:defRPr>
            </a:pPr>
            <a:r>
              <a:t>Shared agent harness powered by Gemini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Eight short modules that move from overview to enterprise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623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847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5000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69164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76472" y="185623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18653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847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235000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69164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9672" y="185623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8653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1847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35000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9164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2" y="185623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18653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1847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35000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61188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77647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1912" y="376732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427024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361188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76472" y="3776472"/>
            <a:ext cx="438912" cy="43891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647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376732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3048" y="427024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61188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19672" y="377647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376732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6248" y="427024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361188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62872" y="377647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287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1512" y="376732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427024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623560"/>
            <a:ext cx="101955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2" y="5733288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Teaching lens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We will keep the focus on architecture, workflow, and real developer usage rather than product marketing.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Why this ecosystem matters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Developer tooling is shifting from chat interfaces to orchestrated agent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303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Developers increasingly need agents that can plan, execute, and verify work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Simple chat is useful, but complex tasks demand tools, context, and subagents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Different workflows need different surfaces: desktop, terminal, IDE, and SDK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A shared harness creates consistency across those surfaces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28800"/>
            <a:ext cx="13258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1892808"/>
            <a:ext cx="117957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15544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92808"/>
            <a:ext cx="140817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Assistant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971800"/>
            <a:ext cx="13258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3035808"/>
            <a:ext cx="117957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971800"/>
            <a:ext cx="1554480" cy="65836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3035808"/>
            <a:ext cx="140817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Ecosystem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01000" y="2148840"/>
            <a:ext cx="13716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2514600"/>
            <a:ext cx="0" cy="393192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0" y="2514600"/>
            <a:ext cx="0" cy="393192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37960" y="4023360"/>
            <a:ext cx="384048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4133088"/>
            <a:ext cx="35204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Big idea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Antigravity represents the move from one AI tool to a coordinated developer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What is Antigravity?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set of product surfaces that expose a common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Antigravity offers multiple interfaces tailored to different development workflows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The documented surfaces are Antigravity 2.0, CLI, SDK, and IDE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Each surface exposes overlapping agent capabilities while optimizing for a specific usage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176479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739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75564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258568"/>
            <a:ext cx="407822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Command center for projects and multi-workspace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79191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2843783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852927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834639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337559"/>
            <a:ext cx="407822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Keyboard-centric terminal interface for fast interactions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58183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3922775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931919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913631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416551"/>
            <a:ext cx="407822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Python framework for custom agents, tools, and lifecycle hooks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837176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65392" y="5001768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5010912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4992624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5495544"/>
            <a:ext cx="407822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Integrated AI-powered development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Choose the right surface for the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Surface choice should follow developer intent and operating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691640"/>
            <a:ext cx="2011680" cy="74980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8072" y="1755648"/>
            <a:ext cx="18653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Developer need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19202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035808"/>
            <a:ext cx="1773936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04487"/>
            <a:ext cx="1920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368"/>
                </a:solidFill>
                <a:latin typeface="Aptos"/>
              </a:defRPr>
            </a:pPr>
            <a:r>
              <a:t>Long-running, multi-workspace, managed flow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874519" y="2441448"/>
            <a:ext cx="4206241" cy="53035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94760" y="2971800"/>
            <a:ext cx="19202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3035808"/>
            <a:ext cx="1773936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904487"/>
            <a:ext cx="1920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368"/>
                </a:solidFill>
                <a:latin typeface="Aptos"/>
              </a:defRPr>
            </a:pPr>
            <a:r>
              <a:t>Fast prompts, terminal-first, SSH-friendly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754880" y="2441448"/>
            <a:ext cx="1325880" cy="53035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75120" y="2971800"/>
            <a:ext cx="19202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3035808"/>
            <a:ext cx="1773936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04487"/>
            <a:ext cx="1920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368"/>
                </a:solidFill>
                <a:latin typeface="Aptos"/>
              </a:defRPr>
            </a:pPr>
            <a:r>
              <a:t>Programmatic control and custom agent building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441448"/>
            <a:ext cx="1554480" cy="53035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55480" y="2971800"/>
            <a:ext cx="19202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8632" y="3035808"/>
            <a:ext cx="1773936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904487"/>
            <a:ext cx="1920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368"/>
                </a:solidFill>
                <a:latin typeface="Aptos"/>
              </a:defRPr>
            </a:pPr>
            <a:r>
              <a:t>Daily coding with integrated context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441448"/>
            <a:ext cx="4434840" cy="53035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What the documentation explicitly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concise grounding summary from the Antigravity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1051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1965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801368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Surfaces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4169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Antigravity 2.0, CLI, SDK, and 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1072" y="181051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81965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801368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Shared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304288"/>
            <a:ext cx="4169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All surfaces run on a shared optimized harness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42900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59359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027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3584448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Model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087368"/>
            <a:ext cx="4169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Gemini 3.5 Flash powers local 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2900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91072" y="359359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36027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584448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087368"/>
            <a:ext cx="4169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Subagents, artifacts, security gates, and Google integrations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532120"/>
            <a:ext cx="1024128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641848"/>
            <a:ext cx="9921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Source note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This deck expands on the official overview by adding architecture interpretation, teaching structure, and enterprise examples.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Product Surfaces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Four interfaces, each optimized for a different development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Surface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ecosystem spans managed UI, terminal, IDE, and programmatic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2583180" cy="621792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46504"/>
            <a:ext cx="247345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Surface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1860" y="1691640"/>
            <a:ext cx="2583180" cy="621792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6724" y="1746504"/>
            <a:ext cx="247345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Primary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691640"/>
            <a:ext cx="2583180" cy="621792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746504"/>
            <a:ext cx="247345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18220" y="1691640"/>
            <a:ext cx="2583180" cy="621792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73084" y="1746504"/>
            <a:ext cx="247345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Best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313432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2359152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2313432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6724" y="2359152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Visual command center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313432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2359152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Async orchestration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18220" y="2313432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73084" y="2359152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Projects and multi-workspace flows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2935224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2980944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1860" y="2935224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6724" y="2980944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Terminal-first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935224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9904" y="2980944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Speed and shortcuts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18220" y="2935224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73084" y="2980944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Fast interactions and SSH sessions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557016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3602736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51860" y="3557016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6724" y="3602736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Python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557016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3602736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Custom control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18220" y="3557016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3084" y="3602736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Researchers and custom agent builders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4178808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" y="4224528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51860" y="4178808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6724" y="4224528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Integrated dev env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178808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9904" y="4224528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Deep context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18220" y="4178808"/>
            <a:ext cx="25831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73084" y="4224528"/>
            <a:ext cx="24734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Day-to-day coding workflows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074920"/>
            <a:ext cx="10332720" cy="80467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2" y="5184648"/>
            <a:ext cx="10012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Interpretation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Think of the surfaces as entry points into the same engine, not as isolated products.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Antigravity 2.0: desktop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standalone environment for projects, workspaces, and complex task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937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Designed as a central workspace for your agents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Supports projects, multiple workspaces, and worktrees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Optimized for asynchronous task management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Includes scheduled tasks and voice transcription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402336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847088"/>
            <a:ext cx="387705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Desktop workspace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88920"/>
            <a:ext cx="164592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2852928"/>
            <a:ext cx="149961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Project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406640" y="2514600"/>
            <a:ext cx="100584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49640" y="2788920"/>
            <a:ext cx="164592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2852928"/>
            <a:ext cx="149961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Workspace 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2514600"/>
            <a:ext cx="96012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0" y="3749039"/>
            <a:ext cx="164592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3813047"/>
            <a:ext cx="149961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Workspace B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406640" y="2514600"/>
            <a:ext cx="1005840" cy="1234439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9640" y="3749039"/>
            <a:ext cx="164592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2792" y="3813047"/>
            <a:ext cx="149961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Worktree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0" y="2514600"/>
            <a:ext cx="960120" cy="1234439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5029200"/>
            <a:ext cx="4114800" cy="80467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5138928"/>
            <a:ext cx="37947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Best fit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Use the desktop surface when you want a visible command center and multiple long-running threads of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Desktop workflow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desktop surface is built for managed, asynchronous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7744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15453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Goal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74320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377440"/>
            <a:ext cx="1691640" cy="73152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441448"/>
            <a:ext cx="15453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74320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37744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2441448"/>
            <a:ext cx="15453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Spawn 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66560" y="274320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78040" y="237744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2441448"/>
            <a:ext cx="15453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Track progress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0" y="274320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60" y="237744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2441448"/>
            <a:ext cx="15453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Review artifacts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69080"/>
            <a:ext cx="9326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Async task management lets agents work in the background while the user continues elsewhere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Scheduled tasks extend the model from one-time work to recurring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Antigravity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lightweight, keyboard-centric surface that brings agentic capability directly into the 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Optimized for fast interactions and a high-speed terminal workflow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Useful for prompt shortcuts and custom keybindings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Designed to fit naturally into SSH sessions and developer shells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Supports parallel subagent management from the command 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4206240" cy="3474720"/>
          </a:xfrm>
          <a:prstGeom prst="roundRect">
            <a:avLst/>
          </a:prstGeom>
          <a:solidFill>
            <a:srgbClr val="FAFC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4206240" cy="36576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65392" y="1856231"/>
            <a:ext cx="73152" cy="7315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9983" y="1856231"/>
            <a:ext cx="73152" cy="7315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94576" y="1856231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331720"/>
            <a:ext cx="3566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73E8"/>
                </a:solidFill>
                <a:latin typeface="Courier New"/>
              </a:defRPr>
            </a:pPr>
            <a:r>
              <a:t>$ agy "summarize repository status"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&gt; planning task …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&gt; subagent 1: tests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&gt; subagent 2: docs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&gt; subagent 3: diffs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✓ merged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CLI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short path from prompt to execution to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128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1488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22128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1488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22128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1488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22128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Subagents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1488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2" y="22128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Result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2523744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00600" y="2523744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03720" y="2523744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06840" y="2523744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3749039"/>
            <a:ext cx="10241280" cy="9875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858767"/>
            <a:ext cx="99212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Why developers like it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The terminal reduces UI overhead and supports rapid iteration. For many power users, the CLI is the shortest path from intention to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Antigravity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Python framework for developers who need deep programmatic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983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Build custom agents in Python on top of the Antigravity harness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Register custom tools and implement lifecycle hooks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Express declarative safety policies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Programmatically spawn subagents for controlled delegation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4343400" cy="3566160"/>
          </a:xfrm>
          <a:prstGeom prst="roundRect">
            <a:avLst/>
          </a:prstGeom>
          <a:solidFill>
            <a:srgbClr val="FAFC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965960"/>
            <a:ext cx="388620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B61FF"/>
                </a:solidFill>
                <a:latin typeface="Courier New"/>
              </a:defRPr>
            </a:pPr>
            <a:r>
              <a:t>from agy import Agent, tool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7B61FF"/>
                </a:solidFill>
                <a:latin typeface="Courier New"/>
              </a:defRPr>
            </a:pPr>
            <a:r>
              <a:t>@tool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def lookup_account(id): ...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7B61FF"/>
                </a:solidFill>
                <a:latin typeface="Courier New"/>
              </a:defRPr>
            </a:pPr>
            <a:r>
              <a:t>agent = Agent(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  tools=[lookup_account],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  safety_policy='approval_required'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SDK architecture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Programmatic access gives you visibility into the control plane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508760"/>
            <a:ext cx="2834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572768"/>
            <a:ext cx="268833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Developer code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2103120"/>
            <a:ext cx="0" cy="3200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17720" y="2423160"/>
            <a:ext cx="2834640" cy="59436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268833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3017520"/>
            <a:ext cx="0" cy="3200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3337560"/>
            <a:ext cx="2834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3401568"/>
            <a:ext cx="268833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Harness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3931920"/>
            <a:ext cx="0" cy="3200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17720" y="4251960"/>
            <a:ext cx="2834640" cy="59436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4315968"/>
            <a:ext cx="268833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Model + tools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4846320"/>
            <a:ext cx="0" cy="3200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17720" y="5166360"/>
            <a:ext cx="2834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5230368"/>
            <a:ext cx="268833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Artifacts + policies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011680"/>
            <a:ext cx="32004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Best for researchers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Best for custom tools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Best for explicit lifecycle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377440"/>
            <a:ext cx="219456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2487168"/>
            <a:ext cx="1874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Key takeaway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The SDK exposes the internals you need to engineer behavior, safety, and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Antigravity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fully featured development environment with integrated coding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Optimized for daily software development work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Uses deep context awareness inside the development environment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Integrates MCP, skills, and coding agents into one flow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Aims to standardize agent-assisted 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389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965960"/>
            <a:ext cx="1097280" cy="315468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2672" y="1965960"/>
            <a:ext cx="2103120" cy="3154680"/>
          </a:xfrm>
          <a:prstGeom prst="rect">
            <a:avLst/>
          </a:prstGeom>
          <a:solidFill>
            <a:srgbClr val="FAFC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29800" y="1965960"/>
            <a:ext cx="777240" cy="315468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2124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2124"/>
                </a:solidFill>
                <a:latin typeface="Aptos"/>
              </a:defRPr>
            </a:pPr>
            <a:r>
              <a:t>Editor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0384" y="20574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2124"/>
                </a:solidFill>
                <a:latin typeface="Aptos"/>
              </a:defRPr>
            </a:pPr>
            <a:r>
              <a:t>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IDE context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IDE surface shines when context is the bottleneck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15544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67128"/>
            <a:ext cx="140817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Codebase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103120"/>
            <a:ext cx="15544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2167128"/>
            <a:ext cx="140817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103120"/>
            <a:ext cx="15544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167128"/>
            <a:ext cx="140817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103120"/>
            <a:ext cx="15544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2167128"/>
            <a:ext cx="140817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103120"/>
            <a:ext cx="19202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2167128"/>
            <a:ext cx="17739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Edit / explain / test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68880" y="2487168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43400" y="2487168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17920" y="2487168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92440" y="2487168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3657600"/>
            <a:ext cx="946404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767328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Why this matters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Coding assistants are most powerful when they can reason over local context: files, diffs, symbols, tools, and intent. The IDE surface is structured around that insight.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When to use which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pragmatic selection guide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2066544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92224"/>
            <a:ext cx="1956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35224" y="1737360"/>
            <a:ext cx="2066544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92224"/>
            <a:ext cx="1956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1768" y="1737360"/>
            <a:ext cx="2066544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1792224"/>
            <a:ext cx="1956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737360"/>
            <a:ext cx="2066544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6" y="1792224"/>
            <a:ext cx="1956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34856" y="1737360"/>
            <a:ext cx="2066544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792224"/>
            <a:ext cx="1956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395728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2441448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Need visibility across many tasks?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35224" y="2395728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0088" y="2441448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1768" y="2395728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2" y="2441448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68312" y="2395728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2441448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34856" y="2395728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441448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3054096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3099816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Need terminal speed?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35224" y="3054096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0088" y="3099816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01768" y="3054096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56632" y="3099816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68312" y="3054096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23176" y="3099816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34856" y="3054096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099816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3712464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" y="3758184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Need custom programmatic control?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35224" y="3712464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0088" y="3758184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01768" y="3712464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56632" y="3758184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68312" y="3712464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23176" y="3758184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34856" y="3712464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3758184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" y="4370832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" y="4416552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Need integrated coding context?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35224" y="4370832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90088" y="4416552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01768" y="4370832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56632" y="4416552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68312" y="4370832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23176" y="4416552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34856" y="4370832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89720" y="4416552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680" y="5166360"/>
            <a:ext cx="1033272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3272" y="5276088"/>
            <a:ext cx="10012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Instructor advice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Start students in the interface closest to their existing habit. Adoption improves when the surface feels familiar.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Shared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One optimized agent foundation beneath all surfaces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One harness across all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common execution foundation reduces fragmentation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16916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64208"/>
            <a:ext cx="154533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64792" y="2286000"/>
            <a:ext cx="4315968" cy="6858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54680" y="1600200"/>
            <a:ext cx="16916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664208"/>
            <a:ext cx="154533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05072" y="2286000"/>
            <a:ext cx="2075688" cy="6858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94960" y="1600200"/>
            <a:ext cx="16916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1664208"/>
            <a:ext cx="154533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080760" y="2286000"/>
            <a:ext cx="164592" cy="6858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35240" y="1600200"/>
            <a:ext cx="16916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1664208"/>
            <a:ext cx="154533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080760" y="2286000"/>
            <a:ext cx="2404872" cy="6858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63440" y="2971800"/>
            <a:ext cx="2834640" cy="77724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3035808"/>
            <a:ext cx="2688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Aptos"/>
              </a:defRPr>
            </a:pPr>
            <a:r>
              <a:t>Shared Agent Harness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4572000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4636008"/>
            <a:ext cx="12710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Tools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538728" y="3749039"/>
            <a:ext cx="2542032" cy="822961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63440" y="4572000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4636008"/>
            <a:ext cx="12710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Skills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367527" y="3749039"/>
            <a:ext cx="713233" cy="822961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92240" y="4572000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636008"/>
            <a:ext cx="12710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Policies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3749039"/>
            <a:ext cx="1115567" cy="822961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21040" y="4572000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636008"/>
            <a:ext cx="12710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Artifacts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80760" y="3749039"/>
            <a:ext cx="2944368" cy="822961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What the harness is responsible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Think of the harness as the operating environment for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0195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11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89280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9572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Runs agent tasks and coordinates tool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6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190195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11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89280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39572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Supports structured decomposition and delegation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19" y="173736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2711" y="190195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2711" y="1911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1" y="189280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7" y="239572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Applies approvals, policies, and guarded defaults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38328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354787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5570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35387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404164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Carries working state across surfaces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38328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07992" y="354787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35570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35387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04164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Captures plans, diffs, and output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19" y="338328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82711" y="3547872"/>
            <a:ext cx="438912" cy="43891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1" y="35570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1" y="35387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Subagents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7" y="404164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Enables concurrent background execution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Gemini as the model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overview identifies Gemini 3.5 Flash as the model powering local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Model choice matters because it shapes latency, context handling, and reasoning quality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 shared harness lets the ecosystem present a consistent experience above the model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From a teaching perspective, separate the model from the harness and the surface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783080"/>
            <a:ext cx="35661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847088"/>
            <a:ext cx="341985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Surface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0" y="2404872"/>
            <a:ext cx="0" cy="246888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29400" y="2651760"/>
            <a:ext cx="356616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2715768"/>
            <a:ext cx="341985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Harness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0" y="3273552"/>
            <a:ext cx="0" cy="246887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29400" y="3520439"/>
            <a:ext cx="35661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584447"/>
            <a:ext cx="341985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Gemini 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4142231"/>
            <a:ext cx="0" cy="246889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4389120"/>
            <a:ext cx="356616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4453128"/>
            <a:ext cx="341985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Execution +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440680"/>
            <a:ext cx="3749039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5550408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Teaching distinction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A great course keeps model, harness, and workflow conceptually separate.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 simple request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From prompt to result, the harness organizes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1417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Intent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670048"/>
            <a:ext cx="36576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51760" y="2331720"/>
            <a:ext cx="1417320" cy="6858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670048"/>
            <a:ext cx="36576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2331720"/>
            <a:ext cx="1417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Delegate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2670048"/>
            <a:ext cx="36576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0" y="2331720"/>
            <a:ext cx="1417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Execute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35240" y="2670048"/>
            <a:ext cx="36576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1000" y="2331720"/>
            <a:ext cx="1417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Review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18320" y="2670048"/>
            <a:ext cx="36576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84080" y="2331720"/>
            <a:ext cx="1417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723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3931920"/>
            <a:ext cx="96012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1872" y="4041648"/>
            <a:ext cx="9281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Why the lifecycle matters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When agent systems become unreliable, the failure usually shows up in one of these stages: poor planning, weak delegation, bad execution, or insufficient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Planning and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harness earns its value when work becomes multi-step and multi-agent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3891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Break a goal into tractable pieces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Select which parts require tools or subagents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Track progress across background tasks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Merge outputs into a coherent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286000"/>
            <a:ext cx="1965960" cy="74980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350008"/>
            <a:ext cx="181965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Main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371600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2" y="1435608"/>
            <a:ext cx="136245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Research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6419088" y="2011680"/>
            <a:ext cx="1188720" cy="64008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1417320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1481328"/>
            <a:ext cx="136245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Test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607808" y="2057400"/>
            <a:ext cx="1920240" cy="59436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0" y="3703320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767328"/>
            <a:ext cx="136245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Docs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419088" y="2651760"/>
            <a:ext cx="1188720" cy="105156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78240" y="3703320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3767328"/>
            <a:ext cx="136245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Diffs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07808" y="2651760"/>
            <a:ext cx="1920240" cy="105156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State, history, and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Agent work becomes more usable when the system retains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297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Current task state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Plan and subtask history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Code diffs or document changes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Browser or execution artifacts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Approval checkpoints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190195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11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89280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95728"/>
            <a:ext cx="12435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7373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85632" y="190195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911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189280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Diff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395728"/>
            <a:ext cx="12435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8803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304495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054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03580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538728"/>
            <a:ext cx="12435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8803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85632" y="304495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3054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303580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Recording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3538728"/>
            <a:ext cx="12435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0233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65392" y="418795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4197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17880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681728"/>
            <a:ext cx="12435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349240"/>
            <a:ext cx="4023360" cy="71323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5458968"/>
            <a:ext cx="3703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Practical benefit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Artifacts make review and trust possible. Without them, agent behavior becomes opaque.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Shared harness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compact architectural picture of the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389888"/>
            <a:ext cx="14538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389888"/>
            <a:ext cx="14538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32588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1389888"/>
            <a:ext cx="14538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32588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1389888"/>
            <a:ext cx="14538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606040"/>
            <a:ext cx="3794760" cy="77724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2" y="2670048"/>
            <a:ext cx="3648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Aptos"/>
              </a:defRPr>
            </a:pPr>
            <a:r>
              <a:t>Shared Agent Harness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01952" y="1984248"/>
            <a:ext cx="2944368" cy="62179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5072" y="1984248"/>
            <a:ext cx="1252728" cy="62179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9048" y="1984248"/>
            <a:ext cx="301752" cy="62179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223760" y="1984248"/>
            <a:ext cx="987552" cy="62179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011680" y="4114800"/>
            <a:ext cx="13716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4178808"/>
            <a:ext cx="12252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Skills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697480" y="3383280"/>
            <a:ext cx="3355848" cy="7315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931920" y="4114800"/>
            <a:ext cx="13716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5072" y="4178808"/>
            <a:ext cx="12252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MCP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617720" y="3383280"/>
            <a:ext cx="1435608" cy="7315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52160" y="4114800"/>
            <a:ext cx="13716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5312" y="4178808"/>
            <a:ext cx="12252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Tools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53328" y="3383280"/>
            <a:ext cx="484632" cy="7315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772400" y="4114800"/>
            <a:ext cx="13716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45552" y="4178808"/>
            <a:ext cx="12252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Policies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53328" y="3383280"/>
            <a:ext cx="2404872" cy="7315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97680" y="5303520"/>
            <a:ext cx="352044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5367528"/>
            <a:ext cx="337413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Gemini model layer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35040" y="4681728"/>
            <a:ext cx="0" cy="621792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Core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The behaviors that make Antigravity feel agentic rather than merely conversational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Asynchronous subagents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One of the most important capabilities in the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The main agent can delegate work to concurrent background subagents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Subagents let the system parallelize effort without blocking the user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This turns long tasks into orchestrated workflows rather than one long wait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423160"/>
            <a:ext cx="1920240" cy="73152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487168"/>
            <a:ext cx="17739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Main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17320"/>
            <a:ext cx="14630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88152" y="1481328"/>
            <a:ext cx="131673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Research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6446520" y="2039112"/>
            <a:ext cx="1143000" cy="384048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1417320"/>
            <a:ext cx="14630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1481328"/>
            <a:ext cx="131673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Code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589520" y="2039112"/>
            <a:ext cx="2148840" cy="384048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15000" y="3657600"/>
            <a:ext cx="14630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8152" y="3721608"/>
            <a:ext cx="131673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Test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446520" y="2423160"/>
            <a:ext cx="1143000" cy="12344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06840" y="3657600"/>
            <a:ext cx="14630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3721608"/>
            <a:ext cx="131673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Docs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0" y="2423160"/>
            <a:ext cx="2148840" cy="12344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Parallel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Subagents are most powerful when tasks can be decomposed cleanly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182880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55648"/>
            <a:ext cx="168249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Main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69164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691640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046720" y="1956816"/>
            <a:ext cx="1188720" cy="320954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2560320"/>
            <a:ext cx="182880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624328"/>
            <a:ext cx="168249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Subagent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2560320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256032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2560320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046720" y="2825496"/>
            <a:ext cx="1188720" cy="234086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429000"/>
            <a:ext cx="182880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493008"/>
            <a:ext cx="168249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Subagent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42900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63440" y="3429000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342900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46720" y="3694176"/>
            <a:ext cx="1188720" cy="147218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4297679"/>
            <a:ext cx="182880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361687"/>
            <a:ext cx="168249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Subagent 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71800" y="4297679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63440" y="4297679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4297679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046720" y="4562855"/>
            <a:ext cx="1188720" cy="603505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4400" y="5166360"/>
            <a:ext cx="182880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230368"/>
            <a:ext cx="168249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Merge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516636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63440" y="5166360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516636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0" y="2286000"/>
            <a:ext cx="164592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2395728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Idea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Parallelism reduces elapsed time and separates concerns.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Visual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Evidence makes agent execution easier to inspect and 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4983" y="1929384"/>
            <a:ext cx="109728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2221991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9842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500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368"/>
                </a:solidFill>
                <a:latin typeface="Aptos"/>
              </a:defRPr>
            </a:pPr>
            <a:r>
              <a:t>Structured reasoning and task breakdown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78308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929384"/>
            <a:ext cx="109728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92824" y="2221991"/>
            <a:ext cx="292608" cy="29260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9842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Code diffs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3500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368"/>
                </a:solidFill>
                <a:latin typeface="Aptos"/>
              </a:defRPr>
            </a:pPr>
            <a:r>
              <a:t>Visible changes before acceptance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1188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4983" y="3758184"/>
            <a:ext cx="109728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80744" y="4050791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38130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Browser recordings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1788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368"/>
                </a:solidFill>
                <a:latin typeface="Aptos"/>
              </a:defRPr>
            </a:pPr>
            <a:r>
              <a:t>Replay of web-based activity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61188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7064" y="3758184"/>
            <a:ext cx="109728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92824" y="4050791"/>
            <a:ext cx="292608" cy="2926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38130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41788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368"/>
                </a:solidFill>
                <a:latin typeface="Aptos"/>
              </a:defRPr>
            </a:pPr>
            <a:r>
              <a:t>Summaries and status views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Security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overview highlights safe defaults, local execution, and approval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Secure local execution reduces unnecessary exposure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Approval gates let users control sensitive tool use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Safe defaults matter because agent autonomy magnifies mistakes</a:t>
            </a:r>
          </a:p>
        </p:txBody>
      </p:sp>
      <p:sp>
        <p:nvSpPr>
          <p:cNvPr id="9" name="Hexagon 8"/>
          <p:cNvSpPr/>
          <p:nvPr/>
        </p:nvSpPr>
        <p:spPr>
          <a:xfrm>
            <a:off x="6812280" y="1828800"/>
            <a:ext cx="1508760" cy="1691640"/>
          </a:xfrm>
          <a:prstGeom prst="hexagon">
            <a:avLst/>
          </a:prstGeom>
          <a:solidFill>
            <a:srgbClr val="F5F7FA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9168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783080"/>
            <a:ext cx="21945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1847088"/>
            <a:ext cx="204825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Local execution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321040" y="2112264"/>
            <a:ext cx="228600" cy="58521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49640" y="2834640"/>
            <a:ext cx="21945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2898648"/>
            <a:ext cx="204825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Approval gates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2697480"/>
            <a:ext cx="228600" cy="46634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49640" y="3886200"/>
            <a:ext cx="21945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3950208"/>
            <a:ext cx="204825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Guarded defaults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1040" y="2697480"/>
            <a:ext cx="228600" cy="151790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Long-running and background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Agent work often outlives a single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572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Complex jobs may run longer than a normal user session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Background execution allows useful work without constant user attention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The user experience improves when progress and artifacts remain visible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743200"/>
            <a:ext cx="1078992" cy="585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2807208"/>
            <a:ext cx="93268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Start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34072" y="3035808"/>
            <a:ext cx="201168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80960" y="2743200"/>
            <a:ext cx="1078992" cy="585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2807208"/>
            <a:ext cx="93268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Running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59952" y="3035808"/>
            <a:ext cx="201167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6840" y="2743200"/>
            <a:ext cx="1078992" cy="585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2807208"/>
            <a:ext cx="93268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Checkpoint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85832" y="3035808"/>
            <a:ext cx="201168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332720" y="2743200"/>
            <a:ext cx="1078992" cy="585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05872" y="2807208"/>
            <a:ext cx="93268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114800" cy="80467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133088"/>
            <a:ext cx="37947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Developer benefit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You can offload tedious work and come back later to inspect results instead of babysitting the process.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Scheduled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Automation becomes more valuable when it can recur on a 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874519"/>
            <a:ext cx="29260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874519"/>
            <a:ext cx="292608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01168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Scheduled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60604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83080" y="260604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3160" y="260604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39" y="260604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310896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3080" y="310896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3160" y="310896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63239" y="310896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361188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3080" y="361188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23160" y="361188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63239" y="361188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965960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Run recurring maintenance or reporting tasks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Turn one successful workflow into a repeated operational routine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Useful for health checks, digests, repository hygiene, or review loops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Capability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ecosystem combines concurrency, visibility, and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3444240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46504"/>
            <a:ext cx="33345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1691640"/>
            <a:ext cx="3444240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746504"/>
            <a:ext cx="33345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What it enables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7160" y="1691640"/>
            <a:ext cx="3444240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2024" y="1746504"/>
            <a:ext cx="33345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350008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395728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Subagents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920" y="2350008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7784" y="2395728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Parallel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7160" y="2350008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2024" y="2395728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Speed and decomposition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008376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054096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3008376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7784" y="3054096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Visible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7160" y="3008376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2024" y="3054096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Trust and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666744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" y="3712464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2920" y="3666744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7784" y="3712464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Controlled execution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57160" y="3666744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2024" y="3712464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Safer autonomy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325112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4370832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Background tasks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2920" y="4325112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7784" y="4370832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Non-blocking 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7160" y="4325112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2024" y="4370832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Better productivity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983479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" y="5029199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Scheduled tasks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2920" y="4983479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7784" y="5029199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Recurring automation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57160" y="4983479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2024" y="5029199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Operational value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Google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Curated skills, MCP servers, and extensions that connect the ecosystem to Google workflows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Integration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An ecosystem becomes more useful when it meets developers where they already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Curated integrations lower setup friction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Bundled skills and extensions improve time-to-value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The goal is not only raw capability but workflow 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08483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0939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20756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Android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578608"/>
            <a:ext cx="923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2024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28432" y="208483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20939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0756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Firebase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578608"/>
            <a:ext cx="923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92024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91472" y="208483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20939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0112" y="20756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578608"/>
            <a:ext cx="923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38328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65392" y="354787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5570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5387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Science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041648"/>
            <a:ext cx="923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38328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28432" y="354787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8432" y="35570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35387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AGY SDK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4041648"/>
            <a:ext cx="923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Android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Developer-facing skills and extensions for Android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Includes editor extensions and CLI integrations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Helps align the ecosystem with Android development practices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A useful example of domain-specific agent assistance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783080"/>
            <a:ext cx="1920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2148840"/>
            <a:ext cx="1463040" cy="2651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17536" y="4919472"/>
            <a:ext cx="164592" cy="164592"/>
          </a:xfrm>
          <a:prstGeom prst="ellipse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331720"/>
            <a:ext cx="1554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ptos"/>
              </a:defRPr>
            </a:pPr>
            <a:r>
              <a:t>Skills</a:t>
            </a:r>
            <a:br/>
            <a:r>
              <a:t>Extensions</a:t>
            </a:r>
            <a:br/>
            <a:r>
              <a:t>CLI hooks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Firebase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Curated skills for common Firebase development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663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The overview references Firebase Firestore and Cloud Functions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This is a practical example of ecosystem-aware developer support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Students can imagine workflow acceleration for app backends and data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0312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16712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10312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5672" y="216712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Firebase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0" y="2432304"/>
            <a:ext cx="41148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66560" y="3566160"/>
            <a:ext cx="105156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3630168"/>
            <a:ext cx="90525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Firestore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566160"/>
            <a:ext cx="105156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3630168"/>
            <a:ext cx="90525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566160"/>
            <a:ext cx="105156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3630168"/>
            <a:ext cx="90525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Rules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Web integration via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Browser-based research and web workflows are another important extension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5720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The overview references Chrome and Web MCP servers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This enables autonomous browser research and web interaction patterns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 good example of tool-driven rather than purely language-driven 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4389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783080"/>
            <a:ext cx="438912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2331720"/>
            <a:ext cx="36576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3017520"/>
            <a:ext cx="356616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3611879"/>
            <a:ext cx="356616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4206240"/>
            <a:ext cx="356616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52578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73E8"/>
                </a:solidFill>
                <a:latin typeface="Aptos"/>
              </a:defRPr>
            </a:pPr>
            <a:r>
              <a:t>Browser research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Science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specialized example aimed at biology and chemistry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The overview mentions DeepMind biology and chemistry skills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This suggests a domain extension pattern: general platform, specialized skill packs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It shows how ecosystems can reach beyond software engineering into science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2103120"/>
            <a:ext cx="411480" cy="4114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0" y="182880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0" y="2468880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06640" y="3017520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3383280"/>
            <a:ext cx="411480" cy="4114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7059168" y="2029968"/>
            <a:ext cx="914400" cy="274320"/>
          </a:xfrm>
          <a:prstGeom prst="line">
            <a:avLst/>
          </a:prstGeom>
          <a:ln w="1524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73568" y="2029968"/>
            <a:ext cx="914400" cy="640080"/>
          </a:xfrm>
          <a:prstGeom prst="line">
            <a:avLst/>
          </a:prstGeom>
          <a:ln w="1524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59168" y="2304288"/>
            <a:ext cx="548640" cy="914400"/>
          </a:xfrm>
          <a:prstGeom prst="line">
            <a:avLst/>
          </a:prstGeom>
          <a:ln w="1524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07808" y="3218688"/>
            <a:ext cx="1005840" cy="365760"/>
          </a:xfrm>
          <a:prstGeom prst="line">
            <a:avLst/>
          </a:prstGeom>
          <a:ln w="1524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92240" y="4572000"/>
            <a:ext cx="42976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4681728"/>
            <a:ext cx="3977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Pattern to remember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Domain-specific skills are one way ecosystems become sticky and useful in real industries.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AGY SDK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ecosystem includes support that helps agents build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The overview notes skills that optimize the use of the Antigravity SDK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This is a recursive productivity play: better tools for building better agent systems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In teaching terms, this is where the platform turns into a meta-development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965960"/>
            <a:ext cx="3474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029968"/>
            <a:ext cx="332841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Developer builds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971800"/>
            <a:ext cx="3474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3035808"/>
            <a:ext cx="332841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Agent uses SDK 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977639"/>
            <a:ext cx="3474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4041647"/>
            <a:ext cx="332841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Faster agent development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2624328"/>
            <a:ext cx="0" cy="347472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3630168"/>
            <a:ext cx="0" cy="347471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Integration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ecosystem becomes more compelling as more workflow-specific bundles are added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514600"/>
            <a:ext cx="2240280" cy="74980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56632" y="2578608"/>
            <a:ext cx="20939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Aptos"/>
              </a:defRPr>
            </a:pPr>
            <a:r>
              <a:t>Antigravity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46304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152704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Android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2011680" y="2121408"/>
            <a:ext cx="4087368" cy="76809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97280" y="384048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90448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Firebase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011680" y="2889504"/>
            <a:ext cx="4087368" cy="95097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0" y="132588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138988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Web MCP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4572000" y="1984248"/>
            <a:ext cx="1527048" cy="90525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80960" y="132588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138988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Science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099048" y="1984248"/>
            <a:ext cx="2496312" cy="90525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01200" y="384048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4352" y="390448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AGY SDK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9048" y="2889504"/>
            <a:ext cx="4416552" cy="95097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926080" y="5029200"/>
            <a:ext cx="6400800" cy="71323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5138928"/>
            <a:ext cx="60807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Strategic point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Ecosystems win when they reduce the work required to apply the platform in a real workflow.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Enterprise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How the Antigravity ecosystem can be positioned in real organizational settings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From product ecosystem to enterprise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Enterprise teams care about control, integration, workflow, and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Adoption depends on developer productivity and organizational trust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Architects look for integration points, control boundaries, and observability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 multi-surface model lets different personas work in different 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08483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0939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20756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578608"/>
            <a:ext cx="13807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IDE / CLI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920240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68512" y="208483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20939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0756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Lead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578608"/>
            <a:ext cx="13807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91840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345643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4655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4472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Platform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950208"/>
            <a:ext cx="13807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291840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68512" y="345643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34655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34472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3950208"/>
            <a:ext cx="13807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Policies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Enterprise reference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conceptual placement of Antigravity inside a broader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234440"/>
            <a:ext cx="80467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1298448"/>
            <a:ext cx="790041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Users: developers, analysts, engineers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1828800"/>
            <a:ext cx="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11680" y="2103120"/>
            <a:ext cx="8046720" cy="59436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2" y="2167128"/>
            <a:ext cx="790041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Antigravity surfaces: desktop, CLI, IDE, SDK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2697480"/>
            <a:ext cx="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2971800"/>
            <a:ext cx="80467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3035808"/>
            <a:ext cx="790041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Shared harness, skills, tools, approvals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3566160"/>
            <a:ext cx="0" cy="274319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011680" y="3840479"/>
            <a:ext cx="8046720" cy="59436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4832" y="3904487"/>
            <a:ext cx="790041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Gemini models and execution layer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4434840"/>
            <a:ext cx="0" cy="274319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011680" y="4709160"/>
            <a:ext cx="80467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84832" y="4773168"/>
            <a:ext cx="790041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Enterprise systems and Google Cloud services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Governance and control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In enterprises, useful AI is not enough; controlled AI is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4480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99339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8424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87168"/>
            <a:ext cx="40782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Gate sensitive tools and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828800"/>
            <a:ext cx="4480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45352" y="199339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20025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98424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Policies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487168"/>
            <a:ext cx="40782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Constrain behavior through declared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11880"/>
            <a:ext cx="4480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" y="377647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767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270248"/>
            <a:ext cx="40782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Provide evidence and reviewability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611880"/>
            <a:ext cx="4480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45352" y="377647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3767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4270248"/>
            <a:ext cx="40782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Standardize repeated operating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486400"/>
            <a:ext cx="9966960" cy="566928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5596128"/>
            <a:ext cx="9646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Architectural lesson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The same capabilities that help developers—artifacts, schedules, approvals—also serve governance.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Operating model for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practical path for rolling out the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774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Pilot a team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743200"/>
            <a:ext cx="347472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2377440"/>
            <a:ext cx="1783080" cy="74980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4414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Define approved workflows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0600" y="2743200"/>
            <a:ext cx="347472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23774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4414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Add artifacts and review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9440" y="2743200"/>
            <a:ext cx="347472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0" y="23774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24414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Expand integrations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2743200"/>
            <a:ext cx="347472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64040" y="23774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192" y="24414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Scale usage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114800"/>
            <a:ext cx="996696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224528"/>
            <a:ext cx="9646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Advice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Start with a narrow pilot and a few high-value workflows. Expand after you can see quality, speed, and governance outcomes.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Where Antigravity fits in Agent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seven-step framing for the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" y="2770632"/>
            <a:ext cx="320039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7439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1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Context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59" y="2770632"/>
            <a:ext cx="320041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86200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Tools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74920" y="2770632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94959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1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Skills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79" y="2770632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03720" y="2423160"/>
            <a:ext cx="1188720" cy="6858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Harness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92440" y="2770632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412480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Workflows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2770632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21239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1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Loops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3931920"/>
            <a:ext cx="512064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3592" y="4041648"/>
            <a:ext cx="4800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Key point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Antigravity is most naturally understood as the harness layer, while also touching tools, skills, workflows, and loops.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Best practices for enterprise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short checklist for responsible, effective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9875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Match the surface to the user persona and workflow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Start with explicit, reviewable workflows before expanding autonomy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Use artifacts and approvals to build trust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Treat the harness as infrastructure, not as a one-off assistant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Design for iteration: pilot, measure, refine, and scale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WidgetWare SDR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A concrete business example that makes the platform easier to understand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The WidgetWare SDR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How could the Antigravity ecosystem support a sales development workflow?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Research prospects and accounts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Generate tailored outreach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Update CRM records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Keep a manager in the loop for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37360"/>
            <a:ext cx="338328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01368"/>
            <a:ext cx="323697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Lead list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83879" y="2331720"/>
            <a:ext cx="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92240" y="2606039"/>
            <a:ext cx="338328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670047"/>
            <a:ext cx="323697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Research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83879" y="3200400"/>
            <a:ext cx="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92240" y="3474720"/>
            <a:ext cx="338328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538728"/>
            <a:ext cx="323697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Outreach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79" y="4069079"/>
            <a:ext cx="0" cy="274321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92240" y="4343400"/>
            <a:ext cx="338328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407408"/>
            <a:ext cx="323697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CRM update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 possible Antigravity architecture for WidgetWare SDR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One ecosystem, multiple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214884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09928"/>
            <a:ext cx="20025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  <a:br/>
            <a:r>
              <a:t>team orchestration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029968"/>
            <a:ext cx="1600200" cy="103327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" y="2834640"/>
            <a:ext cx="214884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898648"/>
            <a:ext cx="20025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  <a:br/>
            <a:r>
              <a:t>quick tasks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017520" y="3063240"/>
            <a:ext cx="1600200" cy="155448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4023360"/>
            <a:ext cx="214884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087368"/>
            <a:ext cx="20025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IDE / SDK</a:t>
            </a:r>
            <a:br/>
            <a:r>
              <a:t>workflow building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017520" y="3063240"/>
            <a:ext cx="1600200" cy="1344168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0" y="2697480"/>
            <a:ext cx="2651760" cy="74980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2761488"/>
            <a:ext cx="250545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554480"/>
            <a:ext cx="21488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1618488"/>
            <a:ext cx="200253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Research agent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223760" y="1874519"/>
            <a:ext cx="548640" cy="1197865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2560320"/>
            <a:ext cx="21488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2624328"/>
            <a:ext cx="200253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Email agent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223760" y="2880360"/>
            <a:ext cx="548640" cy="19202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3566160"/>
            <a:ext cx="21488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3630168"/>
            <a:ext cx="200253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CRM agent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23760" y="3072384"/>
            <a:ext cx="548640" cy="81381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572000"/>
            <a:ext cx="21488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636008"/>
            <a:ext cx="200253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Approval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23760" y="3072384"/>
            <a:ext cx="548640" cy="181965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WidgetWare SDR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simple example of agentic decomposition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150876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Prospect intake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825496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06040" y="2468880"/>
            <a:ext cx="150876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Account research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2825496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2468880"/>
            <a:ext cx="150876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Draft outreach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825496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63640" y="2468880"/>
            <a:ext cx="1508760" cy="71323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Manager review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2825496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92440" y="2468880"/>
            <a:ext cx="150876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CRM update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0" y="2825496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21240" y="2468880"/>
            <a:ext cx="150876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Send / track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069080"/>
            <a:ext cx="9875520" cy="841248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4178808"/>
            <a:ext cx="9555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Why this is a good teaching case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The workflow is easy to understand, clearly multi-step, and exposes where tools, approvals, and artifacts add value.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What Antigravity adds to the WidgetWare SDR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platform is valuable because it combines productivity with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3444240" cy="713232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92224"/>
            <a:ext cx="3334512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1737360"/>
            <a:ext cx="3444240" cy="713232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792224"/>
            <a:ext cx="3334512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WidgetWare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7160" y="1737360"/>
            <a:ext cx="3444240" cy="713232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2024" y="1792224"/>
            <a:ext cx="3334512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Business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450592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496312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Subagents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920" y="2450592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7784" y="2496312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Research multiple accounts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7160" y="2450592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2024" y="2496312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Faster prep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163824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209544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3163824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7784" y="3209544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Review drafts and rationale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7160" y="3163824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2024" y="3209544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Better trust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877056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" y="3922776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Approvals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2920" y="3877056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7784" y="3922776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Manager review before sending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57160" y="3877056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2024" y="3922776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Reduced risk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590288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4636008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Schedules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2920" y="4590288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7784" y="4636008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Recurring prospect digests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7160" y="4590288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2024" y="4636008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Operational cadence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Three closing slides to reinforce the big picture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Five ideas to remember from the ecosystem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9692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Antigravity is an ecosystem of surfaces, not just a single interface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The shared harness is the architectural center of gravity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Core capabilities—subagents, artifacts, and approvals—make the system meaningfully agentic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Integrations increase real-world usefulness by meeting developers in their workflow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Enterprise value comes from combining productivity, structure, and governance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What to do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Recommended follow-on actions for students, developers, and architects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017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9339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025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9842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487168"/>
            <a:ext cx="261518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Understand the surfaces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Practice thinking in workflows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Learn the harness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28800"/>
            <a:ext cx="3017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99339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025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9842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Developers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487168"/>
            <a:ext cx="261518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Choose one surface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Try a real task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Inspect artifacts and 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4696" y="1828800"/>
            <a:ext cx="3017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19288" y="199339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20025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19842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Architects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2487168"/>
            <a:ext cx="261518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Identify high-value workflows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Pilot with governance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Scale only after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166360"/>
            <a:ext cx="1019556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276088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Closing thought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The biggest opportunity is not just using AI faster; it is engineering repeatable, reviewable, agent-enabled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