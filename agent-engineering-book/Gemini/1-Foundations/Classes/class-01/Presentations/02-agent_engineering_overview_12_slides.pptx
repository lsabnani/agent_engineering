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deck to establish the mental model for the whole course. The key idea is that a language model alone is not a business system. Agent Engineering is the discipline that wraps model intelligence with context, tools, workflows, tests, governance, and human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first distinction sharp. A model can produce impressive answers, but the enterprise system must answer questions about data access, policy, consistency, authorization, and evidence. Agent Engineering is about making that intelligence safe, repeatable, measurable, and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prevents overloaded use of the word agent. An assistant is request-response. A workflow is sequence-first. An agent has a goal and can adapt actions, but only inside a bounded authority model. This distinction will help learners decide which parts of WidgetWare should be deterministic and which parts should be agentic.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loop as observe, reason, act, inspect. This is not unlimited autonomy. The important words are bounded goal, approved tools, and stopping rules. In enterprise settings the agent should be able to escalate rather than pretending to know or taking unauthorized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learner should see the agent as one component in a system. Context provides knowledge; tools provide capabilities; skills provide reusable procedures; state and workflows provide continuity; evaluation tells us whether the system is working. This is the transition from prompting to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teaching points. We are not trying to make everything agentic. We use functions, schemas and tests when the requirement is fixed. We use model reasoning when the system must interpret weak or ambiguous evidence. Agent Engineering is partly the discipline of assigning each responsibility to the right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Multi-agent design is not a race to add more agents. It is useful when responsibility separation improves quality, boundaries and evaluation. Give examples like research, qualification, review and drafting, but emphasize that a single good agent is often better than five vague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Orchestration is the system-level control plane. Agents may handle judgment-intensive work, but orchestration decides order, handoff, retries, state, permissions, and approval. In real systems, orchestration is often where reliability either emerges or breaks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why the course exists. Learners have seen demos. The question is how to create systems that a business can trust. That requires bounded autonomy, contracts, tests, observability, governance and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seven steps as the spine of the course. They are not a rigid waterfall. We will revisit earlier decisions as evaluation reveals gaps. Every class should map today’s work to one or more of these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layered model to summarize the ecosystem. Business objectives define why the system exists. Context and evidence define what it knows. Tools and Skills define what it can do. Orchestration, loops and evaluation define how it behaves over time. Human authority remains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deck by setting up the next presentation. We have established the discipline. Now we need a business problem that contains both repeatable structure and judgment. That is why we move to the SDR process and then to the WidgetWare bridge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363456" y="0"/>
            <a:ext cx="2816352" cy="6858000"/>
          </a:xfrm>
          <a:prstGeom prst="rect">
            <a:avLst/>
          </a:prstGeom>
          <a:solidFill>
            <a:srgbClr val="E8F0FE"/>
          </a:solidFill>
          <a:ln w="12700">
            <a:solidFill>
              <a:srgbClr val="333333">
                <a:alpha val="0"/>
              </a:srgbClr>
            </a:solidFill>
            <a:prstDash val="solid"/>
          </a:ln>
        </p:spPr>
      </p:sp>
      <p:sp>
        <p:nvSpPr>
          <p:cNvPr id="3" name="Text 1"/>
          <p:cNvSpPr/>
          <p:nvPr/>
        </p:nvSpPr>
        <p:spPr>
          <a:xfrm>
            <a:off x="594360" y="749808"/>
            <a:ext cx="2468880" cy="228600"/>
          </a:xfrm>
          <a:prstGeom prst="rect">
            <a:avLst/>
          </a:prstGeom>
          <a:noFill/>
          <a:ln/>
        </p:spPr>
        <p:txBody>
          <a:bodyPr wrap="square" lIns="0" tIns="0" rIns="0" bIns="0" rtlCol="0" anchor="ctr"/>
          <a:lstStyle/>
          <a:p>
            <a:pPr indent="0" marL="0">
              <a:buNone/>
            </a:pPr>
            <a:r>
              <a:rPr lang="en-US" sz="700" b="1" dirty="0">
                <a:solidFill>
                  <a:srgbClr val="4285F4"/>
                </a:solidFill>
                <a:latin typeface="Aptos" pitchFamily="34" charset="0"/>
                <a:ea typeface="Aptos" pitchFamily="34" charset="-122"/>
                <a:cs typeface="Aptos" pitchFamily="34" charset="-120"/>
              </a:rPr>
              <a:t>AGENT ENGINEERING</a:t>
            </a:r>
            <a:endParaRPr lang="en-US" sz="700" dirty="0"/>
          </a:p>
        </p:txBody>
      </p:sp>
      <p:sp>
        <p:nvSpPr>
          <p:cNvPr id="4" name="Text 2"/>
          <p:cNvSpPr/>
          <p:nvPr/>
        </p:nvSpPr>
        <p:spPr>
          <a:xfrm>
            <a:off x="594360" y="1417320"/>
            <a:ext cx="7863840" cy="1463040"/>
          </a:xfrm>
          <a:prstGeom prst="rect">
            <a:avLst/>
          </a:prstGeom>
          <a:noFill/>
          <a:ln/>
        </p:spPr>
        <p:txBody>
          <a:bodyPr wrap="square" lIns="254" tIns="254" rIns="254" bIns="254" rtlCol="0" anchor="ctr">
            <a:normAutofit/>
          </a:bodyPr>
          <a:lstStyle/>
          <a:p>
            <a:pPr indent="0" marL="0">
              <a:buNone/>
            </a:pPr>
            <a:r>
              <a:rPr lang="en-US" sz="3600" b="1" dirty="0">
                <a:solidFill>
                  <a:srgbClr val="202124"/>
                </a:solidFill>
                <a:latin typeface="Aptos Display" pitchFamily="34" charset="0"/>
                <a:ea typeface="Aptos Display" pitchFamily="34" charset="-122"/>
                <a:cs typeface="Aptos Display" pitchFamily="34" charset="-120"/>
              </a:rPr>
              <a:t>From Language Models to Agent Engineering</a:t>
            </a:r>
            <a:endParaRPr lang="en-US" sz="3600" dirty="0"/>
          </a:p>
        </p:txBody>
      </p:sp>
      <p:sp>
        <p:nvSpPr>
          <p:cNvPr id="5" name="Text 3"/>
          <p:cNvSpPr/>
          <p:nvPr/>
        </p:nvSpPr>
        <p:spPr>
          <a:xfrm>
            <a:off x="621792" y="3200400"/>
            <a:ext cx="7132320" cy="411480"/>
          </a:xfrm>
          <a:prstGeom prst="rect">
            <a:avLst/>
          </a:prstGeom>
          <a:noFill/>
          <a:ln/>
        </p:spPr>
        <p:txBody>
          <a:bodyPr wrap="square" lIns="0" tIns="0" rIns="0" bIns="0" rtlCol="0" anchor="ctr"/>
          <a:lstStyle/>
          <a:p>
            <a:pPr indent="0" marL="0">
              <a:buNone/>
            </a:pPr>
            <a:r>
              <a:rPr lang="en-US" sz="1450" dirty="0">
                <a:solidFill>
                  <a:srgbClr val="5F6368"/>
                </a:solidFill>
                <a:latin typeface="Aptos" pitchFamily="34" charset="0"/>
                <a:ea typeface="Aptos" pitchFamily="34" charset="-122"/>
                <a:cs typeface="Aptos" pitchFamily="34" charset="-120"/>
              </a:rPr>
              <a:t>What agents are — and what it takes to make them dependable</a:t>
            </a:r>
            <a:endParaRPr lang="en-US" sz="1450" dirty="0"/>
          </a:p>
        </p:txBody>
      </p:sp>
      <p:sp>
        <p:nvSpPr>
          <p:cNvPr id="6" name="Text 4"/>
          <p:cNvSpPr/>
          <p:nvPr/>
        </p:nvSpPr>
        <p:spPr>
          <a:xfrm>
            <a:off x="9802368" y="960120"/>
            <a:ext cx="1691640" cy="329184"/>
          </a:xfrm>
          <a:prstGeom prst="rect">
            <a:avLst/>
          </a:prstGeom>
          <a:solidFill>
            <a:srgbClr val="FFFFFF"/>
          </a:solidFill>
          <a:ln/>
        </p:spPr>
        <p:txBody>
          <a:bodyPr wrap="square" lIns="1016" tIns="1016" rIns="1016" bIns="1016" rtlCol="0" anchor="ctr">
            <a:normAutofit/>
          </a:bodyPr>
          <a:lstStyle/>
          <a:p>
            <a:pPr algn="ctr" indent="0" marL="0">
              <a:buNone/>
            </a:pPr>
            <a:r>
              <a:rPr lang="en-US" sz="1200" b="1" dirty="0">
                <a:solidFill>
                  <a:srgbClr val="202124"/>
                </a:solidFill>
                <a:latin typeface="Aptos" pitchFamily="34" charset="0"/>
                <a:ea typeface="Aptos" pitchFamily="34" charset="-122"/>
                <a:cs typeface="Aptos" pitchFamily="34" charset="-120"/>
              </a:rPr>
              <a:t>Model</a:t>
            </a:r>
            <a:endParaRPr lang="en-US" sz="1200" dirty="0"/>
          </a:p>
        </p:txBody>
      </p:sp>
      <p:sp>
        <p:nvSpPr>
          <p:cNvPr id="7" name="Shape 5"/>
          <p:cNvSpPr/>
          <p:nvPr/>
        </p:nvSpPr>
        <p:spPr>
          <a:xfrm>
            <a:off x="10643616" y="1307592"/>
            <a:ext cx="0" cy="393192"/>
          </a:xfrm>
          <a:prstGeom prst="line">
            <a:avLst/>
          </a:prstGeom>
          <a:noFill/>
          <a:ln w="15240">
            <a:solidFill>
              <a:srgbClr val="4285F4"/>
            </a:solidFill>
            <a:prstDash val="solid"/>
            <a:headEnd type="none"/>
            <a:tailEnd type="triangle"/>
          </a:ln>
        </p:spPr>
      </p:sp>
      <p:sp>
        <p:nvSpPr>
          <p:cNvPr id="8" name="Text 6"/>
          <p:cNvSpPr/>
          <p:nvPr/>
        </p:nvSpPr>
        <p:spPr>
          <a:xfrm>
            <a:off x="9802368" y="1828800"/>
            <a:ext cx="1691640" cy="329184"/>
          </a:xfrm>
          <a:prstGeom prst="rect">
            <a:avLst/>
          </a:prstGeom>
          <a:solidFill>
            <a:srgbClr val="FFFFFF">
              <a:alpha val="88000"/>
            </a:srgbClr>
          </a:solidFill>
          <a:ln/>
        </p:spPr>
        <p:txBody>
          <a:bodyPr wrap="square" lIns="1016" tIns="1016" rIns="1016" bIns="1016" rtlCol="0" anchor="ctr">
            <a:normAutofit/>
          </a:bodyPr>
          <a:lstStyle/>
          <a:p>
            <a:pPr algn="ctr" indent="0" marL="0">
              <a:buNone/>
            </a:pPr>
            <a:r>
              <a:rPr lang="en-US" sz="1200" dirty="0">
                <a:solidFill>
                  <a:srgbClr val="202124"/>
                </a:solidFill>
                <a:latin typeface="Aptos" pitchFamily="34" charset="0"/>
                <a:ea typeface="Aptos" pitchFamily="34" charset="-122"/>
                <a:cs typeface="Aptos" pitchFamily="34" charset="-120"/>
              </a:rPr>
              <a:t>Context</a:t>
            </a:r>
            <a:endParaRPr lang="en-US" sz="1200" dirty="0"/>
          </a:p>
        </p:txBody>
      </p:sp>
      <p:sp>
        <p:nvSpPr>
          <p:cNvPr id="9" name="Shape 7"/>
          <p:cNvSpPr/>
          <p:nvPr/>
        </p:nvSpPr>
        <p:spPr>
          <a:xfrm>
            <a:off x="10643616" y="2176272"/>
            <a:ext cx="0" cy="393192"/>
          </a:xfrm>
          <a:prstGeom prst="line">
            <a:avLst/>
          </a:prstGeom>
          <a:noFill/>
          <a:ln w="15240">
            <a:solidFill>
              <a:srgbClr val="4285F4"/>
            </a:solidFill>
            <a:prstDash val="solid"/>
            <a:headEnd type="none"/>
            <a:tailEnd type="triangle"/>
          </a:ln>
        </p:spPr>
      </p:sp>
      <p:sp>
        <p:nvSpPr>
          <p:cNvPr id="10" name="Text 8"/>
          <p:cNvSpPr/>
          <p:nvPr/>
        </p:nvSpPr>
        <p:spPr>
          <a:xfrm>
            <a:off x="9802368" y="2697480"/>
            <a:ext cx="1691640" cy="329184"/>
          </a:xfrm>
          <a:prstGeom prst="rect">
            <a:avLst/>
          </a:prstGeom>
          <a:solidFill>
            <a:srgbClr val="FFFFFF">
              <a:alpha val="88000"/>
            </a:srgbClr>
          </a:solidFill>
          <a:ln/>
        </p:spPr>
        <p:txBody>
          <a:bodyPr wrap="square" lIns="1016" tIns="1016" rIns="1016" bIns="1016" rtlCol="0" anchor="ctr">
            <a:normAutofit/>
          </a:bodyPr>
          <a:lstStyle/>
          <a:p>
            <a:pPr algn="ctr" indent="0" marL="0">
              <a:buNone/>
            </a:pPr>
            <a:r>
              <a:rPr lang="en-US" sz="1200" dirty="0">
                <a:solidFill>
                  <a:srgbClr val="202124"/>
                </a:solidFill>
                <a:latin typeface="Aptos" pitchFamily="34" charset="0"/>
                <a:ea typeface="Aptos" pitchFamily="34" charset="-122"/>
                <a:cs typeface="Aptos" pitchFamily="34" charset="-120"/>
              </a:rPr>
              <a:t>Tools</a:t>
            </a:r>
            <a:endParaRPr lang="en-US" sz="1200" dirty="0"/>
          </a:p>
        </p:txBody>
      </p:sp>
      <p:sp>
        <p:nvSpPr>
          <p:cNvPr id="11" name="Shape 9"/>
          <p:cNvSpPr/>
          <p:nvPr/>
        </p:nvSpPr>
        <p:spPr>
          <a:xfrm>
            <a:off x="10643616" y="3044952"/>
            <a:ext cx="0" cy="393192"/>
          </a:xfrm>
          <a:prstGeom prst="line">
            <a:avLst/>
          </a:prstGeom>
          <a:noFill/>
          <a:ln w="15240">
            <a:solidFill>
              <a:srgbClr val="4285F4"/>
            </a:solidFill>
            <a:prstDash val="solid"/>
            <a:headEnd type="none"/>
            <a:tailEnd type="triangle"/>
          </a:ln>
        </p:spPr>
      </p:sp>
      <p:sp>
        <p:nvSpPr>
          <p:cNvPr id="12" name="Text 10"/>
          <p:cNvSpPr/>
          <p:nvPr/>
        </p:nvSpPr>
        <p:spPr>
          <a:xfrm>
            <a:off x="9802368" y="3566160"/>
            <a:ext cx="1691640" cy="329184"/>
          </a:xfrm>
          <a:prstGeom prst="rect">
            <a:avLst/>
          </a:prstGeom>
          <a:solidFill>
            <a:srgbClr val="FFFFFF">
              <a:alpha val="88000"/>
            </a:srgbClr>
          </a:solidFill>
          <a:ln/>
        </p:spPr>
        <p:txBody>
          <a:bodyPr wrap="square" lIns="1016" tIns="1016" rIns="1016" bIns="1016" rtlCol="0" anchor="ctr">
            <a:normAutofit/>
          </a:bodyPr>
          <a:lstStyle/>
          <a:p>
            <a:pPr algn="ctr" indent="0" marL="0">
              <a:buNone/>
            </a:pPr>
            <a:r>
              <a:rPr lang="en-US" sz="1200" dirty="0">
                <a:solidFill>
                  <a:srgbClr val="202124"/>
                </a:solidFill>
                <a:latin typeface="Aptos" pitchFamily="34" charset="0"/>
                <a:ea typeface="Aptos" pitchFamily="34" charset="-122"/>
                <a:cs typeface="Aptos" pitchFamily="34" charset="-120"/>
              </a:rPr>
              <a:t>Workflow</a:t>
            </a:r>
            <a:endParaRPr lang="en-US" sz="1200" dirty="0"/>
          </a:p>
        </p:txBody>
      </p:sp>
      <p:sp>
        <p:nvSpPr>
          <p:cNvPr id="13" name="Shape 11"/>
          <p:cNvSpPr/>
          <p:nvPr/>
        </p:nvSpPr>
        <p:spPr>
          <a:xfrm>
            <a:off x="10643616" y="3913632"/>
            <a:ext cx="0" cy="393192"/>
          </a:xfrm>
          <a:prstGeom prst="line">
            <a:avLst/>
          </a:prstGeom>
          <a:noFill/>
          <a:ln w="15240">
            <a:solidFill>
              <a:srgbClr val="4285F4"/>
            </a:solidFill>
            <a:prstDash val="solid"/>
            <a:headEnd type="none"/>
            <a:tailEnd type="triangle"/>
          </a:ln>
        </p:spPr>
      </p:sp>
      <p:sp>
        <p:nvSpPr>
          <p:cNvPr id="14" name="Text 12"/>
          <p:cNvSpPr/>
          <p:nvPr/>
        </p:nvSpPr>
        <p:spPr>
          <a:xfrm>
            <a:off x="9802368" y="4434840"/>
            <a:ext cx="1691640" cy="329184"/>
          </a:xfrm>
          <a:prstGeom prst="rect">
            <a:avLst/>
          </a:prstGeom>
          <a:solidFill>
            <a:srgbClr val="FFFFFF">
              <a:alpha val="88000"/>
            </a:srgbClr>
          </a:solidFill>
          <a:ln/>
        </p:spPr>
        <p:txBody>
          <a:bodyPr wrap="square" lIns="1016" tIns="1016" rIns="1016" bIns="1016" rtlCol="0" anchor="ctr">
            <a:normAutofit/>
          </a:bodyPr>
          <a:lstStyle/>
          <a:p>
            <a:pPr algn="ctr" indent="0" marL="0">
              <a:buNone/>
            </a:pPr>
            <a:r>
              <a:rPr lang="en-US" sz="1200" dirty="0">
                <a:solidFill>
                  <a:srgbClr val="202124"/>
                </a:solidFill>
                <a:latin typeface="Aptos" pitchFamily="34" charset="0"/>
                <a:ea typeface="Aptos" pitchFamily="34" charset="-122"/>
                <a:cs typeface="Aptos" pitchFamily="34" charset="-120"/>
              </a:rPr>
              <a:t>Evidence</a:t>
            </a:r>
            <a:endParaRPr lang="en-US" sz="1200" dirty="0"/>
          </a:p>
        </p:txBody>
      </p:sp>
      <p:sp>
        <p:nvSpPr>
          <p:cNvPr id="15" name="Text 13"/>
          <p:cNvSpPr/>
          <p:nvPr/>
        </p:nvSpPr>
        <p:spPr>
          <a:xfrm>
            <a:off x="9555480" y="5897880"/>
            <a:ext cx="2103120" cy="329184"/>
          </a:xfrm>
          <a:prstGeom prst="rect">
            <a:avLst/>
          </a:prstGeom>
          <a:noFill/>
          <a:ln/>
        </p:spPr>
        <p:txBody>
          <a:bodyPr wrap="square" lIns="0" tIns="0" rIns="0" bIns="0" rtlCol="0" anchor="ctr"/>
          <a:lstStyle/>
          <a:p>
            <a:pPr algn="ctr" indent="0" marL="0">
              <a:buNone/>
            </a:pPr>
            <a:r>
              <a:rPr lang="en-US" sz="900" dirty="0">
                <a:solidFill>
                  <a:srgbClr val="5F6368"/>
                </a:solidFill>
                <a:latin typeface="Aptos" pitchFamily="34" charset="0"/>
                <a:ea typeface="Aptos" pitchFamily="34" charset="-122"/>
                <a:cs typeface="Aptos" pitchFamily="34" charset="-120"/>
              </a:rPr>
              <a:t>A high-level operating model for dependable agents</a:t>
            </a:r>
            <a:endParaRPr lang="en-US" sz="900" dirty="0"/>
          </a:p>
        </p:txBody>
      </p:sp>
      <p:sp>
        <p:nvSpPr>
          <p:cNvPr id="16" name="Shape 14"/>
          <p:cNvSpPr/>
          <p:nvPr/>
        </p:nvSpPr>
        <p:spPr>
          <a:xfrm>
            <a:off x="411480" y="6473952"/>
            <a:ext cx="11384280" cy="0"/>
          </a:xfrm>
          <a:prstGeom prst="line">
            <a:avLst/>
          </a:prstGeom>
          <a:noFill/>
          <a:ln w="12700">
            <a:solidFill>
              <a:srgbClr val="E8EAED"/>
            </a:solidFill>
            <a:prstDash val="solid"/>
          </a:ln>
        </p:spPr>
      </p:sp>
      <p:sp>
        <p:nvSpPr>
          <p:cNvPr id="17" name="Text 15"/>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Agent Engineering Overview</a:t>
            </a:r>
            <a:endParaRPr lang="en-US" sz="580" dirty="0"/>
          </a:p>
        </p:txBody>
      </p:sp>
      <p:sp>
        <p:nvSpPr>
          <p:cNvPr id="18" name="Text 16"/>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01</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E8F0FE"/>
          </a:solidFill>
          <a:ln/>
        </p:spPr>
        <p:txBody>
          <a:bodyPr wrap="square" lIns="381" tIns="381" rIns="381" bIns="381" rtlCol="0" anchor="ctr">
            <a:normAutofit/>
          </a:bodyPr>
          <a:lstStyle/>
          <a:p>
            <a:pPr indent="0" marL="0">
              <a:buNone/>
            </a:pPr>
            <a:r>
              <a:rPr lang="en-US" sz="600" b="1" dirty="0">
                <a:solidFill>
                  <a:srgbClr val="4285F4"/>
                </a:solidFill>
                <a:latin typeface="Aptos" pitchFamily="34" charset="0"/>
                <a:ea typeface="Aptos" pitchFamily="34" charset="-122"/>
                <a:cs typeface="Aptos" pitchFamily="34" charset="-120"/>
              </a:rPr>
              <a:t>STARTING POINT</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A model is capability, not the whole system</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The model can reason, but the surrounding system must control access, state, validation and authority.</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Agent Engineering Overview</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02</a:t>
            </a:r>
            <a:endParaRPr lang="en-US" sz="600" dirty="0"/>
          </a:p>
        </p:txBody>
      </p:sp>
      <p:sp>
        <p:nvSpPr>
          <p:cNvPr id="8" name="Text 6"/>
          <p:cNvSpPr/>
          <p:nvPr/>
        </p:nvSpPr>
        <p:spPr>
          <a:xfrm>
            <a:off x="731520" y="1828800"/>
            <a:ext cx="2880360" cy="2697480"/>
          </a:xfrm>
          <a:prstGeom prst="rect">
            <a:avLst/>
          </a:prstGeom>
          <a:solidFill>
            <a:srgbClr val="E8F0FE"/>
          </a:solidFill>
          <a:ln w="12700">
            <a:solidFill>
              <a:srgbClr val="4285F4"/>
            </a:solidFill>
          </a:ln>
        </p:spPr>
        <p:txBody>
          <a:bodyPr wrap="square" lIns="1905" tIns="1905" rIns="1905" bIns="1905" rtlCol="0" anchor="ctr">
            <a:normAutofit/>
          </a:bodyPr>
          <a:lstStyle/>
          <a:p>
            <a:pPr indent="0" marL="0">
              <a:buNone/>
            </a:pPr>
            <a:r>
              <a:rPr lang="en-US" sz="1150" b="1" dirty="0">
                <a:solidFill>
                  <a:srgbClr val="202124"/>
                </a:solidFill>
                <a:latin typeface="Aptos" pitchFamily="34" charset="0"/>
                <a:ea typeface="Aptos" pitchFamily="34" charset="-122"/>
                <a:cs typeface="Aptos" pitchFamily="34" charset="-120"/>
              </a:rPr>
              <a:t>Language model
</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interprets text</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summarizes context</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classifies ambiguity</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generates content</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reasons over supplied evidence</a:t>
            </a:r>
            <a:endParaRPr lang="en-US" sz="1150" dirty="0"/>
          </a:p>
        </p:txBody>
      </p:sp>
      <p:sp>
        <p:nvSpPr>
          <p:cNvPr id="9" name="Shape 7"/>
          <p:cNvSpPr/>
          <p:nvPr/>
        </p:nvSpPr>
        <p:spPr>
          <a:xfrm>
            <a:off x="3794760" y="3182112"/>
            <a:ext cx="1143000" cy="0"/>
          </a:xfrm>
          <a:prstGeom prst="line">
            <a:avLst/>
          </a:prstGeom>
          <a:noFill/>
          <a:ln w="20320">
            <a:solidFill>
              <a:srgbClr val="4285F4"/>
            </a:solidFill>
            <a:prstDash val="solid"/>
            <a:tailEnd type="triangle"/>
          </a:ln>
        </p:spPr>
      </p:sp>
      <p:sp>
        <p:nvSpPr>
          <p:cNvPr id="10" name="Text 8"/>
          <p:cNvSpPr/>
          <p:nvPr/>
        </p:nvSpPr>
        <p:spPr>
          <a:xfrm>
            <a:off x="5120640" y="1645920"/>
            <a:ext cx="2834640" cy="3063240"/>
          </a:xfrm>
          <a:prstGeom prst="rect">
            <a:avLst/>
          </a:prstGeom>
          <a:solidFill>
            <a:srgbClr val="E6F4EA"/>
          </a:solidFill>
          <a:ln w="12700">
            <a:solidFill>
              <a:srgbClr val="34A853"/>
            </a:solidFill>
          </a:ln>
        </p:spPr>
        <p:txBody>
          <a:bodyPr wrap="square" lIns="1905" tIns="1905" rIns="1905" bIns="1905" rtlCol="0" anchor="ctr">
            <a:normAutofit/>
          </a:bodyPr>
          <a:lstStyle/>
          <a:p>
            <a:pPr indent="0" marL="0">
              <a:buNone/>
            </a:pPr>
            <a:r>
              <a:rPr lang="en-US" sz="1150" b="1" dirty="0">
                <a:solidFill>
                  <a:srgbClr val="202124"/>
                </a:solidFill>
                <a:latin typeface="Aptos" pitchFamily="34" charset="0"/>
                <a:ea typeface="Aptos" pitchFamily="34" charset="-122"/>
                <a:cs typeface="Aptos" pitchFamily="34" charset="-120"/>
              </a:rPr>
              <a:t>Engineering wrapper
</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state</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permissions</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tools</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contracts</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workflow</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audit and approval</a:t>
            </a:r>
            <a:endParaRPr lang="en-US" sz="1150" dirty="0"/>
          </a:p>
        </p:txBody>
      </p:sp>
      <p:sp>
        <p:nvSpPr>
          <p:cNvPr id="11" name="Shape 9"/>
          <p:cNvSpPr/>
          <p:nvPr/>
        </p:nvSpPr>
        <p:spPr>
          <a:xfrm>
            <a:off x="8138160" y="3182112"/>
            <a:ext cx="1143000" cy="0"/>
          </a:xfrm>
          <a:prstGeom prst="line">
            <a:avLst/>
          </a:prstGeom>
          <a:noFill/>
          <a:ln w="20320">
            <a:solidFill>
              <a:srgbClr val="34A853"/>
            </a:solidFill>
            <a:prstDash val="solid"/>
            <a:tailEnd type="triangle"/>
          </a:ln>
        </p:spPr>
      </p:sp>
      <p:sp>
        <p:nvSpPr>
          <p:cNvPr id="12" name="Text 10"/>
          <p:cNvSpPr/>
          <p:nvPr/>
        </p:nvSpPr>
        <p:spPr>
          <a:xfrm>
            <a:off x="9464040" y="1828800"/>
            <a:ext cx="2148840" cy="2697480"/>
          </a:xfrm>
          <a:prstGeom prst="rect">
            <a:avLst/>
          </a:prstGeom>
          <a:solidFill>
            <a:srgbClr val="FEF7E0"/>
          </a:solidFill>
          <a:ln w="12700">
            <a:solidFill>
              <a:srgbClr val="FBBC04"/>
            </a:solidFill>
          </a:ln>
        </p:spPr>
        <p:txBody>
          <a:bodyPr wrap="square" lIns="1905" tIns="1905" rIns="1905" bIns="1905" rtlCol="0" anchor="ctr">
            <a:normAutofit/>
          </a:bodyPr>
          <a:lstStyle/>
          <a:p>
            <a:pPr indent="0" marL="0">
              <a:buNone/>
            </a:pPr>
            <a:r>
              <a:rPr lang="en-US" sz="1100" b="1" dirty="0">
                <a:solidFill>
                  <a:srgbClr val="202124"/>
                </a:solidFill>
                <a:latin typeface="Aptos" pitchFamily="34" charset="0"/>
                <a:ea typeface="Aptos" pitchFamily="34" charset="-122"/>
                <a:cs typeface="Aptos" pitchFamily="34" charset="-120"/>
              </a:rPr>
              <a:t>Business outcome
</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consistent result</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controlled autonomy</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observable behavior</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recoverable failures</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human trust</a:t>
            </a:r>
            <a:endParaRPr lang="en-US" sz="1100" dirty="0"/>
          </a:p>
        </p:txBody>
      </p:sp>
      <p:sp>
        <p:nvSpPr>
          <p:cNvPr id="13" name="Text 11"/>
          <p:cNvSpPr/>
          <p:nvPr/>
        </p:nvSpPr>
        <p:spPr>
          <a:xfrm>
            <a:off x="1143000" y="5349240"/>
            <a:ext cx="9966960" cy="566928"/>
          </a:xfrm>
          <a:prstGeom prst="rect">
            <a:avLst/>
          </a:prstGeom>
          <a:noFill/>
          <a:ln/>
        </p:spPr>
        <p:txBody>
          <a:bodyPr wrap="square" lIns="508" tIns="508" rIns="508" bIns="508" rtlCol="0" anchor="ctr">
            <a:normAutofit/>
          </a:bodyPr>
          <a:lstStyle/>
          <a:p>
            <a:pPr algn="ctr" indent="0" marL="0">
              <a:buNone/>
            </a:pPr>
            <a:r>
              <a:rPr lang="en-US" sz="2300" b="1" dirty="0">
                <a:solidFill>
                  <a:srgbClr val="202124"/>
                </a:solidFill>
                <a:latin typeface="Aptos Display" pitchFamily="34" charset="0"/>
                <a:ea typeface="Aptos Display" pitchFamily="34" charset="-122"/>
                <a:cs typeface="Aptos Display" pitchFamily="34" charset="-120"/>
              </a:rPr>
              <a:t>The model supplies intelligence. Engineering makes it usable.</a:t>
            </a:r>
            <a:endParaRPr lang="en-US" sz="2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E6F4EA"/>
          </a:solidFill>
          <a:ln/>
        </p:spPr>
        <p:txBody>
          <a:bodyPr wrap="square" lIns="381" tIns="381" rIns="381" bIns="381" rtlCol="0" anchor="ctr">
            <a:normAutofit/>
          </a:bodyPr>
          <a:lstStyle/>
          <a:p>
            <a:pPr indent="0" marL="0">
              <a:buNone/>
            </a:pPr>
            <a:r>
              <a:rPr lang="en-US" sz="600" b="1" dirty="0">
                <a:solidFill>
                  <a:srgbClr val="34A853"/>
                </a:solidFill>
                <a:latin typeface="Aptos" pitchFamily="34" charset="0"/>
                <a:ea typeface="Aptos" pitchFamily="34" charset="-122"/>
                <a:cs typeface="Aptos" pitchFamily="34" charset="-120"/>
              </a:rPr>
              <a:t>VOCABULARY</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Assistant, workflow, and agent are not the same thing</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Each pattern has a different control model and different engineering obligations.</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Agent Engineering Overview</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03</a:t>
            </a:r>
            <a:endParaRPr lang="en-US" sz="600" dirty="0"/>
          </a:p>
        </p:txBody>
      </p:sp>
      <p:sp>
        <p:nvSpPr>
          <p:cNvPr id="8" name="Text 6"/>
          <p:cNvSpPr/>
          <p:nvPr/>
        </p:nvSpPr>
        <p:spPr>
          <a:xfrm>
            <a:off x="777240" y="1828800"/>
            <a:ext cx="3063240" cy="2514600"/>
          </a:xfrm>
          <a:prstGeom prst="rect">
            <a:avLst/>
          </a:prstGeom>
          <a:solidFill>
            <a:srgbClr val="E8F0FE"/>
          </a:solidFill>
          <a:ln w="12700">
            <a:solidFill>
              <a:srgbClr val="4285F4"/>
            </a:solidFill>
          </a:ln>
        </p:spPr>
        <p:txBody>
          <a:bodyPr wrap="square" lIns="1905" tIns="1905" rIns="1905" bIns="1905" rtlCol="0" anchor="ctr">
            <a:normAutofit/>
          </a:bodyPr>
          <a:lstStyle/>
          <a:p>
            <a:pPr indent="0" marL="0">
              <a:buNone/>
            </a:pPr>
            <a:r>
              <a:rPr lang="en-US" sz="1200" b="1" dirty="0">
                <a:solidFill>
                  <a:srgbClr val="202124"/>
                </a:solidFill>
                <a:latin typeface="Aptos" pitchFamily="34" charset="0"/>
                <a:ea typeface="Aptos" pitchFamily="34" charset="-122"/>
                <a:cs typeface="Aptos" pitchFamily="34" charset="-120"/>
              </a:rPr>
              <a:t>Assistant
</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answers a request</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usually waits for the next instruction</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may not own state or tools</a:t>
            </a:r>
            <a:endParaRPr lang="en-US" sz="1200" dirty="0"/>
          </a:p>
        </p:txBody>
      </p:sp>
      <p:sp>
        <p:nvSpPr>
          <p:cNvPr id="9" name="Text 7"/>
          <p:cNvSpPr/>
          <p:nvPr/>
        </p:nvSpPr>
        <p:spPr>
          <a:xfrm>
            <a:off x="4553712" y="1828800"/>
            <a:ext cx="3063240" cy="2514600"/>
          </a:xfrm>
          <a:prstGeom prst="rect">
            <a:avLst/>
          </a:prstGeom>
          <a:solidFill>
            <a:srgbClr val="FEF7E0"/>
          </a:solidFill>
          <a:ln w="12700">
            <a:solidFill>
              <a:srgbClr val="FBBC04"/>
            </a:solidFill>
          </a:ln>
        </p:spPr>
        <p:txBody>
          <a:bodyPr wrap="square" lIns="1905" tIns="1905" rIns="1905" bIns="1905" rtlCol="0" anchor="ctr">
            <a:normAutofit/>
          </a:bodyPr>
          <a:lstStyle/>
          <a:p>
            <a:pPr indent="0" marL="0">
              <a:buNone/>
            </a:pPr>
            <a:r>
              <a:rPr lang="en-US" sz="1200" b="1" dirty="0">
                <a:solidFill>
                  <a:srgbClr val="202124"/>
                </a:solidFill>
                <a:latin typeface="Aptos" pitchFamily="34" charset="0"/>
                <a:ea typeface="Aptos" pitchFamily="34" charset="-122"/>
                <a:cs typeface="Aptos" pitchFamily="34" charset="-120"/>
              </a:rPr>
              <a:t>Workflow
</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follows a known sequence</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uses deterministic transitions</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works well when the path is stable</a:t>
            </a:r>
            <a:endParaRPr lang="en-US" sz="1200" dirty="0"/>
          </a:p>
        </p:txBody>
      </p:sp>
      <p:sp>
        <p:nvSpPr>
          <p:cNvPr id="10" name="Text 8"/>
          <p:cNvSpPr/>
          <p:nvPr/>
        </p:nvSpPr>
        <p:spPr>
          <a:xfrm>
            <a:off x="8321040" y="1828800"/>
            <a:ext cx="3063240" cy="2514600"/>
          </a:xfrm>
          <a:prstGeom prst="rect">
            <a:avLst/>
          </a:prstGeom>
          <a:solidFill>
            <a:srgbClr val="E6F4EA"/>
          </a:solidFill>
          <a:ln w="12700">
            <a:solidFill>
              <a:srgbClr val="34A853"/>
            </a:solidFill>
          </a:ln>
        </p:spPr>
        <p:txBody>
          <a:bodyPr wrap="square" lIns="1905" tIns="1905" rIns="1905" bIns="1905" rtlCol="0" anchor="ctr">
            <a:normAutofit/>
          </a:bodyPr>
          <a:lstStyle/>
          <a:p>
            <a:pPr indent="0" marL="0">
              <a:buNone/>
            </a:pPr>
            <a:r>
              <a:rPr lang="en-US" sz="1200" b="1" dirty="0">
                <a:solidFill>
                  <a:srgbClr val="202124"/>
                </a:solidFill>
                <a:latin typeface="Aptos" pitchFamily="34" charset="0"/>
                <a:ea typeface="Aptos" pitchFamily="34" charset="-122"/>
                <a:cs typeface="Aptos" pitchFamily="34" charset="-120"/>
              </a:rPr>
              <a:t>Agent
</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pursues a bounded goal</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observes, reasons, acts and inspects</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adapts within guardrails</a:t>
            </a:r>
            <a:endParaRPr lang="en-US" sz="1200" dirty="0"/>
          </a:p>
        </p:txBody>
      </p:sp>
      <p:sp>
        <p:nvSpPr>
          <p:cNvPr id="11" name="Text 9"/>
          <p:cNvSpPr/>
          <p:nvPr/>
        </p:nvSpPr>
        <p:spPr>
          <a:xfrm>
            <a:off x="1463040" y="5212080"/>
            <a:ext cx="9235440" cy="548640"/>
          </a:xfrm>
          <a:prstGeom prst="rect">
            <a:avLst/>
          </a:prstGeom>
          <a:noFill/>
          <a:ln/>
        </p:spPr>
        <p:txBody>
          <a:bodyPr wrap="square" lIns="508" tIns="508" rIns="508" bIns="508" rtlCol="0" anchor="ctr">
            <a:normAutofit/>
          </a:bodyPr>
          <a:lstStyle/>
          <a:p>
            <a:pPr algn="ctr" indent="0" marL="0">
              <a:buNone/>
            </a:pPr>
            <a:r>
              <a:rPr lang="en-US" sz="2300" b="1" dirty="0">
                <a:solidFill>
                  <a:srgbClr val="202124"/>
                </a:solidFill>
                <a:latin typeface="Aptos Display" pitchFamily="34" charset="0"/>
                <a:ea typeface="Aptos Display" pitchFamily="34" charset="-122"/>
                <a:cs typeface="Aptos Display" pitchFamily="34" charset="-120"/>
              </a:rPr>
              <a:t>Use the simplest pattern that satisfies the requirement.</a:t>
            </a:r>
            <a:endParaRPr lang="en-US" sz="2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F3E8FD"/>
          </a:solidFill>
          <a:ln/>
        </p:spPr>
        <p:txBody>
          <a:bodyPr wrap="square" lIns="381" tIns="381" rIns="381" bIns="381" rtlCol="0" anchor="ctr">
            <a:normAutofit/>
          </a:bodyPr>
          <a:lstStyle/>
          <a:p>
            <a:pPr indent="0" marL="0">
              <a:buNone/>
            </a:pPr>
            <a:r>
              <a:rPr lang="en-US" sz="600" b="1" dirty="0">
                <a:solidFill>
                  <a:srgbClr val="A142F4"/>
                </a:solidFill>
                <a:latin typeface="Aptos" pitchFamily="34" charset="0"/>
                <a:ea typeface="Aptos" pitchFamily="34" charset="-122"/>
                <a:cs typeface="Aptos" pitchFamily="34" charset="-120"/>
              </a:rPr>
              <a:t>AGENT LOOP</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What is an agent?</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An agent is a bounded goal-seeking component that uses context and tools to decide what to do next.</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Agent Engineering Overview</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04</a:t>
            </a:r>
            <a:endParaRPr lang="en-US" sz="600" dirty="0"/>
          </a:p>
        </p:txBody>
      </p:sp>
      <p:sp>
        <p:nvSpPr>
          <p:cNvPr id="8" name="Shape 6"/>
          <p:cNvSpPr/>
          <p:nvPr/>
        </p:nvSpPr>
        <p:spPr>
          <a:xfrm>
            <a:off x="2788920" y="2377440"/>
            <a:ext cx="1828800" cy="0"/>
          </a:xfrm>
          <a:prstGeom prst="line">
            <a:avLst/>
          </a:prstGeom>
          <a:noFill/>
          <a:ln w="19050">
            <a:solidFill>
              <a:srgbClr val="A142F4"/>
            </a:solidFill>
            <a:prstDash val="solid"/>
            <a:tailEnd type="triangle"/>
          </a:ln>
        </p:spPr>
      </p:sp>
      <p:sp>
        <p:nvSpPr>
          <p:cNvPr id="9" name="Shape 7"/>
          <p:cNvSpPr/>
          <p:nvPr/>
        </p:nvSpPr>
        <p:spPr>
          <a:xfrm>
            <a:off x="5989320" y="2697480"/>
            <a:ext cx="0" cy="1051560"/>
          </a:xfrm>
          <a:prstGeom prst="line">
            <a:avLst/>
          </a:prstGeom>
          <a:noFill/>
          <a:ln w="19050">
            <a:solidFill>
              <a:srgbClr val="A142F4"/>
            </a:solidFill>
            <a:prstDash val="solid"/>
            <a:tailEnd type="triangle"/>
          </a:ln>
        </p:spPr>
      </p:sp>
      <p:sp>
        <p:nvSpPr>
          <p:cNvPr id="10" name="Shape 8"/>
          <p:cNvSpPr/>
          <p:nvPr/>
        </p:nvSpPr>
        <p:spPr>
          <a:xfrm>
            <a:off x="4617720" y="4069080"/>
            <a:ext cx="-1828800" cy="0"/>
          </a:xfrm>
          <a:prstGeom prst="line">
            <a:avLst/>
          </a:prstGeom>
          <a:noFill/>
          <a:ln w="19050">
            <a:solidFill>
              <a:srgbClr val="A142F4"/>
            </a:solidFill>
            <a:prstDash val="solid"/>
            <a:tailEnd type="triangle"/>
          </a:ln>
        </p:spPr>
      </p:sp>
      <p:sp>
        <p:nvSpPr>
          <p:cNvPr id="11" name="Shape 9"/>
          <p:cNvSpPr/>
          <p:nvPr/>
        </p:nvSpPr>
        <p:spPr>
          <a:xfrm>
            <a:off x="2057400" y="3749040"/>
            <a:ext cx="0" cy="-1051560"/>
          </a:xfrm>
          <a:prstGeom prst="line">
            <a:avLst/>
          </a:prstGeom>
          <a:noFill/>
          <a:ln w="19050">
            <a:solidFill>
              <a:srgbClr val="A142F4"/>
            </a:solidFill>
            <a:prstDash val="solid"/>
            <a:tailEnd type="triangle"/>
          </a:ln>
        </p:spPr>
      </p:sp>
      <p:sp>
        <p:nvSpPr>
          <p:cNvPr id="12" name="Text 10"/>
          <p:cNvSpPr/>
          <p:nvPr/>
        </p:nvSpPr>
        <p:spPr>
          <a:xfrm>
            <a:off x="1325880" y="2057400"/>
            <a:ext cx="1463040" cy="640080"/>
          </a:xfrm>
          <a:prstGeom prst="rect">
            <a:avLst/>
          </a:prstGeom>
          <a:solidFill>
            <a:srgbClr val="F3E8FD"/>
          </a:solidFill>
          <a:ln w="12700">
            <a:solidFill>
              <a:srgbClr val="A142F4"/>
            </a:solidFill>
          </a:ln>
        </p:spPr>
        <p:txBody>
          <a:bodyPr wrap="square" lIns="762" tIns="762" rIns="762" bIns="762" rtlCol="0" anchor="ctr">
            <a:normAutofit/>
          </a:bodyPr>
          <a:lstStyle/>
          <a:p>
            <a:pPr algn="ctr" indent="0" marL="0">
              <a:buNone/>
            </a:pPr>
            <a:r>
              <a:rPr lang="en-US" sz="1300" b="1" dirty="0">
                <a:solidFill>
                  <a:srgbClr val="A142F4"/>
                </a:solidFill>
                <a:latin typeface="Aptos" pitchFamily="34" charset="0"/>
                <a:ea typeface="Aptos" pitchFamily="34" charset="-122"/>
                <a:cs typeface="Aptos" pitchFamily="34" charset="-120"/>
              </a:rPr>
              <a:t>Observe</a:t>
            </a:r>
            <a:endParaRPr lang="en-US" sz="1300" dirty="0"/>
          </a:p>
        </p:txBody>
      </p:sp>
      <p:sp>
        <p:nvSpPr>
          <p:cNvPr id="13" name="Text 11"/>
          <p:cNvSpPr/>
          <p:nvPr/>
        </p:nvSpPr>
        <p:spPr>
          <a:xfrm>
            <a:off x="4617720" y="2057400"/>
            <a:ext cx="1463040" cy="640080"/>
          </a:xfrm>
          <a:prstGeom prst="rect">
            <a:avLst/>
          </a:prstGeom>
          <a:solidFill>
            <a:srgbClr val="E8F0FE"/>
          </a:solidFill>
          <a:ln w="12700">
            <a:solidFill>
              <a:srgbClr val="4285F4"/>
            </a:solidFill>
          </a:ln>
        </p:spPr>
        <p:txBody>
          <a:bodyPr wrap="square" lIns="762" tIns="762" rIns="762" bIns="762" rtlCol="0" anchor="ctr">
            <a:normAutofit/>
          </a:bodyPr>
          <a:lstStyle/>
          <a:p>
            <a:pPr algn="ctr" indent="0" marL="0">
              <a:buNone/>
            </a:pPr>
            <a:r>
              <a:rPr lang="en-US" sz="1300" b="1" dirty="0">
                <a:solidFill>
                  <a:srgbClr val="4285F4"/>
                </a:solidFill>
                <a:latin typeface="Aptos" pitchFamily="34" charset="0"/>
                <a:ea typeface="Aptos" pitchFamily="34" charset="-122"/>
                <a:cs typeface="Aptos" pitchFamily="34" charset="-120"/>
              </a:rPr>
              <a:t>Reason</a:t>
            </a:r>
            <a:endParaRPr lang="en-US" sz="1300" dirty="0"/>
          </a:p>
        </p:txBody>
      </p:sp>
      <p:sp>
        <p:nvSpPr>
          <p:cNvPr id="14" name="Text 12"/>
          <p:cNvSpPr/>
          <p:nvPr/>
        </p:nvSpPr>
        <p:spPr>
          <a:xfrm>
            <a:off x="4617720" y="3749040"/>
            <a:ext cx="1463040" cy="640080"/>
          </a:xfrm>
          <a:prstGeom prst="rect">
            <a:avLst/>
          </a:prstGeom>
          <a:solidFill>
            <a:srgbClr val="E6F4EA"/>
          </a:solidFill>
          <a:ln w="12700">
            <a:solidFill>
              <a:srgbClr val="34A853"/>
            </a:solidFill>
          </a:ln>
        </p:spPr>
        <p:txBody>
          <a:bodyPr wrap="square" lIns="762" tIns="762" rIns="762" bIns="762" rtlCol="0" anchor="ctr">
            <a:normAutofit/>
          </a:bodyPr>
          <a:lstStyle/>
          <a:p>
            <a:pPr algn="ctr" indent="0" marL="0">
              <a:buNone/>
            </a:pPr>
            <a:r>
              <a:rPr lang="en-US" sz="1300" b="1" dirty="0">
                <a:solidFill>
                  <a:srgbClr val="34A853"/>
                </a:solidFill>
                <a:latin typeface="Aptos" pitchFamily="34" charset="0"/>
                <a:ea typeface="Aptos" pitchFamily="34" charset="-122"/>
                <a:cs typeface="Aptos" pitchFamily="34" charset="-120"/>
              </a:rPr>
              <a:t>Act</a:t>
            </a:r>
            <a:endParaRPr lang="en-US" sz="1300" dirty="0"/>
          </a:p>
        </p:txBody>
      </p:sp>
      <p:sp>
        <p:nvSpPr>
          <p:cNvPr id="15" name="Text 13"/>
          <p:cNvSpPr/>
          <p:nvPr/>
        </p:nvSpPr>
        <p:spPr>
          <a:xfrm>
            <a:off x="1325880" y="3749040"/>
            <a:ext cx="1463040" cy="640080"/>
          </a:xfrm>
          <a:prstGeom prst="rect">
            <a:avLst/>
          </a:prstGeom>
          <a:solidFill>
            <a:srgbClr val="FEF7E0"/>
          </a:solidFill>
          <a:ln w="12700">
            <a:solidFill>
              <a:srgbClr val="FBBC04"/>
            </a:solidFill>
          </a:ln>
        </p:spPr>
        <p:txBody>
          <a:bodyPr wrap="square" lIns="762" tIns="762" rIns="762" bIns="762" rtlCol="0" anchor="ctr">
            <a:normAutofit/>
          </a:bodyPr>
          <a:lstStyle/>
          <a:p>
            <a:pPr algn="ctr" indent="0" marL="0">
              <a:buNone/>
            </a:pPr>
            <a:r>
              <a:rPr lang="en-US" sz="1300" b="1" dirty="0">
                <a:solidFill>
                  <a:srgbClr val="FBBC04"/>
                </a:solidFill>
                <a:latin typeface="Aptos" pitchFamily="34" charset="0"/>
                <a:ea typeface="Aptos" pitchFamily="34" charset="-122"/>
                <a:cs typeface="Aptos" pitchFamily="34" charset="-120"/>
              </a:rPr>
              <a:t>Inspect</a:t>
            </a:r>
            <a:endParaRPr lang="en-US" sz="1300" dirty="0"/>
          </a:p>
        </p:txBody>
      </p:sp>
      <p:sp>
        <p:nvSpPr>
          <p:cNvPr id="16" name="Text 14"/>
          <p:cNvSpPr/>
          <p:nvPr/>
        </p:nvSpPr>
        <p:spPr>
          <a:xfrm>
            <a:off x="7315200" y="1828800"/>
            <a:ext cx="3749040" cy="1143000"/>
          </a:xfrm>
          <a:prstGeom prst="rect">
            <a:avLst/>
          </a:prstGeom>
          <a:solidFill>
            <a:srgbClr val="F8F9FA"/>
          </a:solidFill>
          <a:ln w="12700">
            <a:solidFill>
              <a:srgbClr val="DADCE0"/>
            </a:solidFill>
          </a:ln>
        </p:spPr>
        <p:txBody>
          <a:bodyPr wrap="square" lIns="1905" tIns="1905" rIns="1905" bIns="1905" rtlCol="0" anchor="ctr">
            <a:normAutofit/>
          </a:bodyPr>
          <a:lstStyle/>
          <a:p>
            <a:pPr indent="0" marL="0">
              <a:buNone/>
            </a:pPr>
            <a:r>
              <a:rPr lang="en-US" sz="1150" b="1" dirty="0">
                <a:solidFill>
                  <a:srgbClr val="202124"/>
                </a:solidFill>
                <a:latin typeface="Aptos" pitchFamily="34" charset="0"/>
                <a:ea typeface="Aptos" pitchFamily="34" charset="-122"/>
                <a:cs typeface="Aptos" pitchFamily="34" charset="-120"/>
              </a:rPr>
              <a:t>Bounded goal
</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The agent is not free to do anything. It operates against a defined objective, available evidence and explicit limits.</a:t>
            </a:r>
            <a:endParaRPr lang="en-US" sz="1150" dirty="0"/>
          </a:p>
        </p:txBody>
      </p:sp>
      <p:sp>
        <p:nvSpPr>
          <p:cNvPr id="17" name="Text 15"/>
          <p:cNvSpPr/>
          <p:nvPr/>
        </p:nvSpPr>
        <p:spPr>
          <a:xfrm>
            <a:off x="7315200" y="3246120"/>
            <a:ext cx="3749040" cy="960120"/>
          </a:xfrm>
          <a:prstGeom prst="rect">
            <a:avLst/>
          </a:prstGeom>
          <a:solidFill>
            <a:srgbClr val="E6F4EA"/>
          </a:solidFill>
          <a:ln w="12700">
            <a:solidFill>
              <a:srgbClr val="34A853"/>
            </a:solidFill>
          </a:ln>
        </p:spPr>
        <p:txBody>
          <a:bodyPr wrap="square" lIns="1905" tIns="1905" rIns="1905" bIns="1905" rtlCol="0" anchor="ctr">
            <a:normAutofit/>
          </a:bodyPr>
          <a:lstStyle/>
          <a:p>
            <a:pPr indent="0" marL="0">
              <a:buNone/>
            </a:pPr>
            <a:r>
              <a:rPr lang="en-US" sz="1150" b="1" dirty="0">
                <a:solidFill>
                  <a:srgbClr val="202124"/>
                </a:solidFill>
                <a:latin typeface="Aptos" pitchFamily="34" charset="0"/>
                <a:ea typeface="Aptos" pitchFamily="34" charset="-122"/>
                <a:cs typeface="Aptos" pitchFamily="34" charset="-120"/>
              </a:rPr>
              <a:t>Tool use
</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Actions happen through approved tools, not through unrestricted external behavior.</a:t>
            </a:r>
            <a:endParaRPr lang="en-US" sz="1150" dirty="0"/>
          </a:p>
        </p:txBody>
      </p:sp>
      <p:sp>
        <p:nvSpPr>
          <p:cNvPr id="18" name="Text 16"/>
          <p:cNvSpPr/>
          <p:nvPr/>
        </p:nvSpPr>
        <p:spPr>
          <a:xfrm>
            <a:off x="7315200" y="4526280"/>
            <a:ext cx="3749040" cy="868680"/>
          </a:xfrm>
          <a:prstGeom prst="rect">
            <a:avLst/>
          </a:prstGeom>
          <a:solidFill>
            <a:srgbClr val="FCE8E6"/>
          </a:solidFill>
          <a:ln w="12700">
            <a:solidFill>
              <a:srgbClr val="EA4335"/>
            </a:solidFill>
          </a:ln>
        </p:spPr>
        <p:txBody>
          <a:bodyPr wrap="square" lIns="1905" tIns="1905" rIns="1905" bIns="1905" rtlCol="0" anchor="ctr">
            <a:normAutofit/>
          </a:bodyPr>
          <a:lstStyle/>
          <a:p>
            <a:pPr indent="0" marL="0">
              <a:buNone/>
            </a:pPr>
            <a:r>
              <a:rPr lang="en-US" sz="1150" b="1" dirty="0">
                <a:solidFill>
                  <a:srgbClr val="202124"/>
                </a:solidFill>
                <a:latin typeface="Aptos" pitchFamily="34" charset="0"/>
                <a:ea typeface="Aptos" pitchFamily="34" charset="-122"/>
                <a:cs typeface="Aptos" pitchFamily="34" charset="-120"/>
              </a:rPr>
              <a:t>Stopping rules
</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A good agent knows when to stop, escalate or ask for help.</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E8F0FE"/>
          </a:solidFill>
          <a:ln/>
        </p:spPr>
        <p:txBody>
          <a:bodyPr wrap="square" lIns="381" tIns="381" rIns="381" bIns="381" rtlCol="0" anchor="ctr">
            <a:normAutofit/>
          </a:bodyPr>
          <a:lstStyle/>
          <a:p>
            <a:pPr indent="0" marL="0">
              <a:buNone/>
            </a:pPr>
            <a:r>
              <a:rPr lang="en-US" sz="600" b="1" dirty="0">
                <a:solidFill>
                  <a:srgbClr val="4285F4"/>
                </a:solidFill>
                <a:latin typeface="Aptos" pitchFamily="34" charset="0"/>
                <a:ea typeface="Aptos" pitchFamily="34" charset="-122"/>
                <a:cs typeface="Aptos" pitchFamily="34" charset="-120"/>
              </a:rPr>
              <a:t>SYSTEM VIEW</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What makes a system agentic?</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An agent becomes reliable only when it participates in a broader engineered system.</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Agent Engineering Overview</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05</a:t>
            </a:r>
            <a:endParaRPr lang="en-US" sz="600" dirty="0"/>
          </a:p>
        </p:txBody>
      </p:sp>
      <p:sp>
        <p:nvSpPr>
          <p:cNvPr id="8" name="Text 6"/>
          <p:cNvSpPr/>
          <p:nvPr/>
        </p:nvSpPr>
        <p:spPr>
          <a:xfrm>
            <a:off x="5074920" y="2907792"/>
            <a:ext cx="2011680" cy="749808"/>
          </a:xfrm>
          <a:prstGeom prst="rect">
            <a:avLst/>
          </a:prstGeom>
          <a:solidFill>
            <a:srgbClr val="E8F0FE"/>
          </a:solidFill>
          <a:ln w="12700">
            <a:solidFill>
              <a:srgbClr val="4285F4"/>
            </a:solidFill>
          </a:ln>
        </p:spPr>
        <p:txBody>
          <a:bodyPr wrap="square" lIns="762" tIns="762" rIns="762" bIns="762" rtlCol="0" anchor="ctr">
            <a:normAutofit/>
          </a:bodyPr>
          <a:lstStyle/>
          <a:p>
            <a:pPr algn="ctr" indent="0" marL="0">
              <a:buNone/>
            </a:pPr>
            <a:r>
              <a:rPr lang="en-US" sz="1800" b="1" dirty="0">
                <a:solidFill>
                  <a:srgbClr val="4285F4"/>
                </a:solidFill>
                <a:latin typeface="Aptos" pitchFamily="34" charset="0"/>
                <a:ea typeface="Aptos" pitchFamily="34" charset="-122"/>
                <a:cs typeface="Aptos" pitchFamily="34" charset="-120"/>
              </a:rPr>
              <a:t>Agent</a:t>
            </a:r>
            <a:endParaRPr lang="en-US" sz="1800" dirty="0"/>
          </a:p>
        </p:txBody>
      </p:sp>
      <p:sp>
        <p:nvSpPr>
          <p:cNvPr id="9" name="Text 7"/>
          <p:cNvSpPr/>
          <p:nvPr/>
        </p:nvSpPr>
        <p:spPr>
          <a:xfrm>
            <a:off x="2103120" y="1874520"/>
            <a:ext cx="2011680" cy="685800"/>
          </a:xfrm>
          <a:prstGeom prst="rect">
            <a:avLst/>
          </a:prstGeom>
          <a:solidFill>
            <a:srgbClr val="E6F4EA"/>
          </a:solidFill>
          <a:ln w="12700">
            <a:solidFill>
              <a:srgbClr val="34A853"/>
            </a:solidFill>
          </a:ln>
        </p:spPr>
        <p:txBody>
          <a:bodyPr wrap="square" lIns="762" tIns="762" rIns="762" bIns="762" rtlCol="0" anchor="ctr">
            <a:normAutofit/>
          </a:bodyPr>
          <a:lstStyle/>
          <a:p>
            <a:pPr algn="ctr" indent="0" marL="0">
              <a:buNone/>
            </a:pPr>
            <a:r>
              <a:rPr lang="en-US" sz="1250" b="1" dirty="0">
                <a:solidFill>
                  <a:srgbClr val="34A853"/>
                </a:solidFill>
                <a:latin typeface="Aptos" pitchFamily="34" charset="0"/>
                <a:ea typeface="Aptos" pitchFamily="34" charset="-122"/>
                <a:cs typeface="Aptos" pitchFamily="34" charset="-120"/>
              </a:rPr>
              <a:t>Context</a:t>
            </a:r>
            <a:endParaRPr lang="en-US" sz="1250" dirty="0"/>
          </a:p>
        </p:txBody>
      </p:sp>
      <p:sp>
        <p:nvSpPr>
          <p:cNvPr id="10" name="Text 8"/>
          <p:cNvSpPr/>
          <p:nvPr/>
        </p:nvSpPr>
        <p:spPr>
          <a:xfrm>
            <a:off x="5074920" y="1664208"/>
            <a:ext cx="2011680" cy="685800"/>
          </a:xfrm>
          <a:prstGeom prst="rect">
            <a:avLst/>
          </a:prstGeom>
          <a:solidFill>
            <a:srgbClr val="FEF7E0"/>
          </a:solidFill>
          <a:ln w="12700">
            <a:solidFill>
              <a:srgbClr val="FBBC04"/>
            </a:solidFill>
          </a:ln>
        </p:spPr>
        <p:txBody>
          <a:bodyPr wrap="square" lIns="762" tIns="762" rIns="762" bIns="762" rtlCol="0" anchor="ctr">
            <a:normAutofit/>
          </a:bodyPr>
          <a:lstStyle/>
          <a:p>
            <a:pPr algn="ctr" indent="0" marL="0">
              <a:buNone/>
            </a:pPr>
            <a:r>
              <a:rPr lang="en-US" sz="1250" b="1" dirty="0">
                <a:solidFill>
                  <a:srgbClr val="FBBC04"/>
                </a:solidFill>
                <a:latin typeface="Aptos" pitchFamily="34" charset="0"/>
                <a:ea typeface="Aptos" pitchFamily="34" charset="-122"/>
                <a:cs typeface="Aptos" pitchFamily="34" charset="-120"/>
              </a:rPr>
              <a:t>Tools</a:t>
            </a:r>
            <a:endParaRPr lang="en-US" sz="1250" dirty="0"/>
          </a:p>
        </p:txBody>
      </p:sp>
      <p:sp>
        <p:nvSpPr>
          <p:cNvPr id="11" name="Text 9"/>
          <p:cNvSpPr/>
          <p:nvPr/>
        </p:nvSpPr>
        <p:spPr>
          <a:xfrm>
            <a:off x="8092440" y="1874520"/>
            <a:ext cx="2011680" cy="685800"/>
          </a:xfrm>
          <a:prstGeom prst="rect">
            <a:avLst/>
          </a:prstGeom>
          <a:solidFill>
            <a:srgbClr val="F3E8FD"/>
          </a:solidFill>
          <a:ln w="12700">
            <a:solidFill>
              <a:srgbClr val="A142F4"/>
            </a:solidFill>
          </a:ln>
        </p:spPr>
        <p:txBody>
          <a:bodyPr wrap="square" lIns="762" tIns="762" rIns="762" bIns="762" rtlCol="0" anchor="ctr">
            <a:normAutofit/>
          </a:bodyPr>
          <a:lstStyle/>
          <a:p>
            <a:pPr algn="ctr" indent="0" marL="0">
              <a:buNone/>
            </a:pPr>
            <a:r>
              <a:rPr lang="en-US" sz="1250" b="1" dirty="0">
                <a:solidFill>
                  <a:srgbClr val="A142F4"/>
                </a:solidFill>
                <a:latin typeface="Aptos" pitchFamily="34" charset="0"/>
                <a:ea typeface="Aptos" pitchFamily="34" charset="-122"/>
                <a:cs typeface="Aptos" pitchFamily="34" charset="-120"/>
              </a:rPr>
              <a:t>Skills</a:t>
            </a:r>
            <a:endParaRPr lang="en-US" sz="1250" dirty="0"/>
          </a:p>
        </p:txBody>
      </p:sp>
      <p:sp>
        <p:nvSpPr>
          <p:cNvPr id="12" name="Text 10"/>
          <p:cNvSpPr/>
          <p:nvPr/>
        </p:nvSpPr>
        <p:spPr>
          <a:xfrm>
            <a:off x="2103120" y="4041648"/>
            <a:ext cx="2011680" cy="685800"/>
          </a:xfrm>
          <a:prstGeom prst="rect">
            <a:avLst/>
          </a:prstGeom>
          <a:solidFill>
            <a:srgbClr val="E8F0FE"/>
          </a:solidFill>
          <a:ln w="12700">
            <a:solidFill>
              <a:srgbClr val="4285F4"/>
            </a:solidFill>
          </a:ln>
        </p:spPr>
        <p:txBody>
          <a:bodyPr wrap="square" lIns="762" tIns="762" rIns="762" bIns="762" rtlCol="0" anchor="ctr">
            <a:normAutofit/>
          </a:bodyPr>
          <a:lstStyle/>
          <a:p>
            <a:pPr algn="ctr" indent="0" marL="0">
              <a:buNone/>
            </a:pPr>
            <a:r>
              <a:rPr lang="en-US" sz="1250" b="1" dirty="0">
                <a:solidFill>
                  <a:srgbClr val="4285F4"/>
                </a:solidFill>
                <a:latin typeface="Aptos" pitchFamily="34" charset="0"/>
                <a:ea typeface="Aptos" pitchFamily="34" charset="-122"/>
                <a:cs typeface="Aptos" pitchFamily="34" charset="-120"/>
              </a:rPr>
              <a:t>State</a:t>
            </a:r>
            <a:endParaRPr lang="en-US" sz="1250" dirty="0"/>
          </a:p>
        </p:txBody>
      </p:sp>
      <p:sp>
        <p:nvSpPr>
          <p:cNvPr id="13" name="Text 11"/>
          <p:cNvSpPr/>
          <p:nvPr/>
        </p:nvSpPr>
        <p:spPr>
          <a:xfrm>
            <a:off x="5074920" y="4315968"/>
            <a:ext cx="2011680" cy="685800"/>
          </a:xfrm>
          <a:prstGeom prst="rect">
            <a:avLst/>
          </a:prstGeom>
          <a:solidFill>
            <a:srgbClr val="E6F4EA"/>
          </a:solidFill>
          <a:ln w="12700">
            <a:solidFill>
              <a:srgbClr val="34A853"/>
            </a:solidFill>
          </a:ln>
        </p:spPr>
        <p:txBody>
          <a:bodyPr wrap="square" lIns="762" tIns="762" rIns="762" bIns="762" rtlCol="0" anchor="ctr">
            <a:normAutofit/>
          </a:bodyPr>
          <a:lstStyle/>
          <a:p>
            <a:pPr algn="ctr" indent="0" marL="0">
              <a:buNone/>
            </a:pPr>
            <a:r>
              <a:rPr lang="en-US" sz="1250" b="1" dirty="0">
                <a:solidFill>
                  <a:srgbClr val="34A853"/>
                </a:solidFill>
                <a:latin typeface="Aptos" pitchFamily="34" charset="0"/>
                <a:ea typeface="Aptos" pitchFamily="34" charset="-122"/>
                <a:cs typeface="Aptos" pitchFamily="34" charset="-120"/>
              </a:rPr>
              <a:t>Workflow</a:t>
            </a:r>
            <a:endParaRPr lang="en-US" sz="1250" dirty="0"/>
          </a:p>
        </p:txBody>
      </p:sp>
      <p:sp>
        <p:nvSpPr>
          <p:cNvPr id="14" name="Text 12"/>
          <p:cNvSpPr/>
          <p:nvPr/>
        </p:nvSpPr>
        <p:spPr>
          <a:xfrm>
            <a:off x="8092440" y="4041648"/>
            <a:ext cx="2011680" cy="685800"/>
          </a:xfrm>
          <a:prstGeom prst="rect">
            <a:avLst/>
          </a:prstGeom>
          <a:solidFill>
            <a:srgbClr val="FCE8E6"/>
          </a:solidFill>
          <a:ln w="12700">
            <a:solidFill>
              <a:srgbClr val="EA4335"/>
            </a:solidFill>
          </a:ln>
        </p:spPr>
        <p:txBody>
          <a:bodyPr wrap="square" lIns="762" tIns="762" rIns="762" bIns="762" rtlCol="0" anchor="ctr">
            <a:normAutofit/>
          </a:bodyPr>
          <a:lstStyle/>
          <a:p>
            <a:pPr algn="ctr" indent="0" marL="0">
              <a:buNone/>
            </a:pPr>
            <a:r>
              <a:rPr lang="en-US" sz="1250" b="1" dirty="0">
                <a:solidFill>
                  <a:srgbClr val="EA4335"/>
                </a:solidFill>
                <a:latin typeface="Aptos" pitchFamily="34" charset="0"/>
                <a:ea typeface="Aptos" pitchFamily="34" charset="-122"/>
                <a:cs typeface="Aptos" pitchFamily="34" charset="-120"/>
              </a:rPr>
              <a:t>Evaluation</a:t>
            </a:r>
            <a:endParaRPr lang="en-US" sz="1250" dirty="0"/>
          </a:p>
        </p:txBody>
      </p:sp>
      <p:sp>
        <p:nvSpPr>
          <p:cNvPr id="15" name="Text 13"/>
          <p:cNvSpPr/>
          <p:nvPr/>
        </p:nvSpPr>
        <p:spPr>
          <a:xfrm>
            <a:off x="1143000" y="5486400"/>
            <a:ext cx="9966960" cy="411480"/>
          </a:xfrm>
          <a:prstGeom prst="rect">
            <a:avLst/>
          </a:prstGeom>
          <a:noFill/>
          <a:ln/>
        </p:spPr>
        <p:txBody>
          <a:bodyPr wrap="square" lIns="508" tIns="508" rIns="508" bIns="508" rtlCol="0" anchor="ctr">
            <a:normAutofit/>
          </a:bodyPr>
          <a:lstStyle/>
          <a:p>
            <a:pPr algn="ctr" indent="0" marL="0">
              <a:buNone/>
            </a:pPr>
            <a:r>
              <a:rPr lang="en-US" sz="2300" b="1" dirty="0">
                <a:solidFill>
                  <a:srgbClr val="202124"/>
                </a:solidFill>
                <a:latin typeface="Aptos Display" pitchFamily="34" charset="0"/>
                <a:ea typeface="Aptos Display" pitchFamily="34" charset="-122"/>
                <a:cs typeface="Aptos Display" pitchFamily="34" charset="-120"/>
              </a:rPr>
              <a:t>An agent is not just a model connected to tools.</a:t>
            </a:r>
            <a:endParaRPr lang="en-US" sz="2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E6F4EA"/>
          </a:solidFill>
          <a:ln/>
        </p:spPr>
        <p:txBody>
          <a:bodyPr wrap="square" lIns="381" tIns="381" rIns="381" bIns="381" rtlCol="0" anchor="ctr">
            <a:normAutofit/>
          </a:bodyPr>
          <a:lstStyle/>
          <a:p>
            <a:pPr indent="0" marL="0">
              <a:buNone/>
            </a:pPr>
            <a:r>
              <a:rPr lang="en-US" sz="600" b="1" dirty="0">
                <a:solidFill>
                  <a:srgbClr val="34A853"/>
                </a:solidFill>
                <a:latin typeface="Aptos" pitchFamily="34" charset="0"/>
                <a:ea typeface="Aptos" pitchFamily="34" charset="-122"/>
                <a:cs typeface="Aptos" pitchFamily="34" charset="-120"/>
              </a:rPr>
              <a:t>DECISION RULE</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When should we use an agent?</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Agentic behavior belongs where judgment, ambiguity and adaptation are real requirements.</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Agent Engineering Overview</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06</a:t>
            </a:r>
            <a:endParaRPr lang="en-US" sz="600" dirty="0"/>
          </a:p>
        </p:txBody>
      </p:sp>
      <p:sp>
        <p:nvSpPr>
          <p:cNvPr id="8" name="Text 6"/>
          <p:cNvSpPr/>
          <p:nvPr/>
        </p:nvSpPr>
        <p:spPr>
          <a:xfrm>
            <a:off x="868680" y="1828800"/>
            <a:ext cx="4251960" cy="2743200"/>
          </a:xfrm>
          <a:prstGeom prst="rect">
            <a:avLst/>
          </a:prstGeom>
          <a:solidFill>
            <a:srgbClr val="F8F9FA"/>
          </a:solidFill>
          <a:ln w="12700">
            <a:solidFill>
              <a:srgbClr val="DADCE0"/>
            </a:solidFill>
          </a:ln>
        </p:spPr>
        <p:txBody>
          <a:bodyPr wrap="square" lIns="1905" tIns="1905" rIns="1905" bIns="1905" rtlCol="0" anchor="ctr">
            <a:normAutofit/>
          </a:bodyPr>
          <a:lstStyle/>
          <a:p>
            <a:pPr indent="0" marL="0">
              <a:buNone/>
            </a:pPr>
            <a:r>
              <a:rPr lang="en-US" sz="1200" b="1" dirty="0">
                <a:solidFill>
                  <a:srgbClr val="202124"/>
                </a:solidFill>
                <a:latin typeface="Aptos" pitchFamily="34" charset="0"/>
                <a:ea typeface="Aptos" pitchFamily="34" charset="-122"/>
                <a:cs typeface="Aptos" pitchFamily="34" charset="-120"/>
              </a:rPr>
              <a:t>Use deterministic software when…
</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rules are complete</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path is stable</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same input should produce same result</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correctness is mechanically verifiable</a:t>
            </a:r>
            <a:endParaRPr lang="en-US" sz="1200" dirty="0"/>
          </a:p>
        </p:txBody>
      </p:sp>
      <p:sp>
        <p:nvSpPr>
          <p:cNvPr id="9" name="Text 7"/>
          <p:cNvSpPr/>
          <p:nvPr/>
        </p:nvSpPr>
        <p:spPr>
          <a:xfrm>
            <a:off x="7086600" y="1828800"/>
            <a:ext cx="4251960" cy="2743200"/>
          </a:xfrm>
          <a:prstGeom prst="rect">
            <a:avLst/>
          </a:prstGeom>
          <a:solidFill>
            <a:srgbClr val="E6F4EA"/>
          </a:solidFill>
          <a:ln w="12700">
            <a:solidFill>
              <a:srgbClr val="34A853"/>
            </a:solidFill>
          </a:ln>
        </p:spPr>
        <p:txBody>
          <a:bodyPr wrap="square" lIns="1905" tIns="1905" rIns="1905" bIns="1905" rtlCol="0" anchor="ctr">
            <a:normAutofit/>
          </a:bodyPr>
          <a:lstStyle/>
          <a:p>
            <a:pPr indent="0" marL="0">
              <a:buNone/>
            </a:pPr>
            <a:r>
              <a:rPr lang="en-US" sz="1200" b="1" dirty="0">
                <a:solidFill>
                  <a:srgbClr val="202124"/>
                </a:solidFill>
                <a:latin typeface="Aptos" pitchFamily="34" charset="0"/>
                <a:ea typeface="Aptos" pitchFamily="34" charset="-122"/>
                <a:cs typeface="Aptos" pitchFamily="34" charset="-120"/>
              </a:rPr>
              <a:t>Use model reasoning when…
</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information is ambiguous</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several signals must be synthesized</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judgment is required</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new context changes the next action</a:t>
            </a:r>
            <a:endParaRPr lang="en-US" sz="1200" dirty="0"/>
          </a:p>
        </p:txBody>
      </p:sp>
      <p:sp>
        <p:nvSpPr>
          <p:cNvPr id="10" name="Text 8"/>
          <p:cNvSpPr/>
          <p:nvPr/>
        </p:nvSpPr>
        <p:spPr>
          <a:xfrm>
            <a:off x="3566160" y="5230368"/>
            <a:ext cx="5074920" cy="502920"/>
          </a:xfrm>
          <a:prstGeom prst="rect">
            <a:avLst/>
          </a:prstGeom>
          <a:solidFill>
            <a:srgbClr val="E8F0FE"/>
          </a:solidFill>
          <a:ln w="12700">
            <a:solidFill>
              <a:srgbClr val="4285F4"/>
            </a:solidFill>
          </a:ln>
        </p:spPr>
        <p:txBody>
          <a:bodyPr wrap="square" lIns="762" tIns="762" rIns="762" bIns="762" rtlCol="0" anchor="ctr">
            <a:normAutofit/>
          </a:bodyPr>
          <a:lstStyle/>
          <a:p>
            <a:pPr algn="ctr" indent="0" marL="0">
              <a:buNone/>
            </a:pPr>
            <a:r>
              <a:rPr lang="en-US" sz="1300" b="1" dirty="0">
                <a:solidFill>
                  <a:srgbClr val="4285F4"/>
                </a:solidFill>
                <a:latin typeface="Aptos" pitchFamily="34" charset="0"/>
                <a:ea typeface="Aptos" pitchFamily="34" charset="-122"/>
                <a:cs typeface="Aptos" pitchFamily="34" charset="-120"/>
              </a:rPr>
              <a:t>Correct assignment of responsibility is the core design move.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F3E8FD"/>
          </a:solidFill>
          <a:ln/>
        </p:spPr>
        <p:txBody>
          <a:bodyPr wrap="square" lIns="381" tIns="381" rIns="381" bIns="381" rtlCol="0" anchor="ctr">
            <a:normAutofit/>
          </a:bodyPr>
          <a:lstStyle/>
          <a:p>
            <a:pPr indent="0" marL="0">
              <a:buNone/>
            </a:pPr>
            <a:r>
              <a:rPr lang="en-US" sz="600" b="1" dirty="0">
                <a:solidFill>
                  <a:srgbClr val="A142F4"/>
                </a:solidFill>
                <a:latin typeface="Aptos" pitchFamily="34" charset="0"/>
                <a:ea typeface="Aptos" pitchFamily="34" charset="-122"/>
                <a:cs typeface="Aptos" pitchFamily="34" charset="-120"/>
              </a:rPr>
              <a:t>MULTI-AGENT</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What is a multi-agent system?</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A multi-agent system divides work across specialized agents with clear responsibilities.</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Agent Engineering Overview</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07</a:t>
            </a:r>
            <a:endParaRPr lang="en-US" sz="600" dirty="0"/>
          </a:p>
        </p:txBody>
      </p:sp>
      <p:sp>
        <p:nvSpPr>
          <p:cNvPr id="8" name="Shape 6"/>
          <p:cNvSpPr/>
          <p:nvPr/>
        </p:nvSpPr>
        <p:spPr>
          <a:xfrm>
            <a:off x="2011680" y="3108960"/>
            <a:ext cx="1188720" cy="0"/>
          </a:xfrm>
          <a:prstGeom prst="line">
            <a:avLst/>
          </a:prstGeom>
          <a:noFill/>
          <a:ln w="16510">
            <a:solidFill>
              <a:srgbClr val="A142F4"/>
            </a:solidFill>
            <a:prstDash val="solid"/>
            <a:tailEnd type="triangle"/>
          </a:ln>
        </p:spPr>
      </p:sp>
      <p:sp>
        <p:nvSpPr>
          <p:cNvPr id="9" name="Shape 7"/>
          <p:cNvSpPr/>
          <p:nvPr/>
        </p:nvSpPr>
        <p:spPr>
          <a:xfrm>
            <a:off x="4251960" y="3108960"/>
            <a:ext cx="1188720" cy="0"/>
          </a:xfrm>
          <a:prstGeom prst="line">
            <a:avLst/>
          </a:prstGeom>
          <a:noFill/>
          <a:ln w="16510">
            <a:solidFill>
              <a:srgbClr val="A142F4"/>
            </a:solidFill>
            <a:prstDash val="solid"/>
            <a:tailEnd type="triangle"/>
          </a:ln>
        </p:spPr>
      </p:sp>
      <p:sp>
        <p:nvSpPr>
          <p:cNvPr id="10" name="Shape 8"/>
          <p:cNvSpPr/>
          <p:nvPr/>
        </p:nvSpPr>
        <p:spPr>
          <a:xfrm>
            <a:off x="6492240" y="3108960"/>
            <a:ext cx="1188720" cy="0"/>
          </a:xfrm>
          <a:prstGeom prst="line">
            <a:avLst/>
          </a:prstGeom>
          <a:noFill/>
          <a:ln w="16510">
            <a:solidFill>
              <a:srgbClr val="A142F4"/>
            </a:solidFill>
            <a:prstDash val="solid"/>
            <a:tailEnd type="triangle"/>
          </a:ln>
        </p:spPr>
      </p:sp>
      <p:sp>
        <p:nvSpPr>
          <p:cNvPr id="11" name="Shape 9"/>
          <p:cNvSpPr/>
          <p:nvPr/>
        </p:nvSpPr>
        <p:spPr>
          <a:xfrm>
            <a:off x="8732520" y="3108960"/>
            <a:ext cx="1188720" cy="0"/>
          </a:xfrm>
          <a:prstGeom prst="line">
            <a:avLst/>
          </a:prstGeom>
          <a:noFill/>
          <a:ln w="16510">
            <a:solidFill>
              <a:srgbClr val="A142F4"/>
            </a:solidFill>
            <a:prstDash val="solid"/>
            <a:tailEnd type="triangle"/>
          </a:ln>
        </p:spPr>
      </p:sp>
      <p:sp>
        <p:nvSpPr>
          <p:cNvPr id="12" name="Text 10"/>
          <p:cNvSpPr/>
          <p:nvPr/>
        </p:nvSpPr>
        <p:spPr>
          <a:xfrm>
            <a:off x="822960" y="2743200"/>
            <a:ext cx="1188720" cy="731520"/>
          </a:xfrm>
          <a:prstGeom prst="rect">
            <a:avLst/>
          </a:prstGeom>
          <a:solidFill>
            <a:srgbClr val="E6F4EA"/>
          </a:solidFill>
          <a:ln w="12700">
            <a:solidFill>
              <a:srgbClr val="34A853"/>
            </a:solidFill>
          </a:ln>
        </p:spPr>
        <p:txBody>
          <a:bodyPr wrap="square" lIns="762" tIns="762" rIns="762" bIns="762" rtlCol="0" anchor="ctr">
            <a:normAutofit/>
          </a:bodyPr>
          <a:lstStyle/>
          <a:p>
            <a:pPr algn="ctr" indent="0" marL="0">
              <a:buNone/>
            </a:pPr>
            <a:r>
              <a:rPr lang="en-US" sz="1150" b="1" dirty="0">
                <a:solidFill>
                  <a:srgbClr val="34A853"/>
                </a:solidFill>
                <a:latin typeface="Aptos" pitchFamily="34" charset="0"/>
                <a:ea typeface="Aptos" pitchFamily="34" charset="-122"/>
                <a:cs typeface="Aptos" pitchFamily="34" charset="-120"/>
              </a:rPr>
              <a:t>Research</a:t>
            </a:r>
            <a:endParaRPr lang="en-US" sz="1150" dirty="0"/>
          </a:p>
        </p:txBody>
      </p:sp>
      <p:sp>
        <p:nvSpPr>
          <p:cNvPr id="13" name="Text 11"/>
          <p:cNvSpPr/>
          <p:nvPr/>
        </p:nvSpPr>
        <p:spPr>
          <a:xfrm>
            <a:off x="3063240" y="2743200"/>
            <a:ext cx="1188720" cy="731520"/>
          </a:xfrm>
          <a:prstGeom prst="rect">
            <a:avLst/>
          </a:prstGeom>
          <a:solidFill>
            <a:srgbClr val="E8F0FE"/>
          </a:solidFill>
          <a:ln w="12700">
            <a:solidFill>
              <a:srgbClr val="4285F4"/>
            </a:solidFill>
          </a:ln>
        </p:spPr>
        <p:txBody>
          <a:bodyPr wrap="square" lIns="762" tIns="762" rIns="762" bIns="762" rtlCol="0" anchor="ctr">
            <a:normAutofit/>
          </a:bodyPr>
          <a:lstStyle/>
          <a:p>
            <a:pPr algn="ctr" indent="0" marL="0">
              <a:buNone/>
            </a:pPr>
            <a:r>
              <a:rPr lang="en-US" sz="1150" b="1" dirty="0">
                <a:solidFill>
                  <a:srgbClr val="4285F4"/>
                </a:solidFill>
                <a:latin typeface="Aptos" pitchFamily="34" charset="0"/>
                <a:ea typeface="Aptos" pitchFamily="34" charset="-122"/>
                <a:cs typeface="Aptos" pitchFamily="34" charset="-120"/>
              </a:rPr>
              <a:t>Qualify</a:t>
            </a:r>
            <a:endParaRPr lang="en-US" sz="1150" dirty="0"/>
          </a:p>
        </p:txBody>
      </p:sp>
      <p:sp>
        <p:nvSpPr>
          <p:cNvPr id="14" name="Text 12"/>
          <p:cNvSpPr/>
          <p:nvPr/>
        </p:nvSpPr>
        <p:spPr>
          <a:xfrm>
            <a:off x="5303520" y="2743200"/>
            <a:ext cx="1188720" cy="731520"/>
          </a:xfrm>
          <a:prstGeom prst="rect">
            <a:avLst/>
          </a:prstGeom>
          <a:solidFill>
            <a:srgbClr val="FEF7E0"/>
          </a:solidFill>
          <a:ln w="12700">
            <a:solidFill>
              <a:srgbClr val="FBBC04"/>
            </a:solidFill>
          </a:ln>
        </p:spPr>
        <p:txBody>
          <a:bodyPr wrap="square" lIns="762" tIns="762" rIns="762" bIns="762" rtlCol="0" anchor="ctr">
            <a:normAutofit/>
          </a:bodyPr>
          <a:lstStyle/>
          <a:p>
            <a:pPr algn="ctr" indent="0" marL="0">
              <a:buNone/>
            </a:pPr>
            <a:r>
              <a:rPr lang="en-US" sz="1150" b="1" dirty="0">
                <a:solidFill>
                  <a:srgbClr val="FBBC04"/>
                </a:solidFill>
                <a:latin typeface="Aptos" pitchFamily="34" charset="0"/>
                <a:ea typeface="Aptos" pitchFamily="34" charset="-122"/>
                <a:cs typeface="Aptos" pitchFamily="34" charset="-120"/>
              </a:rPr>
              <a:t>Review</a:t>
            </a:r>
            <a:endParaRPr lang="en-US" sz="1150" dirty="0"/>
          </a:p>
        </p:txBody>
      </p:sp>
      <p:sp>
        <p:nvSpPr>
          <p:cNvPr id="15" name="Text 13"/>
          <p:cNvSpPr/>
          <p:nvPr/>
        </p:nvSpPr>
        <p:spPr>
          <a:xfrm>
            <a:off x="7543800" y="2743200"/>
            <a:ext cx="1188720" cy="731520"/>
          </a:xfrm>
          <a:prstGeom prst="rect">
            <a:avLst/>
          </a:prstGeom>
          <a:solidFill>
            <a:srgbClr val="F3E8FD"/>
          </a:solidFill>
          <a:ln w="12700">
            <a:solidFill>
              <a:srgbClr val="A142F4"/>
            </a:solidFill>
          </a:ln>
        </p:spPr>
        <p:txBody>
          <a:bodyPr wrap="square" lIns="762" tIns="762" rIns="762" bIns="762" rtlCol="0" anchor="ctr">
            <a:normAutofit/>
          </a:bodyPr>
          <a:lstStyle/>
          <a:p>
            <a:pPr algn="ctr" indent="0" marL="0">
              <a:buNone/>
            </a:pPr>
            <a:r>
              <a:rPr lang="en-US" sz="1150" b="1" dirty="0">
                <a:solidFill>
                  <a:srgbClr val="A142F4"/>
                </a:solidFill>
                <a:latin typeface="Aptos" pitchFamily="34" charset="0"/>
                <a:ea typeface="Aptos" pitchFamily="34" charset="-122"/>
                <a:cs typeface="Aptos" pitchFamily="34" charset="-120"/>
              </a:rPr>
              <a:t>Draft</a:t>
            </a:r>
            <a:endParaRPr lang="en-US" sz="1150" dirty="0"/>
          </a:p>
        </p:txBody>
      </p:sp>
      <p:sp>
        <p:nvSpPr>
          <p:cNvPr id="16" name="Text 14"/>
          <p:cNvSpPr/>
          <p:nvPr/>
        </p:nvSpPr>
        <p:spPr>
          <a:xfrm>
            <a:off x="9784080" y="2743200"/>
            <a:ext cx="1188720" cy="731520"/>
          </a:xfrm>
          <a:prstGeom prst="rect">
            <a:avLst/>
          </a:prstGeom>
          <a:solidFill>
            <a:srgbClr val="FCE8E6"/>
          </a:solidFill>
          <a:ln w="12700">
            <a:solidFill>
              <a:srgbClr val="EA4335"/>
            </a:solidFill>
          </a:ln>
        </p:spPr>
        <p:txBody>
          <a:bodyPr wrap="square" lIns="762" tIns="762" rIns="762" bIns="762" rtlCol="0" anchor="ctr">
            <a:normAutofit/>
          </a:bodyPr>
          <a:lstStyle/>
          <a:p>
            <a:pPr algn="ctr" indent="0" marL="0">
              <a:buNone/>
            </a:pPr>
            <a:r>
              <a:rPr lang="en-US" sz="1150" b="1" dirty="0">
                <a:solidFill>
                  <a:srgbClr val="EA4335"/>
                </a:solidFill>
                <a:latin typeface="Aptos" pitchFamily="34" charset="0"/>
                <a:ea typeface="Aptos" pitchFamily="34" charset="-122"/>
                <a:cs typeface="Aptos" pitchFamily="34" charset="-120"/>
              </a:rPr>
              <a:t>Approve</a:t>
            </a:r>
            <a:endParaRPr lang="en-US" sz="1150" dirty="0"/>
          </a:p>
        </p:txBody>
      </p:sp>
      <p:sp>
        <p:nvSpPr>
          <p:cNvPr id="17" name="Text 15"/>
          <p:cNvSpPr/>
          <p:nvPr/>
        </p:nvSpPr>
        <p:spPr>
          <a:xfrm>
            <a:off x="1097280" y="4343400"/>
            <a:ext cx="4023360" cy="1143000"/>
          </a:xfrm>
          <a:prstGeom prst="rect">
            <a:avLst/>
          </a:prstGeom>
          <a:solidFill>
            <a:srgbClr val="F8F9FA"/>
          </a:solidFill>
          <a:ln w="12700">
            <a:solidFill>
              <a:srgbClr val="DADCE0"/>
            </a:solidFill>
          </a:ln>
        </p:spPr>
        <p:txBody>
          <a:bodyPr wrap="square" lIns="1905" tIns="1905" rIns="1905" bIns="1905" rtlCol="0" anchor="ctr">
            <a:normAutofit/>
          </a:bodyPr>
          <a:lstStyle/>
          <a:p>
            <a:pPr indent="0" marL="0">
              <a:buNone/>
            </a:pPr>
            <a:r>
              <a:rPr lang="en-US" sz="1100" b="1" dirty="0">
                <a:solidFill>
                  <a:srgbClr val="202124"/>
                </a:solidFill>
                <a:latin typeface="Aptos" pitchFamily="34" charset="0"/>
                <a:ea typeface="Aptos" pitchFamily="34" charset="-122"/>
                <a:cs typeface="Aptos" pitchFamily="34" charset="-120"/>
              </a:rPr>
              <a:t>Why specialize?
</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smaller context</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clearer responsibility</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better tests</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stronger authority boundaries</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easier replacement</a:t>
            </a:r>
            <a:endParaRPr lang="en-US" sz="1100" dirty="0"/>
          </a:p>
        </p:txBody>
      </p:sp>
      <p:sp>
        <p:nvSpPr>
          <p:cNvPr id="18" name="Text 16"/>
          <p:cNvSpPr/>
          <p:nvPr/>
        </p:nvSpPr>
        <p:spPr>
          <a:xfrm>
            <a:off x="6675120" y="4343400"/>
            <a:ext cx="4023360" cy="1143000"/>
          </a:xfrm>
          <a:prstGeom prst="rect">
            <a:avLst/>
          </a:prstGeom>
          <a:solidFill>
            <a:srgbClr val="FEF7E0"/>
          </a:solidFill>
          <a:ln w="12700">
            <a:solidFill>
              <a:srgbClr val="FBBC04"/>
            </a:solidFill>
          </a:ln>
        </p:spPr>
        <p:txBody>
          <a:bodyPr wrap="square" lIns="1905" tIns="1905" rIns="1905" bIns="1905" rtlCol="0" anchor="ctr">
            <a:normAutofit/>
          </a:bodyPr>
          <a:lstStyle/>
          <a:p>
            <a:pPr indent="0" marL="0">
              <a:buNone/>
            </a:pPr>
            <a:r>
              <a:rPr lang="en-US" sz="1100" b="1" dirty="0">
                <a:solidFill>
                  <a:srgbClr val="202124"/>
                </a:solidFill>
                <a:latin typeface="Aptos" pitchFamily="34" charset="0"/>
                <a:ea typeface="Aptos" pitchFamily="34" charset="-122"/>
                <a:cs typeface="Aptos" pitchFamily="34" charset="-120"/>
              </a:rPr>
              <a:t>Important warning
</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More agents do not automatically create a better system. Use multiple agents only when separation improves the architecture.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E8F0FE"/>
          </a:solidFill>
          <a:ln/>
        </p:spPr>
        <p:txBody>
          <a:bodyPr wrap="square" lIns="381" tIns="381" rIns="381" bIns="381" rtlCol="0" anchor="ctr">
            <a:normAutofit/>
          </a:bodyPr>
          <a:lstStyle/>
          <a:p>
            <a:pPr indent="0" marL="0">
              <a:buNone/>
            </a:pPr>
            <a:r>
              <a:rPr lang="en-US" sz="600" b="1" dirty="0">
                <a:solidFill>
                  <a:srgbClr val="4285F4"/>
                </a:solidFill>
                <a:latin typeface="Aptos" pitchFamily="34" charset="0"/>
                <a:ea typeface="Aptos" pitchFamily="34" charset="-122"/>
                <a:cs typeface="Aptos" pitchFamily="34" charset="-120"/>
              </a:rPr>
              <a:t>ORCHESTRATION</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What is orchestration?</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Orchestration controls the sequence, handoffs, state and failure behavior across agents and workflows.</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Agent Engineering Overview</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08</a:t>
            </a:r>
            <a:endParaRPr lang="en-US" sz="600" dirty="0"/>
          </a:p>
        </p:txBody>
      </p:sp>
      <p:sp>
        <p:nvSpPr>
          <p:cNvPr id="8" name="Text 6"/>
          <p:cNvSpPr/>
          <p:nvPr/>
        </p:nvSpPr>
        <p:spPr>
          <a:xfrm>
            <a:off x="4572000" y="1691640"/>
            <a:ext cx="3063240" cy="685800"/>
          </a:xfrm>
          <a:prstGeom prst="rect">
            <a:avLst/>
          </a:prstGeom>
          <a:solidFill>
            <a:srgbClr val="E8F0FE"/>
          </a:solidFill>
          <a:ln w="12700">
            <a:solidFill>
              <a:srgbClr val="4285F4"/>
            </a:solidFill>
          </a:ln>
        </p:spPr>
        <p:txBody>
          <a:bodyPr wrap="square" lIns="762" tIns="762" rIns="762" bIns="762" rtlCol="0" anchor="ctr">
            <a:normAutofit/>
          </a:bodyPr>
          <a:lstStyle/>
          <a:p>
            <a:pPr algn="ctr" indent="0" marL="0">
              <a:buNone/>
            </a:pPr>
            <a:r>
              <a:rPr lang="en-US" sz="1700" b="1" dirty="0">
                <a:solidFill>
                  <a:srgbClr val="4285F4"/>
                </a:solidFill>
                <a:latin typeface="Aptos" pitchFamily="34" charset="0"/>
                <a:ea typeface="Aptos" pitchFamily="34" charset="-122"/>
                <a:cs typeface="Aptos" pitchFamily="34" charset="-120"/>
              </a:rPr>
              <a:t>Orchestrator</a:t>
            </a:r>
            <a:endParaRPr lang="en-US" sz="1700" dirty="0"/>
          </a:p>
        </p:txBody>
      </p:sp>
      <p:sp>
        <p:nvSpPr>
          <p:cNvPr id="9" name="Shape 7"/>
          <p:cNvSpPr/>
          <p:nvPr/>
        </p:nvSpPr>
        <p:spPr>
          <a:xfrm>
            <a:off x="2148840" y="4069080"/>
            <a:ext cx="548640" cy="0"/>
          </a:xfrm>
          <a:prstGeom prst="line">
            <a:avLst/>
          </a:prstGeom>
          <a:noFill/>
          <a:ln w="15240">
            <a:solidFill>
              <a:srgbClr val="4285F4"/>
            </a:solidFill>
            <a:prstDash val="solid"/>
            <a:tailEnd type="triangle"/>
          </a:ln>
        </p:spPr>
      </p:sp>
      <p:sp>
        <p:nvSpPr>
          <p:cNvPr id="10" name="Shape 8"/>
          <p:cNvSpPr/>
          <p:nvPr/>
        </p:nvSpPr>
        <p:spPr>
          <a:xfrm>
            <a:off x="4160520" y="4069080"/>
            <a:ext cx="548640" cy="0"/>
          </a:xfrm>
          <a:prstGeom prst="line">
            <a:avLst/>
          </a:prstGeom>
          <a:noFill/>
          <a:ln w="15240">
            <a:solidFill>
              <a:srgbClr val="4285F4"/>
            </a:solidFill>
            <a:prstDash val="solid"/>
            <a:tailEnd type="triangle"/>
          </a:ln>
        </p:spPr>
      </p:sp>
      <p:sp>
        <p:nvSpPr>
          <p:cNvPr id="11" name="Shape 9"/>
          <p:cNvSpPr/>
          <p:nvPr/>
        </p:nvSpPr>
        <p:spPr>
          <a:xfrm>
            <a:off x="6172200" y="4069080"/>
            <a:ext cx="548640" cy="0"/>
          </a:xfrm>
          <a:prstGeom prst="line">
            <a:avLst/>
          </a:prstGeom>
          <a:noFill/>
          <a:ln w="15240">
            <a:solidFill>
              <a:srgbClr val="4285F4"/>
            </a:solidFill>
            <a:prstDash val="solid"/>
            <a:tailEnd type="triangle"/>
          </a:ln>
        </p:spPr>
      </p:sp>
      <p:sp>
        <p:nvSpPr>
          <p:cNvPr id="12" name="Shape 10"/>
          <p:cNvSpPr/>
          <p:nvPr/>
        </p:nvSpPr>
        <p:spPr>
          <a:xfrm>
            <a:off x="8183880" y="4069080"/>
            <a:ext cx="548640" cy="0"/>
          </a:xfrm>
          <a:prstGeom prst="line">
            <a:avLst/>
          </a:prstGeom>
          <a:noFill/>
          <a:ln w="15240">
            <a:solidFill>
              <a:srgbClr val="4285F4"/>
            </a:solidFill>
            <a:prstDash val="solid"/>
            <a:tailEnd type="triangle"/>
          </a:ln>
        </p:spPr>
      </p:sp>
      <p:sp>
        <p:nvSpPr>
          <p:cNvPr id="13" name="Text 11"/>
          <p:cNvSpPr/>
          <p:nvPr/>
        </p:nvSpPr>
        <p:spPr>
          <a:xfrm>
            <a:off x="731520" y="3703320"/>
            <a:ext cx="1417320" cy="731520"/>
          </a:xfrm>
          <a:prstGeom prst="rect">
            <a:avLst/>
          </a:prstGeom>
          <a:solidFill>
            <a:srgbClr val="F8F9FA"/>
          </a:solidFill>
          <a:ln w="12700">
            <a:solidFill>
              <a:srgbClr val="DADCE0"/>
            </a:solidFill>
          </a:ln>
        </p:spPr>
        <p:txBody>
          <a:bodyPr wrap="square" lIns="762" tIns="762" rIns="762" bIns="762" rtlCol="0" anchor="ctr">
            <a:normAutofit/>
          </a:bodyPr>
          <a:lstStyle/>
          <a:p>
            <a:pPr algn="ctr" indent="0" marL="0">
              <a:buNone/>
            </a:pPr>
            <a:r>
              <a:rPr lang="en-US" sz="1050" b="1" dirty="0">
                <a:solidFill>
                  <a:srgbClr val="DADCE0"/>
                </a:solidFill>
                <a:latin typeface="Aptos" pitchFamily="34" charset="0"/>
                <a:ea typeface="Aptos" pitchFamily="34" charset="-122"/>
                <a:cs typeface="Aptos" pitchFamily="34" charset="-120"/>
              </a:rPr>
              <a:t>Input</a:t>
            </a:r>
            <a:endParaRPr lang="en-US" sz="1050" dirty="0"/>
          </a:p>
        </p:txBody>
      </p:sp>
      <p:sp>
        <p:nvSpPr>
          <p:cNvPr id="14" name="Text 12"/>
          <p:cNvSpPr/>
          <p:nvPr/>
        </p:nvSpPr>
        <p:spPr>
          <a:xfrm>
            <a:off x="2743200" y="3703320"/>
            <a:ext cx="1417320" cy="731520"/>
          </a:xfrm>
          <a:prstGeom prst="rect">
            <a:avLst/>
          </a:prstGeom>
          <a:solidFill>
            <a:srgbClr val="E6F4EA"/>
          </a:solidFill>
          <a:ln w="12700">
            <a:solidFill>
              <a:srgbClr val="34A853"/>
            </a:solidFill>
          </a:ln>
        </p:spPr>
        <p:txBody>
          <a:bodyPr wrap="square" lIns="762" tIns="762" rIns="762" bIns="762" rtlCol="0" anchor="ctr">
            <a:normAutofit/>
          </a:bodyPr>
          <a:lstStyle/>
          <a:p>
            <a:pPr algn="ctr" indent="0" marL="0">
              <a:buNone/>
            </a:pPr>
            <a:r>
              <a:rPr lang="en-US" sz="1050" b="1" dirty="0">
                <a:solidFill>
                  <a:srgbClr val="34A853"/>
                </a:solidFill>
                <a:latin typeface="Aptos" pitchFamily="34" charset="0"/>
                <a:ea typeface="Aptos" pitchFamily="34" charset="-122"/>
                <a:cs typeface="Aptos" pitchFamily="34" charset="-120"/>
              </a:rPr>
              <a:t>Research</a:t>
            </a:r>
            <a:endParaRPr lang="en-US" sz="1050" dirty="0"/>
          </a:p>
        </p:txBody>
      </p:sp>
      <p:sp>
        <p:nvSpPr>
          <p:cNvPr id="15" name="Text 13"/>
          <p:cNvSpPr/>
          <p:nvPr/>
        </p:nvSpPr>
        <p:spPr>
          <a:xfrm>
            <a:off x="4754880" y="3703320"/>
            <a:ext cx="1417320" cy="731520"/>
          </a:xfrm>
          <a:prstGeom prst="rect">
            <a:avLst/>
          </a:prstGeom>
          <a:solidFill>
            <a:srgbClr val="FEF7E0"/>
          </a:solidFill>
          <a:ln w="12700">
            <a:solidFill>
              <a:srgbClr val="FBBC04"/>
            </a:solidFill>
          </a:ln>
        </p:spPr>
        <p:txBody>
          <a:bodyPr wrap="square" lIns="762" tIns="762" rIns="762" bIns="762" rtlCol="0" anchor="ctr">
            <a:normAutofit/>
          </a:bodyPr>
          <a:lstStyle/>
          <a:p>
            <a:pPr algn="ctr" indent="0" marL="0">
              <a:buNone/>
            </a:pPr>
            <a:r>
              <a:rPr lang="en-US" sz="1050" b="1" dirty="0">
                <a:solidFill>
                  <a:srgbClr val="FBBC04"/>
                </a:solidFill>
                <a:latin typeface="Aptos" pitchFamily="34" charset="0"/>
                <a:ea typeface="Aptos" pitchFamily="34" charset="-122"/>
                <a:cs typeface="Aptos" pitchFamily="34" charset="-120"/>
              </a:rPr>
              <a:t>Qualify</a:t>
            </a:r>
            <a:endParaRPr lang="en-US" sz="1050" dirty="0"/>
          </a:p>
        </p:txBody>
      </p:sp>
      <p:sp>
        <p:nvSpPr>
          <p:cNvPr id="16" name="Text 14"/>
          <p:cNvSpPr/>
          <p:nvPr/>
        </p:nvSpPr>
        <p:spPr>
          <a:xfrm>
            <a:off x="6766560" y="3703320"/>
            <a:ext cx="1417320" cy="731520"/>
          </a:xfrm>
          <a:prstGeom prst="rect">
            <a:avLst/>
          </a:prstGeom>
          <a:solidFill>
            <a:srgbClr val="F3E8FD"/>
          </a:solidFill>
          <a:ln w="12700">
            <a:solidFill>
              <a:srgbClr val="A142F4"/>
            </a:solidFill>
          </a:ln>
        </p:spPr>
        <p:txBody>
          <a:bodyPr wrap="square" lIns="762" tIns="762" rIns="762" bIns="762" rtlCol="0" anchor="ctr">
            <a:normAutofit/>
          </a:bodyPr>
          <a:lstStyle/>
          <a:p>
            <a:pPr algn="ctr" indent="0" marL="0">
              <a:buNone/>
            </a:pPr>
            <a:r>
              <a:rPr lang="en-US" sz="1050" b="1" dirty="0">
                <a:solidFill>
                  <a:srgbClr val="A142F4"/>
                </a:solidFill>
                <a:latin typeface="Aptos" pitchFamily="34" charset="0"/>
                <a:ea typeface="Aptos" pitchFamily="34" charset="-122"/>
                <a:cs typeface="Aptos" pitchFamily="34" charset="-120"/>
              </a:rPr>
              <a:t>Draft</a:t>
            </a:r>
            <a:endParaRPr lang="en-US" sz="1050" dirty="0"/>
          </a:p>
        </p:txBody>
      </p:sp>
      <p:sp>
        <p:nvSpPr>
          <p:cNvPr id="17" name="Text 15"/>
          <p:cNvSpPr/>
          <p:nvPr/>
        </p:nvSpPr>
        <p:spPr>
          <a:xfrm>
            <a:off x="8778240" y="3703320"/>
            <a:ext cx="1417320" cy="731520"/>
          </a:xfrm>
          <a:prstGeom prst="rect">
            <a:avLst/>
          </a:prstGeom>
          <a:solidFill>
            <a:srgbClr val="FCE8E6"/>
          </a:solidFill>
          <a:ln w="12700">
            <a:solidFill>
              <a:srgbClr val="EA4335"/>
            </a:solidFill>
          </a:ln>
        </p:spPr>
        <p:txBody>
          <a:bodyPr wrap="square" lIns="762" tIns="762" rIns="762" bIns="762" rtlCol="0" anchor="ctr">
            <a:normAutofit/>
          </a:bodyPr>
          <a:lstStyle/>
          <a:p>
            <a:pPr algn="ctr" indent="0" marL="0">
              <a:buNone/>
            </a:pPr>
            <a:r>
              <a:rPr lang="en-US" sz="1050" b="1" dirty="0">
                <a:solidFill>
                  <a:srgbClr val="EA4335"/>
                </a:solidFill>
                <a:latin typeface="Aptos" pitchFamily="34" charset="0"/>
                <a:ea typeface="Aptos" pitchFamily="34" charset="-122"/>
                <a:cs typeface="Aptos" pitchFamily="34" charset="-120"/>
              </a:rPr>
              <a:t>Human Approval</a:t>
            </a:r>
            <a:endParaRPr lang="en-US" sz="1050" dirty="0"/>
          </a:p>
        </p:txBody>
      </p:sp>
      <p:sp>
        <p:nvSpPr>
          <p:cNvPr id="18" name="Shape 16"/>
          <p:cNvSpPr/>
          <p:nvPr/>
        </p:nvSpPr>
        <p:spPr>
          <a:xfrm>
            <a:off x="6099048" y="2395728"/>
            <a:ext cx="-4654296" cy="1261872"/>
          </a:xfrm>
          <a:prstGeom prst="line">
            <a:avLst/>
          </a:prstGeom>
          <a:noFill/>
          <a:ln w="10795">
            <a:solidFill>
              <a:srgbClr val="DADCE0"/>
            </a:solidFill>
            <a:prstDash val="solid"/>
            <a:tailEnd type="triangle"/>
          </a:ln>
        </p:spPr>
      </p:sp>
      <p:sp>
        <p:nvSpPr>
          <p:cNvPr id="19" name="Shape 17"/>
          <p:cNvSpPr/>
          <p:nvPr/>
        </p:nvSpPr>
        <p:spPr>
          <a:xfrm>
            <a:off x="6099048" y="2395728"/>
            <a:ext cx="-2642616" cy="1261872"/>
          </a:xfrm>
          <a:prstGeom prst="line">
            <a:avLst/>
          </a:prstGeom>
          <a:noFill/>
          <a:ln w="10795">
            <a:solidFill>
              <a:srgbClr val="DADCE0"/>
            </a:solidFill>
            <a:prstDash val="solid"/>
            <a:tailEnd type="triangle"/>
          </a:ln>
        </p:spPr>
      </p:sp>
      <p:sp>
        <p:nvSpPr>
          <p:cNvPr id="20" name="Shape 18"/>
          <p:cNvSpPr/>
          <p:nvPr/>
        </p:nvSpPr>
        <p:spPr>
          <a:xfrm>
            <a:off x="6099048" y="2395728"/>
            <a:ext cx="-630936" cy="1261872"/>
          </a:xfrm>
          <a:prstGeom prst="line">
            <a:avLst/>
          </a:prstGeom>
          <a:noFill/>
          <a:ln w="10795">
            <a:solidFill>
              <a:srgbClr val="DADCE0"/>
            </a:solidFill>
            <a:prstDash val="solid"/>
            <a:tailEnd type="triangle"/>
          </a:ln>
        </p:spPr>
      </p:sp>
      <p:sp>
        <p:nvSpPr>
          <p:cNvPr id="21" name="Shape 19"/>
          <p:cNvSpPr/>
          <p:nvPr/>
        </p:nvSpPr>
        <p:spPr>
          <a:xfrm>
            <a:off x="6099048" y="2395728"/>
            <a:ext cx="1380744" cy="1261872"/>
          </a:xfrm>
          <a:prstGeom prst="line">
            <a:avLst/>
          </a:prstGeom>
          <a:noFill/>
          <a:ln w="10795">
            <a:solidFill>
              <a:srgbClr val="DADCE0"/>
            </a:solidFill>
            <a:prstDash val="solid"/>
            <a:tailEnd type="triangle"/>
          </a:ln>
        </p:spPr>
      </p:sp>
      <p:sp>
        <p:nvSpPr>
          <p:cNvPr id="22" name="Shape 20"/>
          <p:cNvSpPr/>
          <p:nvPr/>
        </p:nvSpPr>
        <p:spPr>
          <a:xfrm>
            <a:off x="6099048" y="2395728"/>
            <a:ext cx="3392424" cy="1261872"/>
          </a:xfrm>
          <a:prstGeom prst="line">
            <a:avLst/>
          </a:prstGeom>
          <a:noFill/>
          <a:ln w="10795">
            <a:solidFill>
              <a:srgbClr val="DADCE0"/>
            </a:solidFill>
            <a:prstDash val="solid"/>
            <a:tailEnd type="triangle"/>
          </a:ln>
        </p:spPr>
      </p:sp>
      <p:sp>
        <p:nvSpPr>
          <p:cNvPr id="23" name="Text 21"/>
          <p:cNvSpPr/>
          <p:nvPr/>
        </p:nvSpPr>
        <p:spPr>
          <a:xfrm>
            <a:off x="960120" y="4892040"/>
            <a:ext cx="10241280" cy="749808"/>
          </a:xfrm>
          <a:prstGeom prst="rect">
            <a:avLst/>
          </a:prstGeom>
          <a:solidFill>
            <a:srgbClr val="F8F9FA"/>
          </a:solidFill>
          <a:ln w="12700">
            <a:solidFill>
              <a:srgbClr val="DADCE0"/>
            </a:solidFill>
          </a:ln>
        </p:spPr>
        <p:txBody>
          <a:bodyPr wrap="square" lIns="1905" tIns="1905" rIns="1905" bIns="1905" rtlCol="0" anchor="ctr">
            <a:normAutofit/>
          </a:bodyPr>
          <a:lstStyle/>
          <a:p>
            <a:pPr indent="0" marL="0">
              <a:buNone/>
            </a:pPr>
            <a:r>
              <a:rPr lang="en-US" sz="1050" b="1" dirty="0">
                <a:solidFill>
                  <a:srgbClr val="202124"/>
                </a:solidFill>
                <a:latin typeface="Aptos" pitchFamily="34" charset="0"/>
                <a:ea typeface="Aptos" pitchFamily="34" charset="-122"/>
                <a:cs typeface="Aptos" pitchFamily="34" charset="-120"/>
              </a:rPr>
              <a:t>Controls
</a:t>
            </a:r>
            <a:endParaRPr lang="en-US" sz="1050" dirty="0"/>
          </a:p>
          <a:p>
            <a:pPr indent="0" marL="0">
              <a:buNone/>
            </a:pPr>
            <a:r>
              <a:rPr lang="en-US" sz="1050" dirty="0">
                <a:solidFill>
                  <a:srgbClr val="202124"/>
                </a:solidFill>
                <a:latin typeface="Aptos" pitchFamily="34" charset="0"/>
                <a:ea typeface="Aptos" pitchFamily="34" charset="-122"/>
                <a:cs typeface="Aptos" pitchFamily="34" charset="-120"/>
              </a:rPr>
              <a:t>which agent runs</a:t>
            </a:r>
            <a:endParaRPr lang="en-US" sz="1050" dirty="0"/>
          </a:p>
          <a:p>
            <a:pPr indent="0" marL="0">
              <a:buNone/>
            </a:pPr>
            <a:r>
              <a:rPr lang="en-US" sz="1050" dirty="0">
                <a:solidFill>
                  <a:srgbClr val="202124"/>
                </a:solidFill>
                <a:latin typeface="Aptos" pitchFamily="34" charset="0"/>
                <a:ea typeface="Aptos" pitchFamily="34" charset="-122"/>
                <a:cs typeface="Aptos" pitchFamily="34" charset="-120"/>
              </a:rPr>
              <a:t>what input it receives</a:t>
            </a:r>
            <a:endParaRPr lang="en-US" sz="1050" dirty="0"/>
          </a:p>
          <a:p>
            <a:pPr indent="0" marL="0">
              <a:buNone/>
            </a:pPr>
            <a:r>
              <a:rPr lang="en-US" sz="1050" dirty="0">
                <a:solidFill>
                  <a:srgbClr val="202124"/>
                </a:solidFill>
                <a:latin typeface="Aptos" pitchFamily="34" charset="0"/>
                <a:ea typeface="Aptos" pitchFamily="34" charset="-122"/>
                <a:cs typeface="Aptos" pitchFamily="34" charset="-120"/>
              </a:rPr>
              <a:t>what state is preserved</a:t>
            </a:r>
            <a:endParaRPr lang="en-US" sz="1050" dirty="0"/>
          </a:p>
          <a:p>
            <a:pPr indent="0" marL="0">
              <a:buNone/>
            </a:pPr>
            <a:r>
              <a:rPr lang="en-US" sz="1050" dirty="0">
                <a:solidFill>
                  <a:srgbClr val="202124"/>
                </a:solidFill>
                <a:latin typeface="Aptos" pitchFamily="34" charset="0"/>
                <a:ea typeface="Aptos" pitchFamily="34" charset="-122"/>
                <a:cs typeface="Aptos" pitchFamily="34" charset="-120"/>
              </a:rPr>
              <a:t>when a human must decide</a:t>
            </a:r>
            <a:endParaRPr lang="en-US" sz="1050" dirty="0"/>
          </a:p>
          <a:p>
            <a:pPr indent="0" marL="0">
              <a:buNone/>
            </a:pPr>
            <a:r>
              <a:rPr lang="en-US" sz="1050" dirty="0">
                <a:solidFill>
                  <a:srgbClr val="202124"/>
                </a:solidFill>
                <a:latin typeface="Aptos" pitchFamily="34" charset="0"/>
                <a:ea typeface="Aptos" pitchFamily="34" charset="-122"/>
                <a:cs typeface="Aptos" pitchFamily="34" charset="-120"/>
              </a:rPr>
              <a:t>what happens on failure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FCE8E6"/>
          </a:solidFill>
          <a:ln/>
        </p:spPr>
        <p:txBody>
          <a:bodyPr wrap="square" lIns="381" tIns="381" rIns="381" bIns="381" rtlCol="0" anchor="ctr">
            <a:normAutofit/>
          </a:bodyPr>
          <a:lstStyle/>
          <a:p>
            <a:pPr indent="0" marL="0">
              <a:buNone/>
            </a:pPr>
            <a:r>
              <a:rPr lang="en-US" sz="600" b="1" dirty="0">
                <a:solidFill>
                  <a:srgbClr val="EA4335"/>
                </a:solidFill>
                <a:latin typeface="Aptos" pitchFamily="34" charset="0"/>
                <a:ea typeface="Aptos" pitchFamily="34" charset="-122"/>
                <a:cs typeface="Aptos" pitchFamily="34" charset="-120"/>
              </a:rPr>
              <a:t>WHY ENGINEERING</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Why Agent Engineering is necessary</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A compelling demo is not the same as a dependable business system.</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Agent Engineering Overview</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09</a:t>
            </a:r>
            <a:endParaRPr lang="en-US" sz="600" dirty="0"/>
          </a:p>
        </p:txBody>
      </p:sp>
      <p:sp>
        <p:nvSpPr>
          <p:cNvPr id="8" name="Text 6"/>
          <p:cNvSpPr/>
          <p:nvPr/>
        </p:nvSpPr>
        <p:spPr>
          <a:xfrm>
            <a:off x="777240" y="2057400"/>
            <a:ext cx="2971800" cy="2057400"/>
          </a:xfrm>
          <a:prstGeom prst="rect">
            <a:avLst/>
          </a:prstGeom>
          <a:solidFill>
            <a:srgbClr val="FCE8E6"/>
          </a:solidFill>
          <a:ln w="12700">
            <a:solidFill>
              <a:srgbClr val="EA4335"/>
            </a:solidFill>
          </a:ln>
        </p:spPr>
        <p:txBody>
          <a:bodyPr wrap="square" lIns="1905" tIns="1905" rIns="1905" bIns="1905" rtlCol="0" anchor="ctr">
            <a:normAutofit/>
          </a:bodyPr>
          <a:lstStyle/>
          <a:p>
            <a:pPr indent="0" marL="0">
              <a:buNone/>
            </a:pPr>
            <a:r>
              <a:rPr lang="en-US" sz="1200" b="1" dirty="0">
                <a:solidFill>
                  <a:srgbClr val="202124"/>
                </a:solidFill>
                <a:latin typeface="Aptos" pitchFamily="34" charset="0"/>
                <a:ea typeface="Aptos" pitchFamily="34" charset="-122"/>
                <a:cs typeface="Aptos" pitchFamily="34" charset="-120"/>
              </a:rPr>
              <a:t>Demo
</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impressive answer</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one path works</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manual oversight</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limited failure analysis</a:t>
            </a:r>
            <a:endParaRPr lang="en-US" sz="1200" dirty="0"/>
          </a:p>
        </p:txBody>
      </p:sp>
      <p:sp>
        <p:nvSpPr>
          <p:cNvPr id="9" name="Shape 7"/>
          <p:cNvSpPr/>
          <p:nvPr/>
        </p:nvSpPr>
        <p:spPr>
          <a:xfrm>
            <a:off x="3977640" y="3090672"/>
            <a:ext cx="978408" cy="0"/>
          </a:xfrm>
          <a:prstGeom prst="line">
            <a:avLst/>
          </a:prstGeom>
          <a:noFill/>
          <a:ln w="19050">
            <a:solidFill>
              <a:srgbClr val="EA4335"/>
            </a:solidFill>
            <a:prstDash val="solid"/>
            <a:tailEnd type="triangle"/>
          </a:ln>
        </p:spPr>
      </p:sp>
      <p:sp>
        <p:nvSpPr>
          <p:cNvPr id="10" name="Text 8"/>
          <p:cNvSpPr/>
          <p:nvPr/>
        </p:nvSpPr>
        <p:spPr>
          <a:xfrm>
            <a:off x="5138928" y="1783080"/>
            <a:ext cx="3154680" cy="2651760"/>
          </a:xfrm>
          <a:prstGeom prst="rect">
            <a:avLst/>
          </a:prstGeom>
          <a:solidFill>
            <a:srgbClr val="FEF7E0"/>
          </a:solidFill>
          <a:ln w="12700">
            <a:solidFill>
              <a:srgbClr val="FBBC04"/>
            </a:solidFill>
          </a:ln>
        </p:spPr>
        <p:txBody>
          <a:bodyPr wrap="square" lIns="1905" tIns="1905" rIns="1905" bIns="1905" rtlCol="0" anchor="ctr">
            <a:normAutofit/>
          </a:bodyPr>
          <a:lstStyle/>
          <a:p>
            <a:pPr indent="0" marL="0">
              <a:buNone/>
            </a:pPr>
            <a:r>
              <a:rPr lang="en-US" sz="1100" b="1" dirty="0">
                <a:solidFill>
                  <a:srgbClr val="202124"/>
                </a:solidFill>
                <a:latin typeface="Aptos" pitchFamily="34" charset="0"/>
                <a:ea typeface="Aptos" pitchFamily="34" charset="-122"/>
                <a:cs typeface="Aptos" pitchFamily="34" charset="-120"/>
              </a:rPr>
              <a:t>Engineering questions
</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What data may it access?</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Which actions are allowed?</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How is output validated?</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When does a human approve?</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How do we measure quality?</a:t>
            </a:r>
            <a:endParaRPr lang="en-US" sz="1100" dirty="0"/>
          </a:p>
        </p:txBody>
      </p:sp>
      <p:sp>
        <p:nvSpPr>
          <p:cNvPr id="11" name="Shape 9"/>
          <p:cNvSpPr/>
          <p:nvPr/>
        </p:nvSpPr>
        <p:spPr>
          <a:xfrm>
            <a:off x="8458200" y="3090672"/>
            <a:ext cx="822960" cy="0"/>
          </a:xfrm>
          <a:prstGeom prst="line">
            <a:avLst/>
          </a:prstGeom>
          <a:noFill/>
          <a:ln w="19050">
            <a:solidFill>
              <a:srgbClr val="34A853"/>
            </a:solidFill>
            <a:prstDash val="solid"/>
            <a:tailEnd type="triangle"/>
          </a:ln>
        </p:spPr>
      </p:sp>
      <p:sp>
        <p:nvSpPr>
          <p:cNvPr id="12" name="Text 10"/>
          <p:cNvSpPr/>
          <p:nvPr/>
        </p:nvSpPr>
        <p:spPr>
          <a:xfrm>
            <a:off x="9464040" y="2057400"/>
            <a:ext cx="2057400" cy="2057400"/>
          </a:xfrm>
          <a:prstGeom prst="rect">
            <a:avLst/>
          </a:prstGeom>
          <a:solidFill>
            <a:srgbClr val="E6F4EA"/>
          </a:solidFill>
          <a:ln w="12700">
            <a:solidFill>
              <a:srgbClr val="34A853"/>
            </a:solidFill>
          </a:ln>
        </p:spPr>
        <p:txBody>
          <a:bodyPr wrap="square" lIns="1905" tIns="1905" rIns="1905" bIns="1905" rtlCol="0" anchor="ctr">
            <a:normAutofit/>
          </a:bodyPr>
          <a:lstStyle/>
          <a:p>
            <a:pPr indent="0" marL="0">
              <a:buNone/>
            </a:pPr>
            <a:r>
              <a:rPr lang="en-US" sz="1100" b="1" dirty="0">
                <a:solidFill>
                  <a:srgbClr val="202124"/>
                </a:solidFill>
                <a:latin typeface="Aptos" pitchFamily="34" charset="0"/>
                <a:ea typeface="Aptos" pitchFamily="34" charset="-122"/>
                <a:cs typeface="Aptos" pitchFamily="34" charset="-120"/>
              </a:rPr>
              <a:t>System
</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bounded autonomy</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contracts and tests</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observability</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policy and governance</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recoverable operation</a:t>
            </a:r>
            <a:endParaRPr lang="en-US" sz="1100" dirty="0"/>
          </a:p>
        </p:txBody>
      </p:sp>
      <p:sp>
        <p:nvSpPr>
          <p:cNvPr id="13" name="Text 11"/>
          <p:cNvSpPr/>
          <p:nvPr/>
        </p:nvSpPr>
        <p:spPr>
          <a:xfrm>
            <a:off x="960120" y="5257800"/>
            <a:ext cx="10241280" cy="502920"/>
          </a:xfrm>
          <a:prstGeom prst="rect">
            <a:avLst/>
          </a:prstGeom>
          <a:noFill/>
          <a:ln/>
        </p:spPr>
        <p:txBody>
          <a:bodyPr wrap="square" lIns="508" tIns="508" rIns="508" bIns="508" rtlCol="0" anchor="ctr">
            <a:normAutofit/>
          </a:bodyPr>
          <a:lstStyle/>
          <a:p>
            <a:pPr algn="ctr" indent="0" marL="0">
              <a:buNone/>
            </a:pPr>
            <a:r>
              <a:rPr lang="en-US" sz="2300" b="1" dirty="0">
                <a:solidFill>
                  <a:srgbClr val="202124"/>
                </a:solidFill>
                <a:latin typeface="Aptos Display" pitchFamily="34" charset="0"/>
                <a:ea typeface="Aptos Display" pitchFamily="34" charset="-122"/>
                <a:cs typeface="Aptos Display" pitchFamily="34" charset="-120"/>
              </a:rPr>
              <a:t>Agent Engineering turns probabilistic behavior into dependable capability.</a:t>
            </a:r>
            <a:endParaRPr lang="en-US" sz="2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E6F4EA"/>
          </a:solidFill>
          <a:ln/>
        </p:spPr>
        <p:txBody>
          <a:bodyPr wrap="square" lIns="381" tIns="381" rIns="381" bIns="381" rtlCol="0" anchor="ctr">
            <a:normAutofit/>
          </a:bodyPr>
          <a:lstStyle/>
          <a:p>
            <a:pPr indent="0" marL="0">
              <a:buNone/>
            </a:pPr>
            <a:r>
              <a:rPr lang="en-US" sz="600" b="1" dirty="0">
                <a:solidFill>
                  <a:srgbClr val="34A853"/>
                </a:solidFill>
                <a:latin typeface="Aptos" pitchFamily="34" charset="0"/>
                <a:ea typeface="Aptos" pitchFamily="34" charset="-122"/>
                <a:cs typeface="Aptos" pitchFamily="34" charset="-120"/>
              </a:rPr>
              <a:t>SEVEN STEPS</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The Seven Steps to Agent Engineering</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A practical lifecycle for moving from use case to governed agent system.</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Agent Engineering Overview</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10</a:t>
            </a:r>
            <a:endParaRPr lang="en-US" sz="600" dirty="0"/>
          </a:p>
        </p:txBody>
      </p:sp>
      <p:sp>
        <p:nvSpPr>
          <p:cNvPr id="8" name="Shape 6"/>
          <p:cNvSpPr/>
          <p:nvPr/>
        </p:nvSpPr>
        <p:spPr>
          <a:xfrm>
            <a:off x="2148840" y="2926080"/>
            <a:ext cx="612648" cy="0"/>
          </a:xfrm>
          <a:prstGeom prst="line">
            <a:avLst/>
          </a:prstGeom>
          <a:noFill/>
          <a:ln w="15240">
            <a:solidFill>
              <a:srgbClr val="DADCE0"/>
            </a:solidFill>
            <a:prstDash val="solid"/>
            <a:tailEnd type="triangle"/>
          </a:ln>
        </p:spPr>
      </p:sp>
      <p:sp>
        <p:nvSpPr>
          <p:cNvPr id="9" name="Shape 7"/>
          <p:cNvSpPr/>
          <p:nvPr/>
        </p:nvSpPr>
        <p:spPr>
          <a:xfrm>
            <a:off x="3794760" y="2926080"/>
            <a:ext cx="612648" cy="0"/>
          </a:xfrm>
          <a:prstGeom prst="line">
            <a:avLst/>
          </a:prstGeom>
          <a:noFill/>
          <a:ln w="15240">
            <a:solidFill>
              <a:srgbClr val="DADCE0"/>
            </a:solidFill>
            <a:prstDash val="solid"/>
            <a:tailEnd type="triangle"/>
          </a:ln>
        </p:spPr>
      </p:sp>
      <p:sp>
        <p:nvSpPr>
          <p:cNvPr id="10" name="Shape 8"/>
          <p:cNvSpPr/>
          <p:nvPr/>
        </p:nvSpPr>
        <p:spPr>
          <a:xfrm>
            <a:off x="5440680" y="2926080"/>
            <a:ext cx="612648" cy="0"/>
          </a:xfrm>
          <a:prstGeom prst="line">
            <a:avLst/>
          </a:prstGeom>
          <a:noFill/>
          <a:ln w="15240">
            <a:solidFill>
              <a:srgbClr val="DADCE0"/>
            </a:solidFill>
            <a:prstDash val="solid"/>
            <a:tailEnd type="triangle"/>
          </a:ln>
        </p:spPr>
      </p:sp>
      <p:sp>
        <p:nvSpPr>
          <p:cNvPr id="11" name="Shape 9"/>
          <p:cNvSpPr/>
          <p:nvPr/>
        </p:nvSpPr>
        <p:spPr>
          <a:xfrm>
            <a:off x="7086600" y="2926080"/>
            <a:ext cx="612648" cy="0"/>
          </a:xfrm>
          <a:prstGeom prst="line">
            <a:avLst/>
          </a:prstGeom>
          <a:noFill/>
          <a:ln w="15240">
            <a:solidFill>
              <a:srgbClr val="DADCE0"/>
            </a:solidFill>
            <a:prstDash val="solid"/>
            <a:tailEnd type="triangle"/>
          </a:ln>
        </p:spPr>
      </p:sp>
      <p:sp>
        <p:nvSpPr>
          <p:cNvPr id="12" name="Shape 10"/>
          <p:cNvSpPr/>
          <p:nvPr/>
        </p:nvSpPr>
        <p:spPr>
          <a:xfrm>
            <a:off x="8732520" y="2926080"/>
            <a:ext cx="612648" cy="0"/>
          </a:xfrm>
          <a:prstGeom prst="line">
            <a:avLst/>
          </a:prstGeom>
          <a:noFill/>
          <a:ln w="15240">
            <a:solidFill>
              <a:srgbClr val="DADCE0"/>
            </a:solidFill>
            <a:prstDash val="solid"/>
            <a:tailEnd type="triangle"/>
          </a:ln>
        </p:spPr>
      </p:sp>
      <p:sp>
        <p:nvSpPr>
          <p:cNvPr id="13" name="Shape 11"/>
          <p:cNvSpPr/>
          <p:nvPr/>
        </p:nvSpPr>
        <p:spPr>
          <a:xfrm>
            <a:off x="10378440" y="2926080"/>
            <a:ext cx="612648" cy="0"/>
          </a:xfrm>
          <a:prstGeom prst="line">
            <a:avLst/>
          </a:prstGeom>
          <a:noFill/>
          <a:ln w="15240">
            <a:solidFill>
              <a:srgbClr val="DADCE0"/>
            </a:solidFill>
            <a:prstDash val="solid"/>
            <a:tailEnd type="triangle"/>
          </a:ln>
        </p:spPr>
      </p:sp>
      <p:sp>
        <p:nvSpPr>
          <p:cNvPr id="14" name="Text 12"/>
          <p:cNvSpPr/>
          <p:nvPr/>
        </p:nvSpPr>
        <p:spPr>
          <a:xfrm>
            <a:off x="960120" y="1920240"/>
            <a:ext cx="329184" cy="329184"/>
          </a:xfrm>
          <a:prstGeom prst="rect">
            <a:avLst/>
          </a:prstGeom>
          <a:solidFill>
            <a:srgbClr val="4285F4"/>
          </a:solidFill>
          <a:ln/>
        </p:spPr>
        <p:txBody>
          <a:bodyPr wrap="square" lIns="254" tIns="254" rIns="254" bIns="254" rtlCol="0" anchor="ctr"/>
          <a:lstStyle/>
          <a:p>
            <a:pPr algn="ctr" indent="0" marL="0">
              <a:buNone/>
            </a:pPr>
            <a:r>
              <a:rPr lang="en-US" sz="900" b="1" dirty="0">
                <a:solidFill>
                  <a:srgbClr val="FFFFFF"/>
                </a:solidFill>
              </a:rPr>
              <a:t>1</a:t>
            </a:r>
            <a:endParaRPr lang="en-US" sz="900" dirty="0"/>
          </a:p>
        </p:txBody>
      </p:sp>
      <p:sp>
        <p:nvSpPr>
          <p:cNvPr id="15" name="Text 13"/>
          <p:cNvSpPr/>
          <p:nvPr/>
        </p:nvSpPr>
        <p:spPr>
          <a:xfrm>
            <a:off x="1078992" y="2441448"/>
            <a:ext cx="1170432" cy="960120"/>
          </a:xfrm>
          <a:prstGeom prst="rect">
            <a:avLst/>
          </a:prstGeom>
          <a:solidFill>
            <a:srgbClr val="E8F0FE"/>
          </a:solidFill>
          <a:ln w="12700">
            <a:solidFill>
              <a:srgbClr val="4285F4"/>
            </a:solidFill>
          </a:ln>
        </p:spPr>
        <p:txBody>
          <a:bodyPr wrap="square" lIns="762" tIns="762" rIns="762" bIns="762" rtlCol="0" anchor="ctr">
            <a:normAutofit/>
          </a:bodyPr>
          <a:lstStyle/>
          <a:p>
            <a:pPr algn="ctr" indent="0" marL="0">
              <a:buNone/>
            </a:pPr>
            <a:r>
              <a:rPr lang="en-US" sz="940" b="1" dirty="0">
                <a:solidFill>
                  <a:srgbClr val="4285F4"/>
                </a:solidFill>
                <a:latin typeface="Aptos" pitchFamily="34" charset="0"/>
                <a:ea typeface="Aptos" pitchFamily="34" charset="-122"/>
                <a:cs typeface="Aptos" pitchFamily="34" charset="-120"/>
              </a:rPr>
              <a:t>Frame</a:t>
            </a:r>
            <a:endParaRPr lang="en-US" sz="940" dirty="0"/>
          </a:p>
          <a:p>
            <a:pPr algn="ctr" indent="0" marL="0">
              <a:buNone/>
            </a:pPr>
            <a:r>
              <a:rPr lang="en-US" sz="940" b="1" dirty="0">
                <a:solidFill>
                  <a:srgbClr val="4285F4"/>
                </a:solidFill>
                <a:latin typeface="Aptos" pitchFamily="34" charset="0"/>
                <a:ea typeface="Aptos" pitchFamily="34" charset="-122"/>
                <a:cs typeface="Aptos" pitchFamily="34" charset="-120"/>
              </a:rPr>
              <a:t>Use Case</a:t>
            </a:r>
            <a:endParaRPr lang="en-US" sz="940" dirty="0"/>
          </a:p>
        </p:txBody>
      </p:sp>
      <p:sp>
        <p:nvSpPr>
          <p:cNvPr id="16" name="Text 14"/>
          <p:cNvSpPr/>
          <p:nvPr/>
        </p:nvSpPr>
        <p:spPr>
          <a:xfrm>
            <a:off x="2560320" y="1920240"/>
            <a:ext cx="329184" cy="329184"/>
          </a:xfrm>
          <a:prstGeom prst="rect">
            <a:avLst/>
          </a:prstGeom>
          <a:solidFill>
            <a:srgbClr val="34A853"/>
          </a:solidFill>
          <a:ln/>
        </p:spPr>
        <p:txBody>
          <a:bodyPr wrap="square" lIns="254" tIns="254" rIns="254" bIns="254" rtlCol="0" anchor="ctr"/>
          <a:lstStyle/>
          <a:p>
            <a:pPr algn="ctr" indent="0" marL="0">
              <a:buNone/>
            </a:pPr>
            <a:r>
              <a:rPr lang="en-US" sz="900" b="1" dirty="0">
                <a:solidFill>
                  <a:srgbClr val="FFFFFF"/>
                </a:solidFill>
              </a:rPr>
              <a:t>2</a:t>
            </a:r>
            <a:endParaRPr lang="en-US" sz="900" dirty="0"/>
          </a:p>
        </p:txBody>
      </p:sp>
      <p:sp>
        <p:nvSpPr>
          <p:cNvPr id="17" name="Text 15"/>
          <p:cNvSpPr/>
          <p:nvPr/>
        </p:nvSpPr>
        <p:spPr>
          <a:xfrm>
            <a:off x="2679192" y="2441448"/>
            <a:ext cx="1170432" cy="960120"/>
          </a:xfrm>
          <a:prstGeom prst="rect">
            <a:avLst/>
          </a:prstGeom>
          <a:solidFill>
            <a:srgbClr val="E6F4EA"/>
          </a:solidFill>
          <a:ln w="12700">
            <a:solidFill>
              <a:srgbClr val="34A853"/>
            </a:solidFill>
          </a:ln>
        </p:spPr>
        <p:txBody>
          <a:bodyPr wrap="square" lIns="762" tIns="762" rIns="762" bIns="762" rtlCol="0" anchor="ctr">
            <a:normAutofit/>
          </a:bodyPr>
          <a:lstStyle/>
          <a:p>
            <a:pPr algn="ctr" indent="0" marL="0">
              <a:buNone/>
            </a:pPr>
            <a:r>
              <a:rPr lang="en-US" sz="940" b="1" dirty="0">
                <a:solidFill>
                  <a:srgbClr val="34A853"/>
                </a:solidFill>
                <a:latin typeface="Aptos" pitchFamily="34" charset="0"/>
                <a:ea typeface="Aptos" pitchFamily="34" charset="-122"/>
                <a:cs typeface="Aptos" pitchFamily="34" charset="-120"/>
              </a:rPr>
              <a:t>Build</a:t>
            </a:r>
            <a:endParaRPr lang="en-US" sz="940" dirty="0"/>
          </a:p>
          <a:p>
            <a:pPr algn="ctr" indent="0" marL="0">
              <a:buNone/>
            </a:pPr>
            <a:r>
              <a:rPr lang="en-US" sz="940" b="1" dirty="0">
                <a:solidFill>
                  <a:srgbClr val="34A853"/>
                </a:solidFill>
                <a:latin typeface="Aptos" pitchFamily="34" charset="0"/>
                <a:ea typeface="Aptos" pitchFamily="34" charset="-122"/>
                <a:cs typeface="Aptos" pitchFamily="34" charset="-120"/>
              </a:rPr>
              <a:t>Context</a:t>
            </a:r>
            <a:endParaRPr lang="en-US" sz="940" dirty="0"/>
          </a:p>
        </p:txBody>
      </p:sp>
      <p:sp>
        <p:nvSpPr>
          <p:cNvPr id="18" name="Text 16"/>
          <p:cNvSpPr/>
          <p:nvPr/>
        </p:nvSpPr>
        <p:spPr>
          <a:xfrm>
            <a:off x="4160520" y="1920240"/>
            <a:ext cx="329184" cy="329184"/>
          </a:xfrm>
          <a:prstGeom prst="rect">
            <a:avLst/>
          </a:prstGeom>
          <a:solidFill>
            <a:srgbClr val="FBBC04"/>
          </a:solidFill>
          <a:ln/>
        </p:spPr>
        <p:txBody>
          <a:bodyPr wrap="square" lIns="254" tIns="254" rIns="254" bIns="254" rtlCol="0" anchor="ctr"/>
          <a:lstStyle/>
          <a:p>
            <a:pPr algn="ctr" indent="0" marL="0">
              <a:buNone/>
            </a:pPr>
            <a:r>
              <a:rPr lang="en-US" sz="900" b="1" dirty="0">
                <a:solidFill>
                  <a:srgbClr val="FFFFFF"/>
                </a:solidFill>
              </a:rPr>
              <a:t>3</a:t>
            </a:r>
            <a:endParaRPr lang="en-US" sz="900" dirty="0"/>
          </a:p>
        </p:txBody>
      </p:sp>
      <p:sp>
        <p:nvSpPr>
          <p:cNvPr id="19" name="Text 17"/>
          <p:cNvSpPr/>
          <p:nvPr/>
        </p:nvSpPr>
        <p:spPr>
          <a:xfrm>
            <a:off x="4279392" y="2441448"/>
            <a:ext cx="1170432" cy="960120"/>
          </a:xfrm>
          <a:prstGeom prst="rect">
            <a:avLst/>
          </a:prstGeom>
          <a:solidFill>
            <a:srgbClr val="FEF7E0"/>
          </a:solidFill>
          <a:ln w="12700">
            <a:solidFill>
              <a:srgbClr val="FBBC04"/>
            </a:solidFill>
          </a:ln>
        </p:spPr>
        <p:txBody>
          <a:bodyPr wrap="square" lIns="762" tIns="762" rIns="762" bIns="762" rtlCol="0" anchor="ctr">
            <a:normAutofit/>
          </a:bodyPr>
          <a:lstStyle/>
          <a:p>
            <a:pPr algn="ctr" indent="0" marL="0">
              <a:buNone/>
            </a:pPr>
            <a:r>
              <a:rPr lang="en-US" sz="940" b="1" dirty="0">
                <a:solidFill>
                  <a:srgbClr val="FBBC04"/>
                </a:solidFill>
                <a:latin typeface="Aptos" pitchFamily="34" charset="0"/>
                <a:ea typeface="Aptos" pitchFamily="34" charset="-122"/>
                <a:cs typeface="Aptos" pitchFamily="34" charset="-120"/>
              </a:rPr>
              <a:t>Design</a:t>
            </a:r>
            <a:endParaRPr lang="en-US" sz="940" dirty="0"/>
          </a:p>
          <a:p>
            <a:pPr algn="ctr" indent="0" marL="0">
              <a:buNone/>
            </a:pPr>
            <a:r>
              <a:rPr lang="en-US" sz="940" b="1" dirty="0">
                <a:solidFill>
                  <a:srgbClr val="FBBC04"/>
                </a:solidFill>
                <a:latin typeface="Aptos" pitchFamily="34" charset="0"/>
                <a:ea typeface="Aptos" pitchFamily="34" charset="-122"/>
                <a:cs typeface="Aptos" pitchFamily="34" charset="-120"/>
              </a:rPr>
              <a:t>Capabilities</a:t>
            </a:r>
            <a:endParaRPr lang="en-US" sz="940" dirty="0"/>
          </a:p>
        </p:txBody>
      </p:sp>
      <p:sp>
        <p:nvSpPr>
          <p:cNvPr id="20" name="Text 18"/>
          <p:cNvSpPr/>
          <p:nvPr/>
        </p:nvSpPr>
        <p:spPr>
          <a:xfrm>
            <a:off x="5760720" y="1920240"/>
            <a:ext cx="329184" cy="329184"/>
          </a:xfrm>
          <a:prstGeom prst="rect">
            <a:avLst/>
          </a:prstGeom>
          <a:solidFill>
            <a:srgbClr val="A142F4"/>
          </a:solidFill>
          <a:ln/>
        </p:spPr>
        <p:txBody>
          <a:bodyPr wrap="square" lIns="254" tIns="254" rIns="254" bIns="254" rtlCol="0" anchor="ctr"/>
          <a:lstStyle/>
          <a:p>
            <a:pPr algn="ctr" indent="0" marL="0">
              <a:buNone/>
            </a:pPr>
            <a:r>
              <a:rPr lang="en-US" sz="900" b="1" dirty="0">
                <a:solidFill>
                  <a:srgbClr val="FFFFFF"/>
                </a:solidFill>
              </a:rPr>
              <a:t>4</a:t>
            </a:r>
            <a:endParaRPr lang="en-US" sz="900" dirty="0"/>
          </a:p>
        </p:txBody>
      </p:sp>
      <p:sp>
        <p:nvSpPr>
          <p:cNvPr id="21" name="Text 19"/>
          <p:cNvSpPr/>
          <p:nvPr/>
        </p:nvSpPr>
        <p:spPr>
          <a:xfrm>
            <a:off x="5879592" y="2441448"/>
            <a:ext cx="1170432" cy="960120"/>
          </a:xfrm>
          <a:prstGeom prst="rect">
            <a:avLst/>
          </a:prstGeom>
          <a:solidFill>
            <a:srgbClr val="F3E8FD"/>
          </a:solidFill>
          <a:ln w="12700">
            <a:solidFill>
              <a:srgbClr val="A142F4"/>
            </a:solidFill>
          </a:ln>
        </p:spPr>
        <p:txBody>
          <a:bodyPr wrap="square" lIns="762" tIns="762" rIns="762" bIns="762" rtlCol="0" anchor="ctr">
            <a:normAutofit/>
          </a:bodyPr>
          <a:lstStyle/>
          <a:p>
            <a:pPr algn="ctr" indent="0" marL="0">
              <a:buNone/>
            </a:pPr>
            <a:r>
              <a:rPr lang="en-US" sz="940" b="1" dirty="0">
                <a:solidFill>
                  <a:srgbClr val="A142F4"/>
                </a:solidFill>
                <a:latin typeface="Aptos" pitchFamily="34" charset="0"/>
                <a:ea typeface="Aptos" pitchFamily="34" charset="-122"/>
                <a:cs typeface="Aptos" pitchFamily="34" charset="-120"/>
              </a:rPr>
              <a:t>Build</a:t>
            </a:r>
            <a:endParaRPr lang="en-US" sz="940" dirty="0"/>
          </a:p>
          <a:p>
            <a:pPr algn="ctr" indent="0" marL="0">
              <a:buNone/>
            </a:pPr>
            <a:r>
              <a:rPr lang="en-US" sz="940" b="1" dirty="0">
                <a:solidFill>
                  <a:srgbClr val="A142F4"/>
                </a:solidFill>
                <a:latin typeface="Aptos" pitchFamily="34" charset="0"/>
                <a:ea typeface="Aptos" pitchFamily="34" charset="-122"/>
                <a:cs typeface="Aptos" pitchFamily="34" charset="-120"/>
              </a:rPr>
              <a:t>Harness</a:t>
            </a:r>
            <a:endParaRPr lang="en-US" sz="940" dirty="0"/>
          </a:p>
        </p:txBody>
      </p:sp>
      <p:sp>
        <p:nvSpPr>
          <p:cNvPr id="22" name="Text 20"/>
          <p:cNvSpPr/>
          <p:nvPr/>
        </p:nvSpPr>
        <p:spPr>
          <a:xfrm>
            <a:off x="7360920" y="1920240"/>
            <a:ext cx="329184" cy="329184"/>
          </a:xfrm>
          <a:prstGeom prst="rect">
            <a:avLst/>
          </a:prstGeom>
          <a:solidFill>
            <a:srgbClr val="4285F4"/>
          </a:solidFill>
          <a:ln/>
        </p:spPr>
        <p:txBody>
          <a:bodyPr wrap="square" lIns="254" tIns="254" rIns="254" bIns="254" rtlCol="0" anchor="ctr"/>
          <a:lstStyle/>
          <a:p>
            <a:pPr algn="ctr" indent="0" marL="0">
              <a:buNone/>
            </a:pPr>
            <a:r>
              <a:rPr lang="en-US" sz="900" b="1" dirty="0">
                <a:solidFill>
                  <a:srgbClr val="FFFFFF"/>
                </a:solidFill>
              </a:rPr>
              <a:t>5</a:t>
            </a:r>
            <a:endParaRPr lang="en-US" sz="900" dirty="0"/>
          </a:p>
        </p:txBody>
      </p:sp>
      <p:sp>
        <p:nvSpPr>
          <p:cNvPr id="23" name="Text 21"/>
          <p:cNvSpPr/>
          <p:nvPr/>
        </p:nvSpPr>
        <p:spPr>
          <a:xfrm>
            <a:off x="7479792" y="2441448"/>
            <a:ext cx="1170432" cy="960120"/>
          </a:xfrm>
          <a:prstGeom prst="rect">
            <a:avLst/>
          </a:prstGeom>
          <a:solidFill>
            <a:srgbClr val="E8F0FE"/>
          </a:solidFill>
          <a:ln w="12700">
            <a:solidFill>
              <a:srgbClr val="4285F4"/>
            </a:solidFill>
          </a:ln>
        </p:spPr>
        <p:txBody>
          <a:bodyPr wrap="square" lIns="762" tIns="762" rIns="762" bIns="762" rtlCol="0" anchor="ctr">
            <a:normAutofit/>
          </a:bodyPr>
          <a:lstStyle/>
          <a:p>
            <a:pPr algn="ctr" indent="0" marL="0">
              <a:buNone/>
            </a:pPr>
            <a:r>
              <a:rPr lang="en-US" sz="940" b="1" dirty="0">
                <a:solidFill>
                  <a:srgbClr val="4285F4"/>
                </a:solidFill>
                <a:latin typeface="Aptos" pitchFamily="34" charset="0"/>
                <a:ea typeface="Aptos" pitchFamily="34" charset="-122"/>
                <a:cs typeface="Aptos" pitchFamily="34" charset="-120"/>
              </a:rPr>
              <a:t>Orchestrate</a:t>
            </a:r>
            <a:endParaRPr lang="en-US" sz="940" dirty="0"/>
          </a:p>
          <a:p>
            <a:pPr algn="ctr" indent="0" marL="0">
              <a:buNone/>
            </a:pPr>
            <a:r>
              <a:rPr lang="en-US" sz="940" b="1" dirty="0">
                <a:solidFill>
                  <a:srgbClr val="4285F4"/>
                </a:solidFill>
                <a:latin typeface="Aptos" pitchFamily="34" charset="0"/>
                <a:ea typeface="Aptos" pitchFamily="34" charset="-122"/>
                <a:cs typeface="Aptos" pitchFamily="34" charset="-120"/>
              </a:rPr>
              <a:t>Workflows</a:t>
            </a:r>
            <a:endParaRPr lang="en-US" sz="940" dirty="0"/>
          </a:p>
        </p:txBody>
      </p:sp>
      <p:sp>
        <p:nvSpPr>
          <p:cNvPr id="24" name="Text 22"/>
          <p:cNvSpPr/>
          <p:nvPr/>
        </p:nvSpPr>
        <p:spPr>
          <a:xfrm>
            <a:off x="8961120" y="1920240"/>
            <a:ext cx="329184" cy="329184"/>
          </a:xfrm>
          <a:prstGeom prst="rect">
            <a:avLst/>
          </a:prstGeom>
          <a:solidFill>
            <a:srgbClr val="34A853"/>
          </a:solidFill>
          <a:ln/>
        </p:spPr>
        <p:txBody>
          <a:bodyPr wrap="square" lIns="254" tIns="254" rIns="254" bIns="254" rtlCol="0" anchor="ctr"/>
          <a:lstStyle/>
          <a:p>
            <a:pPr algn="ctr" indent="0" marL="0">
              <a:buNone/>
            </a:pPr>
            <a:r>
              <a:rPr lang="en-US" sz="900" b="1" dirty="0">
                <a:solidFill>
                  <a:srgbClr val="FFFFFF"/>
                </a:solidFill>
              </a:rPr>
              <a:t>6</a:t>
            </a:r>
            <a:endParaRPr lang="en-US" sz="900" dirty="0"/>
          </a:p>
        </p:txBody>
      </p:sp>
      <p:sp>
        <p:nvSpPr>
          <p:cNvPr id="25" name="Text 23"/>
          <p:cNvSpPr/>
          <p:nvPr/>
        </p:nvSpPr>
        <p:spPr>
          <a:xfrm>
            <a:off x="9079992" y="2441448"/>
            <a:ext cx="1170432" cy="960120"/>
          </a:xfrm>
          <a:prstGeom prst="rect">
            <a:avLst/>
          </a:prstGeom>
          <a:solidFill>
            <a:srgbClr val="E6F4EA"/>
          </a:solidFill>
          <a:ln w="12700">
            <a:solidFill>
              <a:srgbClr val="34A853"/>
            </a:solidFill>
          </a:ln>
        </p:spPr>
        <p:txBody>
          <a:bodyPr wrap="square" lIns="762" tIns="762" rIns="762" bIns="762" rtlCol="0" anchor="ctr">
            <a:normAutofit/>
          </a:bodyPr>
          <a:lstStyle/>
          <a:p>
            <a:pPr algn="ctr" indent="0" marL="0">
              <a:buNone/>
            </a:pPr>
            <a:r>
              <a:rPr lang="en-US" sz="940" b="1" dirty="0">
                <a:solidFill>
                  <a:srgbClr val="34A853"/>
                </a:solidFill>
                <a:latin typeface="Aptos" pitchFamily="34" charset="0"/>
                <a:ea typeface="Aptos" pitchFamily="34" charset="-122"/>
                <a:cs typeface="Aptos" pitchFamily="34" charset="-120"/>
              </a:rPr>
              <a:t>Engineer</a:t>
            </a:r>
            <a:endParaRPr lang="en-US" sz="940" dirty="0"/>
          </a:p>
          <a:p>
            <a:pPr algn="ctr" indent="0" marL="0">
              <a:buNone/>
            </a:pPr>
            <a:r>
              <a:rPr lang="en-US" sz="940" b="1" dirty="0">
                <a:solidFill>
                  <a:srgbClr val="34A853"/>
                </a:solidFill>
                <a:latin typeface="Aptos" pitchFamily="34" charset="0"/>
                <a:ea typeface="Aptos" pitchFamily="34" charset="-122"/>
                <a:cs typeface="Aptos" pitchFamily="34" charset="-120"/>
              </a:rPr>
              <a:t>Loops</a:t>
            </a:r>
            <a:endParaRPr lang="en-US" sz="940" dirty="0"/>
          </a:p>
        </p:txBody>
      </p:sp>
      <p:sp>
        <p:nvSpPr>
          <p:cNvPr id="26" name="Text 24"/>
          <p:cNvSpPr/>
          <p:nvPr/>
        </p:nvSpPr>
        <p:spPr>
          <a:xfrm>
            <a:off x="10561320" y="1920240"/>
            <a:ext cx="329184" cy="329184"/>
          </a:xfrm>
          <a:prstGeom prst="rect">
            <a:avLst/>
          </a:prstGeom>
          <a:solidFill>
            <a:srgbClr val="EA4335"/>
          </a:solidFill>
          <a:ln/>
        </p:spPr>
        <p:txBody>
          <a:bodyPr wrap="square" lIns="254" tIns="254" rIns="254" bIns="254" rtlCol="0" anchor="ctr"/>
          <a:lstStyle/>
          <a:p>
            <a:pPr algn="ctr" indent="0" marL="0">
              <a:buNone/>
            </a:pPr>
            <a:r>
              <a:rPr lang="en-US" sz="900" b="1" dirty="0">
                <a:solidFill>
                  <a:srgbClr val="FFFFFF"/>
                </a:solidFill>
              </a:rPr>
              <a:t>7</a:t>
            </a:r>
            <a:endParaRPr lang="en-US" sz="900" dirty="0"/>
          </a:p>
        </p:txBody>
      </p:sp>
      <p:sp>
        <p:nvSpPr>
          <p:cNvPr id="27" name="Text 25"/>
          <p:cNvSpPr/>
          <p:nvPr/>
        </p:nvSpPr>
        <p:spPr>
          <a:xfrm>
            <a:off x="10680192" y="2441448"/>
            <a:ext cx="1170432" cy="960120"/>
          </a:xfrm>
          <a:prstGeom prst="rect">
            <a:avLst/>
          </a:prstGeom>
          <a:solidFill>
            <a:srgbClr val="FCE8E6"/>
          </a:solidFill>
          <a:ln w="12700">
            <a:solidFill>
              <a:srgbClr val="EA4335"/>
            </a:solidFill>
          </a:ln>
        </p:spPr>
        <p:txBody>
          <a:bodyPr wrap="square" lIns="762" tIns="762" rIns="762" bIns="762" rtlCol="0" anchor="ctr">
            <a:normAutofit/>
          </a:bodyPr>
          <a:lstStyle/>
          <a:p>
            <a:pPr algn="ctr" indent="0" marL="0">
              <a:buNone/>
            </a:pPr>
            <a:r>
              <a:rPr lang="en-US" sz="940" b="1" dirty="0">
                <a:solidFill>
                  <a:srgbClr val="EA4335"/>
                </a:solidFill>
                <a:latin typeface="Aptos" pitchFamily="34" charset="0"/>
                <a:ea typeface="Aptos" pitchFamily="34" charset="-122"/>
                <a:cs typeface="Aptos" pitchFamily="34" charset="-120"/>
              </a:rPr>
              <a:t>Evaluate &amp;</a:t>
            </a:r>
            <a:endParaRPr lang="en-US" sz="940" dirty="0"/>
          </a:p>
          <a:p>
            <a:pPr algn="ctr" indent="0" marL="0">
              <a:buNone/>
            </a:pPr>
            <a:r>
              <a:rPr lang="en-US" sz="940" b="1" dirty="0">
                <a:solidFill>
                  <a:srgbClr val="EA4335"/>
                </a:solidFill>
                <a:latin typeface="Aptos" pitchFamily="34" charset="0"/>
                <a:ea typeface="Aptos" pitchFamily="34" charset="-122"/>
                <a:cs typeface="Aptos" pitchFamily="34" charset="-120"/>
              </a:rPr>
              <a:t>Govern</a:t>
            </a:r>
            <a:endParaRPr lang="en-US" sz="940" dirty="0"/>
          </a:p>
        </p:txBody>
      </p:sp>
      <p:sp>
        <p:nvSpPr>
          <p:cNvPr id="28" name="Text 26"/>
          <p:cNvSpPr/>
          <p:nvPr/>
        </p:nvSpPr>
        <p:spPr>
          <a:xfrm>
            <a:off x="1965960" y="4754880"/>
            <a:ext cx="8275320" cy="822960"/>
          </a:xfrm>
          <a:prstGeom prst="rect">
            <a:avLst/>
          </a:prstGeom>
          <a:solidFill>
            <a:srgbClr val="F8F9FA"/>
          </a:solidFill>
          <a:ln w="12700">
            <a:solidFill>
              <a:srgbClr val="DADCE0"/>
            </a:solidFill>
          </a:ln>
        </p:spPr>
        <p:txBody>
          <a:bodyPr wrap="square" lIns="1905" tIns="1905" rIns="1905" bIns="1905" rtlCol="0" anchor="ctr">
            <a:normAutofit/>
          </a:bodyPr>
          <a:lstStyle/>
          <a:p>
            <a:pPr indent="0" marL="0">
              <a:buNone/>
            </a:pPr>
            <a:r>
              <a:rPr lang="en-US" sz="1200" b="1" dirty="0">
                <a:solidFill>
                  <a:srgbClr val="202124"/>
                </a:solidFill>
                <a:latin typeface="Aptos" pitchFamily="34" charset="0"/>
                <a:ea typeface="Aptos" pitchFamily="34" charset="-122"/>
                <a:cs typeface="Aptos" pitchFamily="34" charset="-120"/>
              </a:rPr>
              <a:t>Not a waterfall
</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The steps form a disciplined loop. Evaluation and governance feed back into every earlier decision.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F3E8FD"/>
          </a:solidFill>
          <a:ln/>
        </p:spPr>
        <p:txBody>
          <a:bodyPr wrap="square" lIns="381" tIns="381" rIns="381" bIns="381" rtlCol="0" anchor="ctr">
            <a:normAutofit/>
          </a:bodyPr>
          <a:lstStyle/>
          <a:p>
            <a:pPr indent="0" marL="0">
              <a:buNone/>
            </a:pPr>
            <a:r>
              <a:rPr lang="en-US" sz="600" b="1" dirty="0">
                <a:solidFill>
                  <a:srgbClr val="A142F4"/>
                </a:solidFill>
                <a:latin typeface="Aptos" pitchFamily="34" charset="0"/>
                <a:ea typeface="Aptos" pitchFamily="34" charset="-122"/>
                <a:cs typeface="Aptos" pitchFamily="34" charset="-120"/>
              </a:rPr>
              <a:t>ECOSYSTEM</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The Agent Engineering ecosystem</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A dependable agent system has layers of responsibility, not one giant prompt.</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Agent Engineering Overview</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11</a:t>
            </a:r>
            <a:endParaRPr lang="en-US" sz="600" dirty="0"/>
          </a:p>
        </p:txBody>
      </p:sp>
      <p:sp>
        <p:nvSpPr>
          <p:cNvPr id="8" name="Text 6"/>
          <p:cNvSpPr/>
          <p:nvPr/>
        </p:nvSpPr>
        <p:spPr>
          <a:xfrm>
            <a:off x="2926080" y="1664208"/>
            <a:ext cx="6309360" cy="310896"/>
          </a:xfrm>
          <a:prstGeom prst="rect">
            <a:avLst/>
          </a:prstGeom>
          <a:solidFill>
            <a:srgbClr val="FCE8E6"/>
          </a:solidFill>
          <a:ln w="12700">
            <a:solidFill>
              <a:srgbClr val="EA4335"/>
            </a:solidFill>
          </a:ln>
        </p:spPr>
        <p:txBody>
          <a:bodyPr wrap="square" lIns="762" tIns="762" rIns="762" bIns="762" rtlCol="0" anchor="ctr">
            <a:normAutofit/>
          </a:bodyPr>
          <a:lstStyle/>
          <a:p>
            <a:pPr algn="ctr" indent="0" marL="0">
              <a:buNone/>
            </a:pPr>
            <a:r>
              <a:rPr lang="en-US" sz="940" b="1" dirty="0">
                <a:solidFill>
                  <a:srgbClr val="EA4335"/>
                </a:solidFill>
                <a:latin typeface="Aptos" pitchFamily="34" charset="0"/>
                <a:ea typeface="Aptos" pitchFamily="34" charset="-122"/>
                <a:cs typeface="Aptos" pitchFamily="34" charset="-120"/>
              </a:rPr>
              <a:t>Human authority</a:t>
            </a:r>
            <a:endParaRPr lang="en-US" sz="940" dirty="0"/>
          </a:p>
        </p:txBody>
      </p:sp>
      <p:sp>
        <p:nvSpPr>
          <p:cNvPr id="9" name="Text 7"/>
          <p:cNvSpPr/>
          <p:nvPr/>
        </p:nvSpPr>
        <p:spPr>
          <a:xfrm>
            <a:off x="2926080" y="2103120"/>
            <a:ext cx="6309360" cy="310896"/>
          </a:xfrm>
          <a:prstGeom prst="rect">
            <a:avLst/>
          </a:prstGeom>
          <a:solidFill>
            <a:srgbClr val="FEF7E0"/>
          </a:solidFill>
          <a:ln w="12700">
            <a:solidFill>
              <a:srgbClr val="FBBC04"/>
            </a:solidFill>
          </a:ln>
        </p:spPr>
        <p:txBody>
          <a:bodyPr wrap="square" lIns="762" tIns="762" rIns="762" bIns="762" rtlCol="0" anchor="ctr">
            <a:normAutofit/>
          </a:bodyPr>
          <a:lstStyle/>
          <a:p>
            <a:pPr algn="ctr" indent="0" marL="0">
              <a:buNone/>
            </a:pPr>
            <a:r>
              <a:rPr lang="en-US" sz="940" b="1" dirty="0">
                <a:solidFill>
                  <a:srgbClr val="FBBC04"/>
                </a:solidFill>
                <a:latin typeface="Aptos" pitchFamily="34" charset="0"/>
                <a:ea typeface="Aptos" pitchFamily="34" charset="-122"/>
                <a:cs typeface="Aptos" pitchFamily="34" charset="-120"/>
              </a:rPr>
              <a:t>Evaluation &amp; governance</a:t>
            </a:r>
            <a:endParaRPr lang="en-US" sz="940" dirty="0"/>
          </a:p>
        </p:txBody>
      </p:sp>
      <p:sp>
        <p:nvSpPr>
          <p:cNvPr id="10" name="Text 8"/>
          <p:cNvSpPr/>
          <p:nvPr/>
        </p:nvSpPr>
        <p:spPr>
          <a:xfrm>
            <a:off x="2926080" y="2542032"/>
            <a:ext cx="6309360" cy="310896"/>
          </a:xfrm>
          <a:prstGeom prst="rect">
            <a:avLst/>
          </a:prstGeom>
          <a:solidFill>
            <a:srgbClr val="E6F4EA"/>
          </a:solidFill>
          <a:ln w="12700">
            <a:solidFill>
              <a:srgbClr val="34A853"/>
            </a:solidFill>
          </a:ln>
        </p:spPr>
        <p:txBody>
          <a:bodyPr wrap="square" lIns="762" tIns="762" rIns="762" bIns="762" rtlCol="0" anchor="ctr">
            <a:normAutofit/>
          </a:bodyPr>
          <a:lstStyle/>
          <a:p>
            <a:pPr algn="ctr" indent="0" marL="0">
              <a:buNone/>
            </a:pPr>
            <a:r>
              <a:rPr lang="en-US" sz="940" b="1" dirty="0">
                <a:solidFill>
                  <a:srgbClr val="34A853"/>
                </a:solidFill>
                <a:latin typeface="Aptos" pitchFamily="34" charset="0"/>
                <a:ea typeface="Aptos" pitchFamily="34" charset="-122"/>
                <a:cs typeface="Aptos" pitchFamily="34" charset="-120"/>
              </a:rPr>
              <a:t>Loops and stopping rules</a:t>
            </a:r>
            <a:endParaRPr lang="en-US" sz="940" dirty="0"/>
          </a:p>
        </p:txBody>
      </p:sp>
      <p:sp>
        <p:nvSpPr>
          <p:cNvPr id="11" name="Text 9"/>
          <p:cNvSpPr/>
          <p:nvPr/>
        </p:nvSpPr>
        <p:spPr>
          <a:xfrm>
            <a:off x="2926080" y="2980944"/>
            <a:ext cx="6309360" cy="310896"/>
          </a:xfrm>
          <a:prstGeom prst="rect">
            <a:avLst/>
          </a:prstGeom>
          <a:solidFill>
            <a:srgbClr val="E8F0FE"/>
          </a:solidFill>
          <a:ln w="12700">
            <a:solidFill>
              <a:srgbClr val="4285F4"/>
            </a:solidFill>
          </a:ln>
        </p:spPr>
        <p:txBody>
          <a:bodyPr wrap="square" lIns="762" tIns="762" rIns="762" bIns="762" rtlCol="0" anchor="ctr">
            <a:normAutofit/>
          </a:bodyPr>
          <a:lstStyle/>
          <a:p>
            <a:pPr algn="ctr" indent="0" marL="0">
              <a:buNone/>
            </a:pPr>
            <a:r>
              <a:rPr lang="en-US" sz="940" b="1" dirty="0">
                <a:solidFill>
                  <a:srgbClr val="4285F4"/>
                </a:solidFill>
                <a:latin typeface="Aptos" pitchFamily="34" charset="0"/>
                <a:ea typeface="Aptos" pitchFamily="34" charset="-122"/>
                <a:cs typeface="Aptos" pitchFamily="34" charset="-120"/>
              </a:rPr>
              <a:t>Orchestration and state</a:t>
            </a:r>
            <a:endParaRPr lang="en-US" sz="940" dirty="0"/>
          </a:p>
        </p:txBody>
      </p:sp>
      <p:sp>
        <p:nvSpPr>
          <p:cNvPr id="12" name="Text 10"/>
          <p:cNvSpPr/>
          <p:nvPr/>
        </p:nvSpPr>
        <p:spPr>
          <a:xfrm>
            <a:off x="2926080" y="3419856"/>
            <a:ext cx="6309360" cy="310896"/>
          </a:xfrm>
          <a:prstGeom prst="rect">
            <a:avLst/>
          </a:prstGeom>
          <a:solidFill>
            <a:srgbClr val="F3E8FD"/>
          </a:solidFill>
          <a:ln w="12700">
            <a:solidFill>
              <a:srgbClr val="A142F4"/>
            </a:solidFill>
          </a:ln>
        </p:spPr>
        <p:txBody>
          <a:bodyPr wrap="square" lIns="762" tIns="762" rIns="762" bIns="762" rtlCol="0" anchor="ctr">
            <a:normAutofit/>
          </a:bodyPr>
          <a:lstStyle/>
          <a:p>
            <a:pPr algn="ctr" indent="0" marL="0">
              <a:buNone/>
            </a:pPr>
            <a:r>
              <a:rPr lang="en-US" sz="940" b="1" dirty="0">
                <a:solidFill>
                  <a:srgbClr val="A142F4"/>
                </a:solidFill>
                <a:latin typeface="Aptos" pitchFamily="34" charset="0"/>
                <a:ea typeface="Aptos" pitchFamily="34" charset="-122"/>
                <a:cs typeface="Aptos" pitchFamily="34" charset="-120"/>
              </a:rPr>
              <a:t>Tools, Skills and contracts</a:t>
            </a:r>
            <a:endParaRPr lang="en-US" sz="940" dirty="0"/>
          </a:p>
        </p:txBody>
      </p:sp>
      <p:sp>
        <p:nvSpPr>
          <p:cNvPr id="13" name="Text 11"/>
          <p:cNvSpPr/>
          <p:nvPr/>
        </p:nvSpPr>
        <p:spPr>
          <a:xfrm>
            <a:off x="2926080" y="3858768"/>
            <a:ext cx="6309360" cy="310896"/>
          </a:xfrm>
          <a:prstGeom prst="rect">
            <a:avLst/>
          </a:prstGeom>
          <a:solidFill>
            <a:srgbClr val="E6F4EA"/>
          </a:solidFill>
          <a:ln w="12700">
            <a:solidFill>
              <a:srgbClr val="34A853"/>
            </a:solidFill>
          </a:ln>
        </p:spPr>
        <p:txBody>
          <a:bodyPr wrap="square" lIns="762" tIns="762" rIns="762" bIns="762" rtlCol="0" anchor="ctr">
            <a:normAutofit/>
          </a:bodyPr>
          <a:lstStyle/>
          <a:p>
            <a:pPr algn="ctr" indent="0" marL="0">
              <a:buNone/>
            </a:pPr>
            <a:r>
              <a:rPr lang="en-US" sz="940" b="1" dirty="0">
                <a:solidFill>
                  <a:srgbClr val="34A853"/>
                </a:solidFill>
                <a:latin typeface="Aptos" pitchFamily="34" charset="0"/>
                <a:ea typeface="Aptos" pitchFamily="34" charset="-122"/>
                <a:cs typeface="Aptos" pitchFamily="34" charset="-120"/>
              </a:rPr>
              <a:t>Context and evidence</a:t>
            </a:r>
            <a:endParaRPr lang="en-US" sz="940" dirty="0"/>
          </a:p>
        </p:txBody>
      </p:sp>
      <p:sp>
        <p:nvSpPr>
          <p:cNvPr id="14" name="Text 12"/>
          <p:cNvSpPr/>
          <p:nvPr/>
        </p:nvSpPr>
        <p:spPr>
          <a:xfrm>
            <a:off x="2926080" y="4297680"/>
            <a:ext cx="6309360" cy="310896"/>
          </a:xfrm>
          <a:prstGeom prst="rect">
            <a:avLst/>
          </a:prstGeom>
          <a:solidFill>
            <a:srgbClr val="E8F0FE"/>
          </a:solidFill>
          <a:ln w="12700">
            <a:solidFill>
              <a:srgbClr val="4285F4"/>
            </a:solidFill>
          </a:ln>
        </p:spPr>
        <p:txBody>
          <a:bodyPr wrap="square" lIns="762" tIns="762" rIns="762" bIns="762" rtlCol="0" anchor="ctr">
            <a:normAutofit/>
          </a:bodyPr>
          <a:lstStyle/>
          <a:p>
            <a:pPr algn="ctr" indent="0" marL="0">
              <a:buNone/>
            </a:pPr>
            <a:r>
              <a:rPr lang="en-US" sz="940" b="1" dirty="0">
                <a:solidFill>
                  <a:srgbClr val="4285F4"/>
                </a:solidFill>
                <a:latin typeface="Aptos" pitchFamily="34" charset="0"/>
                <a:ea typeface="Aptos" pitchFamily="34" charset="-122"/>
                <a:cs typeface="Aptos" pitchFamily="34" charset="-120"/>
              </a:rPr>
              <a:t>Model reasoning</a:t>
            </a:r>
            <a:endParaRPr lang="en-US" sz="940" dirty="0"/>
          </a:p>
        </p:txBody>
      </p:sp>
      <p:sp>
        <p:nvSpPr>
          <p:cNvPr id="15" name="Text 13"/>
          <p:cNvSpPr/>
          <p:nvPr/>
        </p:nvSpPr>
        <p:spPr>
          <a:xfrm>
            <a:off x="2926080" y="4736592"/>
            <a:ext cx="6309360" cy="310896"/>
          </a:xfrm>
          <a:prstGeom prst="rect">
            <a:avLst/>
          </a:prstGeom>
          <a:solidFill>
            <a:srgbClr val="F8F9FA"/>
          </a:solidFill>
          <a:ln w="12700">
            <a:solidFill>
              <a:srgbClr val="DADCE0"/>
            </a:solidFill>
          </a:ln>
        </p:spPr>
        <p:txBody>
          <a:bodyPr wrap="square" lIns="762" tIns="762" rIns="762" bIns="762" rtlCol="0" anchor="ctr">
            <a:normAutofit/>
          </a:bodyPr>
          <a:lstStyle/>
          <a:p>
            <a:pPr algn="ctr" indent="0" marL="0">
              <a:buNone/>
            </a:pPr>
            <a:r>
              <a:rPr lang="en-US" sz="940" b="1" dirty="0">
                <a:solidFill>
                  <a:srgbClr val="DADCE0"/>
                </a:solidFill>
                <a:latin typeface="Aptos" pitchFamily="34" charset="0"/>
                <a:ea typeface="Aptos" pitchFamily="34" charset="-122"/>
                <a:cs typeface="Aptos" pitchFamily="34" charset="-120"/>
              </a:rPr>
              <a:t>Business objective</a:t>
            </a:r>
            <a:endParaRPr lang="en-US" sz="940" dirty="0"/>
          </a:p>
        </p:txBody>
      </p:sp>
      <p:sp>
        <p:nvSpPr>
          <p:cNvPr id="16" name="Text 14"/>
          <p:cNvSpPr/>
          <p:nvPr/>
        </p:nvSpPr>
        <p:spPr>
          <a:xfrm>
            <a:off x="1005840" y="5440680"/>
            <a:ext cx="10287000" cy="640080"/>
          </a:xfrm>
          <a:prstGeom prst="rect">
            <a:avLst/>
          </a:prstGeom>
          <a:solidFill>
            <a:srgbClr val="F8F9FA"/>
          </a:solidFill>
          <a:ln w="12700">
            <a:solidFill>
              <a:srgbClr val="DADCE0"/>
            </a:solidFill>
          </a:ln>
        </p:spPr>
        <p:txBody>
          <a:bodyPr wrap="square" lIns="1905" tIns="1905" rIns="1905" bIns="1905" rtlCol="0" anchor="ctr">
            <a:normAutofit/>
          </a:bodyPr>
          <a:lstStyle/>
          <a:p>
            <a:pPr indent="0" marL="0">
              <a:buNone/>
            </a:pPr>
            <a:r>
              <a:rPr lang="en-US" sz="1150" b="1" dirty="0">
                <a:solidFill>
                  <a:srgbClr val="202124"/>
                </a:solidFill>
                <a:latin typeface="Aptos" pitchFamily="34" charset="0"/>
                <a:ea typeface="Aptos" pitchFamily="34" charset="-122"/>
                <a:cs typeface="Aptos" pitchFamily="34" charset="-120"/>
              </a:rPr>
              <a:t>Design principle
</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Every layer should have a clear job. The more consequential the action, the more explicit the boundary.</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E8F0FE"/>
          </a:solidFill>
          <a:ln/>
        </p:spPr>
        <p:txBody>
          <a:bodyPr wrap="square" lIns="381" tIns="381" rIns="381" bIns="381" rtlCol="0" anchor="ctr">
            <a:normAutofit/>
          </a:bodyPr>
          <a:lstStyle/>
          <a:p>
            <a:pPr indent="0" marL="0">
              <a:buNone/>
            </a:pPr>
            <a:r>
              <a:rPr lang="en-US" sz="600" b="1" dirty="0">
                <a:solidFill>
                  <a:srgbClr val="4285F4"/>
                </a:solidFill>
                <a:latin typeface="Aptos" pitchFamily="34" charset="0"/>
                <a:ea typeface="Aptos" pitchFamily="34" charset="-122"/>
                <a:cs typeface="Aptos" pitchFamily="34" charset="-120"/>
              </a:rPr>
              <a:t>BRIDGE</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From engineering discipline to business problem</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Now we need a realistic workflow where structure and judgment both matter.</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Agent Engineering Overview</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12</a:t>
            </a:r>
            <a:endParaRPr lang="en-US" sz="600" dirty="0"/>
          </a:p>
        </p:txBody>
      </p:sp>
      <p:sp>
        <p:nvSpPr>
          <p:cNvPr id="8" name="Text 6"/>
          <p:cNvSpPr/>
          <p:nvPr/>
        </p:nvSpPr>
        <p:spPr>
          <a:xfrm>
            <a:off x="1188720" y="1691640"/>
            <a:ext cx="9784080" cy="1143000"/>
          </a:xfrm>
          <a:prstGeom prst="rect">
            <a:avLst/>
          </a:prstGeom>
          <a:noFill/>
          <a:ln/>
        </p:spPr>
        <p:txBody>
          <a:bodyPr wrap="square" lIns="508" tIns="508" rIns="508" bIns="508" rtlCol="0" anchor="ctr">
            <a:normAutofit/>
          </a:bodyPr>
          <a:lstStyle/>
          <a:p>
            <a:pPr algn="ctr" indent="0" marL="0">
              <a:buNone/>
            </a:pPr>
            <a:r>
              <a:rPr lang="en-US" sz="2300" b="1" dirty="0">
                <a:solidFill>
                  <a:srgbClr val="202124"/>
                </a:solidFill>
                <a:latin typeface="Aptos Display" pitchFamily="34" charset="0"/>
                <a:ea typeface="Aptos Display" pitchFamily="34" charset="-122"/>
                <a:cs typeface="Aptos Display" pitchFamily="34" charset="-120"/>
              </a:rPr>
              <a:t>The model supplies intelligence.</a:t>
            </a:r>
            <a:endParaRPr lang="en-US" sz="2300" dirty="0"/>
          </a:p>
          <a:p>
            <a:pPr algn="ctr" indent="0" marL="0">
              <a:buNone/>
            </a:pPr>
            <a:r>
              <a:rPr lang="en-US" sz="2300" b="1" dirty="0">
                <a:solidFill>
                  <a:srgbClr val="202124"/>
                </a:solidFill>
                <a:latin typeface="Aptos Display" pitchFamily="34" charset="0"/>
                <a:ea typeface="Aptos Display" pitchFamily="34" charset="-122"/>
                <a:cs typeface="Aptos Display" pitchFamily="34" charset="-120"/>
              </a:rPr>
              <a:t>Agent Engineering supplies the system.</a:t>
            </a:r>
            <a:endParaRPr lang="en-US" sz="2300" dirty="0"/>
          </a:p>
        </p:txBody>
      </p:sp>
      <p:sp>
        <p:nvSpPr>
          <p:cNvPr id="9" name="Shape 7"/>
          <p:cNvSpPr/>
          <p:nvPr/>
        </p:nvSpPr>
        <p:spPr>
          <a:xfrm>
            <a:off x="3154680" y="3657600"/>
            <a:ext cx="1691640" cy="0"/>
          </a:xfrm>
          <a:prstGeom prst="line">
            <a:avLst/>
          </a:prstGeom>
          <a:noFill/>
          <a:ln w="20320">
            <a:solidFill>
              <a:srgbClr val="4285F4"/>
            </a:solidFill>
            <a:prstDash val="solid"/>
            <a:tailEnd type="triangle"/>
          </a:ln>
        </p:spPr>
      </p:sp>
      <p:sp>
        <p:nvSpPr>
          <p:cNvPr id="10" name="Shape 8"/>
          <p:cNvSpPr/>
          <p:nvPr/>
        </p:nvSpPr>
        <p:spPr>
          <a:xfrm>
            <a:off x="5897880" y="3657600"/>
            <a:ext cx="1691640" cy="0"/>
          </a:xfrm>
          <a:prstGeom prst="line">
            <a:avLst/>
          </a:prstGeom>
          <a:noFill/>
          <a:ln w="20320">
            <a:solidFill>
              <a:srgbClr val="34A853"/>
            </a:solidFill>
            <a:prstDash val="solid"/>
            <a:tailEnd type="triangle"/>
          </a:ln>
        </p:spPr>
      </p:sp>
      <p:sp>
        <p:nvSpPr>
          <p:cNvPr id="11" name="Text 9"/>
          <p:cNvSpPr/>
          <p:nvPr/>
        </p:nvSpPr>
        <p:spPr>
          <a:xfrm>
            <a:off x="1600200" y="3291840"/>
            <a:ext cx="1554480" cy="731520"/>
          </a:xfrm>
          <a:prstGeom prst="rect">
            <a:avLst/>
          </a:prstGeom>
          <a:solidFill>
            <a:srgbClr val="E8F0FE"/>
          </a:solidFill>
          <a:ln w="12700">
            <a:solidFill>
              <a:srgbClr val="4285F4"/>
            </a:solidFill>
          </a:ln>
        </p:spPr>
        <p:txBody>
          <a:bodyPr wrap="square" lIns="762" tIns="762" rIns="762" bIns="762" rtlCol="0" anchor="ctr">
            <a:normAutofit/>
          </a:bodyPr>
          <a:lstStyle/>
          <a:p>
            <a:pPr algn="ctr" indent="0" marL="0">
              <a:buNone/>
            </a:pPr>
            <a:r>
              <a:rPr lang="en-US" sz="1050" b="1" dirty="0">
                <a:solidFill>
                  <a:srgbClr val="4285F4"/>
                </a:solidFill>
                <a:latin typeface="Aptos" pitchFamily="34" charset="0"/>
                <a:ea typeface="Aptos" pitchFamily="34" charset="-122"/>
                <a:cs typeface="Aptos" pitchFamily="34" charset="-120"/>
              </a:rPr>
              <a:t>Agent Engineering</a:t>
            </a:r>
            <a:endParaRPr lang="en-US" sz="1050" dirty="0"/>
          </a:p>
        </p:txBody>
      </p:sp>
      <p:sp>
        <p:nvSpPr>
          <p:cNvPr id="12" name="Text 10"/>
          <p:cNvSpPr/>
          <p:nvPr/>
        </p:nvSpPr>
        <p:spPr>
          <a:xfrm>
            <a:off x="4846320" y="3291840"/>
            <a:ext cx="1051560" cy="731520"/>
          </a:xfrm>
          <a:prstGeom prst="rect">
            <a:avLst/>
          </a:prstGeom>
          <a:solidFill>
            <a:srgbClr val="FEF7E0"/>
          </a:solidFill>
          <a:ln w="12700">
            <a:solidFill>
              <a:srgbClr val="FBBC04"/>
            </a:solidFill>
          </a:ln>
        </p:spPr>
        <p:txBody>
          <a:bodyPr wrap="square" lIns="762" tIns="762" rIns="762" bIns="762" rtlCol="0" anchor="ctr">
            <a:normAutofit/>
          </a:bodyPr>
          <a:lstStyle/>
          <a:p>
            <a:pPr algn="ctr" indent="0" marL="0">
              <a:buNone/>
            </a:pPr>
            <a:r>
              <a:rPr lang="en-US" sz="1050" b="1" dirty="0">
                <a:solidFill>
                  <a:srgbClr val="FBBC04"/>
                </a:solidFill>
                <a:latin typeface="Aptos" pitchFamily="34" charset="0"/>
                <a:ea typeface="Aptos" pitchFamily="34" charset="-122"/>
                <a:cs typeface="Aptos" pitchFamily="34" charset="-120"/>
              </a:rPr>
              <a:t>Real process</a:t>
            </a:r>
            <a:endParaRPr lang="en-US" sz="1050" dirty="0"/>
          </a:p>
        </p:txBody>
      </p:sp>
      <p:sp>
        <p:nvSpPr>
          <p:cNvPr id="13" name="Text 11"/>
          <p:cNvSpPr/>
          <p:nvPr/>
        </p:nvSpPr>
        <p:spPr>
          <a:xfrm>
            <a:off x="7589520" y="3291840"/>
            <a:ext cx="1737360" cy="731520"/>
          </a:xfrm>
          <a:prstGeom prst="rect">
            <a:avLst/>
          </a:prstGeom>
          <a:solidFill>
            <a:srgbClr val="E6F4EA"/>
          </a:solidFill>
          <a:ln w="12700">
            <a:solidFill>
              <a:srgbClr val="34A853"/>
            </a:solidFill>
          </a:ln>
        </p:spPr>
        <p:txBody>
          <a:bodyPr wrap="square" lIns="762" tIns="762" rIns="762" bIns="762" rtlCol="0" anchor="ctr">
            <a:normAutofit/>
          </a:bodyPr>
          <a:lstStyle/>
          <a:p>
            <a:pPr algn="ctr" indent="0" marL="0">
              <a:buNone/>
            </a:pPr>
            <a:r>
              <a:rPr lang="en-US" sz="1050" b="1" dirty="0">
                <a:solidFill>
                  <a:srgbClr val="34A853"/>
                </a:solidFill>
                <a:latin typeface="Aptos" pitchFamily="34" charset="0"/>
                <a:ea typeface="Aptos" pitchFamily="34" charset="-122"/>
                <a:cs typeface="Aptos" pitchFamily="34" charset="-120"/>
              </a:rPr>
              <a:t>WidgetWare SDR</a:t>
            </a:r>
            <a:endParaRPr lang="en-US" sz="1050" dirty="0"/>
          </a:p>
        </p:txBody>
      </p:sp>
      <p:sp>
        <p:nvSpPr>
          <p:cNvPr id="14" name="Text 12"/>
          <p:cNvSpPr/>
          <p:nvPr/>
        </p:nvSpPr>
        <p:spPr>
          <a:xfrm>
            <a:off x="2011680" y="4800600"/>
            <a:ext cx="8138160" cy="685800"/>
          </a:xfrm>
          <a:prstGeom prst="rect">
            <a:avLst/>
          </a:prstGeom>
          <a:solidFill>
            <a:srgbClr val="F8F9FA"/>
          </a:solidFill>
          <a:ln w="12700">
            <a:solidFill>
              <a:srgbClr val="DADCE0"/>
            </a:solidFill>
          </a:ln>
        </p:spPr>
        <p:txBody>
          <a:bodyPr wrap="square" lIns="1905" tIns="1905" rIns="1905" bIns="1905" rtlCol="0" anchor="ctr">
            <a:normAutofit/>
          </a:bodyPr>
          <a:lstStyle/>
          <a:p>
            <a:pPr indent="0" marL="0">
              <a:buNone/>
            </a:pPr>
            <a:r>
              <a:rPr lang="en-US" sz="1250" b="1" dirty="0">
                <a:solidFill>
                  <a:srgbClr val="202124"/>
                </a:solidFill>
                <a:latin typeface="Aptos" pitchFamily="34" charset="0"/>
                <a:ea typeface="Aptos" pitchFamily="34" charset="-122"/>
                <a:cs typeface="Aptos" pitchFamily="34" charset="-120"/>
              </a:rPr>
              <a:t>Next</a:t>
            </a:r>
            <a:endParaRPr lang="en-US" sz="1250" dirty="0"/>
          </a:p>
          <a:p>
            <a:pPr indent="0" marL="0">
              <a:buNone/>
            </a:pPr>
            <a:r>
              <a:rPr lang="en-US" sz="1250" dirty="0">
                <a:solidFill>
                  <a:srgbClr val="202124"/>
                </a:solidFill>
                <a:latin typeface="Aptos" pitchFamily="34" charset="0"/>
                <a:ea typeface="Aptos" pitchFamily="34" charset="-122"/>
                <a:cs typeface="Aptos" pitchFamily="34" charset="-120"/>
              </a:rPr>
              <a:t>We will examine the SDR business process, then map it back to the Seven Steps.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CloudKarya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Language Models to Agent Engineering</dc:title>
  <dc:subject>Agent Engineering Overview</dc:subject>
  <dc:creator>CloudKarya / ML Academy</dc:creator>
  <cp:lastModifiedBy>CloudKarya / ML Academy</cp:lastModifiedBy>
  <cp:revision>1</cp:revision>
  <dcterms:created xsi:type="dcterms:W3CDTF">2026-07-31T05:03:05Z</dcterms:created>
  <dcterms:modified xsi:type="dcterms:W3CDTF">2026-07-31T05:03:05Z</dcterms:modified>
</cp:coreProperties>
</file>