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bridge deck connects the business process to the engineering discipline. It should come after the SDR overview. Do not re-teach the SDR process here; instead, explain why this process is such a good scaffold for learning Agent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philosophy of the course. We are not building toy features in isolation. We are gradually constructing one business system, and each new engineering capability arrives because the WidgetWare SDR process requires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thesis. SDR is neither trivial nor unbounded. It contains a repeatable operating model, but the quality of the work depends on interpreting signals and evidence. That makes it ideal for teaching proper responsibility separation.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target business outcome in one sentence. The system turns an account into an evidence-backed package that a human can review. The boundary is equally important: it does not send or make external commitments in Book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reinforce the central design habit. Deterministic code handles schemas, permissions and validation. The model handles interpretation and synthesis. Human policy controls consequential external actions. This makes the system safer and easier to evaluate.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intentionally decomposed. We do not want a single prompt that jumps from input to email draft. Each intermediate artifact makes the system easier to inspect, debug and govern.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from theory to course implementation. Each Seven Step category has a WidgetWare counterpart. The mapping also helps learners understand why the classes arrive in the order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bridge deck back to the course cadence. The system grows cumulatively, but learners begin each class from the previous known-good baseline. That protects the class from being blocked by accumulated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the business case is not decoration. It gives learners a reason to care about quality, evidence, boundaries and handoff. At the same time, the technical build introduces the most important Agent Engineering concepts in a meaningful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be firm. Controlled autonomy is a feature, not a limitation. Book 1 intentionally prepares outputs for approval and stops before external delivery. This makes it a strong first system for serious Agent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363456" y="0"/>
            <a:ext cx="2816352" cy="6858000"/>
          </a:xfrm>
          <a:prstGeom prst="rect">
            <a:avLst/>
          </a:prstGeom>
          <a:solidFill>
            <a:srgbClr val="E6F4EA"/>
          </a:solidFill>
          <a:ln w="12700">
            <a:solidFill>
              <a:srgbClr val="333333">
                <a:alpha val="0"/>
              </a:srgbClr>
            </a:solidFill>
            <a:prstDash val="solid"/>
          </a:ln>
        </p:spPr>
      </p:sp>
      <p:sp>
        <p:nvSpPr>
          <p:cNvPr id="3" name="Text 1"/>
          <p:cNvSpPr/>
          <p:nvPr/>
        </p:nvSpPr>
        <p:spPr>
          <a:xfrm>
            <a:off x="594360" y="749808"/>
            <a:ext cx="2468880" cy="228600"/>
          </a:xfrm>
          <a:prstGeom prst="rect">
            <a:avLst/>
          </a:prstGeom>
          <a:noFill/>
          <a:ln/>
        </p:spPr>
        <p:txBody>
          <a:bodyPr wrap="square" lIns="0" tIns="0" rIns="0" bIns="0" rtlCol="0" anchor="ctr"/>
          <a:lstStyle/>
          <a:p>
            <a:pPr indent="0" marL="0">
              <a:buNone/>
            </a:pPr>
            <a:r>
              <a:rPr lang="en-US" sz="700" b="1" dirty="0">
                <a:solidFill>
                  <a:srgbClr val="34A853"/>
                </a:solidFill>
                <a:latin typeface="Aptos" pitchFamily="34" charset="0"/>
                <a:ea typeface="Aptos" pitchFamily="34" charset="-122"/>
                <a:cs typeface="Aptos" pitchFamily="34" charset="-120"/>
              </a:rPr>
              <a:t>BRIDGE DECK</a:t>
            </a:r>
            <a:endParaRPr lang="en-US" sz="700" dirty="0"/>
          </a:p>
        </p:txBody>
      </p:sp>
      <p:sp>
        <p:nvSpPr>
          <p:cNvPr id="4" name="Text 2"/>
          <p:cNvSpPr/>
          <p:nvPr/>
        </p:nvSpPr>
        <p:spPr>
          <a:xfrm>
            <a:off x="594360" y="1417320"/>
            <a:ext cx="7863840" cy="1463040"/>
          </a:xfrm>
          <a:prstGeom prst="rect">
            <a:avLst/>
          </a:prstGeom>
          <a:noFill/>
          <a:ln/>
        </p:spPr>
        <p:txBody>
          <a:bodyPr wrap="square" lIns="254" tIns="254" rIns="254" bIns="254" rtlCol="0" anchor="ctr">
            <a:normAutofit/>
          </a:bodyPr>
          <a:lstStyle/>
          <a:p>
            <a:pPr indent="0" marL="0">
              <a:buNone/>
            </a:pPr>
            <a:r>
              <a:rPr lang="en-US" sz="3600" b="1" dirty="0">
                <a:solidFill>
                  <a:srgbClr val="202124"/>
                </a:solidFill>
                <a:latin typeface="Aptos Display" pitchFamily="34" charset="0"/>
                <a:ea typeface="Aptos Display" pitchFamily="34" charset="-122"/>
                <a:cs typeface="Aptos Display" pitchFamily="34" charset="-120"/>
              </a:rPr>
              <a:t>WidgetWare SDR: Learning Agent Engineering Through a Real Business Problem</a:t>
            </a:r>
            <a:endParaRPr lang="en-US" sz="3600" dirty="0"/>
          </a:p>
        </p:txBody>
      </p:sp>
      <p:sp>
        <p:nvSpPr>
          <p:cNvPr id="5" name="Text 3"/>
          <p:cNvSpPr/>
          <p:nvPr/>
        </p:nvSpPr>
        <p:spPr>
          <a:xfrm>
            <a:off x="621792" y="3200400"/>
            <a:ext cx="7132320" cy="411480"/>
          </a:xfrm>
          <a:prstGeom prst="rect">
            <a:avLst/>
          </a:prstGeom>
          <a:noFill/>
          <a:ln/>
        </p:spPr>
        <p:txBody>
          <a:bodyPr wrap="square" lIns="0" tIns="0" rIns="0" bIns="0" rtlCol="0" anchor="ctr"/>
          <a:lstStyle/>
          <a:p>
            <a:pPr indent="0" marL="0">
              <a:buNone/>
            </a:pPr>
            <a:r>
              <a:rPr lang="en-US" sz="1450" dirty="0">
                <a:solidFill>
                  <a:srgbClr val="5F6368"/>
                </a:solidFill>
                <a:latin typeface="Aptos" pitchFamily="34" charset="0"/>
                <a:ea typeface="Aptos" pitchFamily="34" charset="-122"/>
                <a:cs typeface="Aptos" pitchFamily="34" charset="-120"/>
              </a:rPr>
              <a:t>Why SDR is an ideal case study for the Seven Steps</a:t>
            </a:r>
            <a:endParaRPr lang="en-US" sz="1450" dirty="0"/>
          </a:p>
        </p:txBody>
      </p:sp>
      <p:sp>
        <p:nvSpPr>
          <p:cNvPr id="6" name="Text 4"/>
          <p:cNvSpPr/>
          <p:nvPr/>
        </p:nvSpPr>
        <p:spPr>
          <a:xfrm>
            <a:off x="9802368" y="960120"/>
            <a:ext cx="1691640" cy="329184"/>
          </a:xfrm>
          <a:prstGeom prst="rect">
            <a:avLst/>
          </a:prstGeom>
          <a:solidFill>
            <a:srgbClr val="FFFFFF"/>
          </a:solidFill>
          <a:ln/>
        </p:spPr>
        <p:txBody>
          <a:bodyPr wrap="square" lIns="1016" tIns="1016" rIns="1016" bIns="1016" rtlCol="0" anchor="ctr">
            <a:normAutofit/>
          </a:bodyPr>
          <a:lstStyle/>
          <a:p>
            <a:pPr algn="ctr" indent="0" marL="0">
              <a:buNone/>
            </a:pPr>
            <a:r>
              <a:rPr lang="en-US" sz="1200" b="1" dirty="0">
                <a:solidFill>
                  <a:srgbClr val="202124"/>
                </a:solidFill>
                <a:latin typeface="Aptos" pitchFamily="34" charset="0"/>
                <a:ea typeface="Aptos" pitchFamily="34" charset="-122"/>
                <a:cs typeface="Aptos" pitchFamily="34" charset="-120"/>
              </a:rPr>
              <a:t>Model</a:t>
            </a:r>
            <a:endParaRPr lang="en-US" sz="1200" dirty="0"/>
          </a:p>
        </p:txBody>
      </p:sp>
      <p:sp>
        <p:nvSpPr>
          <p:cNvPr id="7" name="Shape 5"/>
          <p:cNvSpPr/>
          <p:nvPr/>
        </p:nvSpPr>
        <p:spPr>
          <a:xfrm>
            <a:off x="10643616" y="1307592"/>
            <a:ext cx="0" cy="393192"/>
          </a:xfrm>
          <a:prstGeom prst="line">
            <a:avLst/>
          </a:prstGeom>
          <a:noFill/>
          <a:ln w="15240">
            <a:solidFill>
              <a:srgbClr val="34A853"/>
            </a:solidFill>
            <a:prstDash val="solid"/>
            <a:headEnd type="none"/>
            <a:tailEnd type="triangle"/>
          </a:ln>
        </p:spPr>
      </p:sp>
      <p:sp>
        <p:nvSpPr>
          <p:cNvPr id="8" name="Text 6"/>
          <p:cNvSpPr/>
          <p:nvPr/>
        </p:nvSpPr>
        <p:spPr>
          <a:xfrm>
            <a:off x="9802368" y="1828800"/>
            <a:ext cx="1691640" cy="329184"/>
          </a:xfrm>
          <a:prstGeom prst="rect">
            <a:avLst/>
          </a:prstGeom>
          <a:solidFill>
            <a:srgbClr val="FFFFFF">
              <a:alpha val="88000"/>
            </a:srgbClr>
          </a:solidFill>
          <a:ln/>
        </p:spPr>
        <p:txBody>
          <a:bodyPr wrap="square" lIns="1016" tIns="1016" rIns="1016" bIns="1016" rtlCol="0" anchor="ctr">
            <a:normAutofit/>
          </a:bodyPr>
          <a:lstStyle/>
          <a:p>
            <a:pPr algn="ctr" indent="0" marL="0">
              <a:buNone/>
            </a:pPr>
            <a:r>
              <a:rPr lang="en-US" sz="1200" dirty="0">
                <a:solidFill>
                  <a:srgbClr val="202124"/>
                </a:solidFill>
                <a:latin typeface="Aptos" pitchFamily="34" charset="0"/>
                <a:ea typeface="Aptos" pitchFamily="34" charset="-122"/>
                <a:cs typeface="Aptos" pitchFamily="34" charset="-120"/>
              </a:rPr>
              <a:t>Context</a:t>
            </a:r>
            <a:endParaRPr lang="en-US" sz="1200" dirty="0"/>
          </a:p>
        </p:txBody>
      </p:sp>
      <p:sp>
        <p:nvSpPr>
          <p:cNvPr id="9" name="Shape 7"/>
          <p:cNvSpPr/>
          <p:nvPr/>
        </p:nvSpPr>
        <p:spPr>
          <a:xfrm>
            <a:off x="10643616" y="2176272"/>
            <a:ext cx="0" cy="393192"/>
          </a:xfrm>
          <a:prstGeom prst="line">
            <a:avLst/>
          </a:prstGeom>
          <a:noFill/>
          <a:ln w="15240">
            <a:solidFill>
              <a:srgbClr val="34A853"/>
            </a:solidFill>
            <a:prstDash val="solid"/>
            <a:headEnd type="none"/>
            <a:tailEnd type="triangle"/>
          </a:ln>
        </p:spPr>
      </p:sp>
      <p:sp>
        <p:nvSpPr>
          <p:cNvPr id="10" name="Text 8"/>
          <p:cNvSpPr/>
          <p:nvPr/>
        </p:nvSpPr>
        <p:spPr>
          <a:xfrm>
            <a:off x="9802368" y="2697480"/>
            <a:ext cx="1691640" cy="329184"/>
          </a:xfrm>
          <a:prstGeom prst="rect">
            <a:avLst/>
          </a:prstGeom>
          <a:solidFill>
            <a:srgbClr val="FFFFFF">
              <a:alpha val="88000"/>
            </a:srgbClr>
          </a:solidFill>
          <a:ln/>
        </p:spPr>
        <p:txBody>
          <a:bodyPr wrap="square" lIns="1016" tIns="1016" rIns="1016" bIns="1016" rtlCol="0" anchor="ctr">
            <a:normAutofit/>
          </a:bodyPr>
          <a:lstStyle/>
          <a:p>
            <a:pPr algn="ctr" indent="0" marL="0">
              <a:buNone/>
            </a:pPr>
            <a:r>
              <a:rPr lang="en-US" sz="1200" dirty="0">
                <a:solidFill>
                  <a:srgbClr val="202124"/>
                </a:solidFill>
                <a:latin typeface="Aptos" pitchFamily="34" charset="0"/>
                <a:ea typeface="Aptos" pitchFamily="34" charset="-122"/>
                <a:cs typeface="Aptos" pitchFamily="34" charset="-120"/>
              </a:rPr>
              <a:t>Tools</a:t>
            </a:r>
            <a:endParaRPr lang="en-US" sz="1200" dirty="0"/>
          </a:p>
        </p:txBody>
      </p:sp>
      <p:sp>
        <p:nvSpPr>
          <p:cNvPr id="11" name="Shape 9"/>
          <p:cNvSpPr/>
          <p:nvPr/>
        </p:nvSpPr>
        <p:spPr>
          <a:xfrm>
            <a:off x="10643616" y="3044952"/>
            <a:ext cx="0" cy="393192"/>
          </a:xfrm>
          <a:prstGeom prst="line">
            <a:avLst/>
          </a:prstGeom>
          <a:noFill/>
          <a:ln w="15240">
            <a:solidFill>
              <a:srgbClr val="34A853"/>
            </a:solidFill>
            <a:prstDash val="solid"/>
            <a:headEnd type="none"/>
            <a:tailEnd type="triangle"/>
          </a:ln>
        </p:spPr>
      </p:sp>
      <p:sp>
        <p:nvSpPr>
          <p:cNvPr id="12" name="Text 10"/>
          <p:cNvSpPr/>
          <p:nvPr/>
        </p:nvSpPr>
        <p:spPr>
          <a:xfrm>
            <a:off x="9802368" y="3566160"/>
            <a:ext cx="1691640" cy="329184"/>
          </a:xfrm>
          <a:prstGeom prst="rect">
            <a:avLst/>
          </a:prstGeom>
          <a:solidFill>
            <a:srgbClr val="FFFFFF">
              <a:alpha val="88000"/>
            </a:srgbClr>
          </a:solidFill>
          <a:ln/>
        </p:spPr>
        <p:txBody>
          <a:bodyPr wrap="square" lIns="1016" tIns="1016" rIns="1016" bIns="1016" rtlCol="0" anchor="ctr">
            <a:normAutofit/>
          </a:bodyPr>
          <a:lstStyle/>
          <a:p>
            <a:pPr algn="ctr" indent="0" marL="0">
              <a:buNone/>
            </a:pPr>
            <a:r>
              <a:rPr lang="en-US" sz="1200" dirty="0">
                <a:solidFill>
                  <a:srgbClr val="202124"/>
                </a:solidFill>
                <a:latin typeface="Aptos" pitchFamily="34" charset="0"/>
                <a:ea typeface="Aptos" pitchFamily="34" charset="-122"/>
                <a:cs typeface="Aptos" pitchFamily="34" charset="-120"/>
              </a:rPr>
              <a:t>Workflow</a:t>
            </a:r>
            <a:endParaRPr lang="en-US" sz="1200" dirty="0"/>
          </a:p>
        </p:txBody>
      </p:sp>
      <p:sp>
        <p:nvSpPr>
          <p:cNvPr id="13" name="Shape 11"/>
          <p:cNvSpPr/>
          <p:nvPr/>
        </p:nvSpPr>
        <p:spPr>
          <a:xfrm>
            <a:off x="10643616" y="3913632"/>
            <a:ext cx="0" cy="393192"/>
          </a:xfrm>
          <a:prstGeom prst="line">
            <a:avLst/>
          </a:prstGeom>
          <a:noFill/>
          <a:ln w="15240">
            <a:solidFill>
              <a:srgbClr val="34A853"/>
            </a:solidFill>
            <a:prstDash val="solid"/>
            <a:headEnd type="none"/>
            <a:tailEnd type="triangle"/>
          </a:ln>
        </p:spPr>
      </p:sp>
      <p:sp>
        <p:nvSpPr>
          <p:cNvPr id="14" name="Text 12"/>
          <p:cNvSpPr/>
          <p:nvPr/>
        </p:nvSpPr>
        <p:spPr>
          <a:xfrm>
            <a:off x="9802368" y="4434840"/>
            <a:ext cx="1691640" cy="329184"/>
          </a:xfrm>
          <a:prstGeom prst="rect">
            <a:avLst/>
          </a:prstGeom>
          <a:solidFill>
            <a:srgbClr val="FFFFFF">
              <a:alpha val="88000"/>
            </a:srgbClr>
          </a:solidFill>
          <a:ln/>
        </p:spPr>
        <p:txBody>
          <a:bodyPr wrap="square" lIns="1016" tIns="1016" rIns="1016" bIns="1016" rtlCol="0" anchor="ctr">
            <a:normAutofit/>
          </a:bodyPr>
          <a:lstStyle/>
          <a:p>
            <a:pPr algn="ctr" indent="0" marL="0">
              <a:buNone/>
            </a:pPr>
            <a:r>
              <a:rPr lang="en-US" sz="1200" dirty="0">
                <a:solidFill>
                  <a:srgbClr val="202124"/>
                </a:solidFill>
                <a:latin typeface="Aptos" pitchFamily="34" charset="0"/>
                <a:ea typeface="Aptos" pitchFamily="34" charset="-122"/>
                <a:cs typeface="Aptos" pitchFamily="34" charset="-120"/>
              </a:rPr>
              <a:t>Evidence</a:t>
            </a:r>
            <a:endParaRPr lang="en-US" sz="1200" dirty="0"/>
          </a:p>
        </p:txBody>
      </p:sp>
      <p:sp>
        <p:nvSpPr>
          <p:cNvPr id="15" name="Text 13"/>
          <p:cNvSpPr/>
          <p:nvPr/>
        </p:nvSpPr>
        <p:spPr>
          <a:xfrm>
            <a:off x="9555480" y="5897880"/>
            <a:ext cx="2103120" cy="329184"/>
          </a:xfrm>
          <a:prstGeom prst="rect">
            <a:avLst/>
          </a:prstGeom>
          <a:noFill/>
          <a:ln/>
        </p:spPr>
        <p:txBody>
          <a:bodyPr wrap="square" lIns="0" tIns="0" rIns="0" bIns="0" rtlCol="0" anchor="ctr"/>
          <a:lstStyle/>
          <a:p>
            <a:pPr algn="ctr" indent="0" marL="0">
              <a:buNone/>
            </a:pPr>
            <a:r>
              <a:rPr lang="en-US" sz="900" dirty="0">
                <a:solidFill>
                  <a:srgbClr val="5F6368"/>
                </a:solidFill>
                <a:latin typeface="Aptos" pitchFamily="34" charset="0"/>
                <a:ea typeface="Aptos" pitchFamily="34" charset="-122"/>
                <a:cs typeface="Aptos" pitchFamily="34" charset="-120"/>
              </a:rPr>
              <a:t>A high-level operating model for dependable agents</a:t>
            </a:r>
            <a:endParaRPr lang="en-US" sz="900" dirty="0"/>
          </a:p>
        </p:txBody>
      </p:sp>
      <p:sp>
        <p:nvSpPr>
          <p:cNvPr id="16" name="Shape 14"/>
          <p:cNvSpPr/>
          <p:nvPr/>
        </p:nvSpPr>
        <p:spPr>
          <a:xfrm>
            <a:off x="411480" y="6473952"/>
            <a:ext cx="11384280" cy="0"/>
          </a:xfrm>
          <a:prstGeom prst="line">
            <a:avLst/>
          </a:prstGeom>
          <a:noFill/>
          <a:ln w="12700">
            <a:solidFill>
              <a:srgbClr val="E8EAED"/>
            </a:solidFill>
            <a:prstDash val="solid"/>
          </a:ln>
        </p:spPr>
      </p:sp>
      <p:sp>
        <p:nvSpPr>
          <p:cNvPr id="17" name="Text 15"/>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WidgetWare SDR Bridge</a:t>
            </a:r>
            <a:endParaRPr lang="en-US" sz="580" dirty="0"/>
          </a:p>
        </p:txBody>
      </p:sp>
      <p:sp>
        <p:nvSpPr>
          <p:cNvPr id="18" name="Text 16"/>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01</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E6F4EA"/>
          </a:solidFill>
          <a:ln/>
        </p:spPr>
        <p:txBody>
          <a:bodyPr wrap="square" lIns="381" tIns="381" rIns="381" bIns="381" rtlCol="0" anchor="ctr">
            <a:normAutofit/>
          </a:bodyPr>
          <a:lstStyle/>
          <a:p>
            <a:pPr indent="0" marL="0">
              <a:buNone/>
            </a:pPr>
            <a:r>
              <a:rPr lang="en-US" sz="600" b="1" dirty="0">
                <a:solidFill>
                  <a:srgbClr val="34A853"/>
                </a:solidFill>
                <a:latin typeface="Aptos" pitchFamily="34" charset="0"/>
                <a:ea typeface="Aptos" pitchFamily="34" charset="-122"/>
                <a:cs typeface="Aptos" pitchFamily="34" charset="-120"/>
              </a:rPr>
              <a:t>COURSE LOGIC</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Two learning goals, one project</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We learn Agent Engineering by solving a realistic SDR problem rather than studying isolated features.</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WidgetWare SDR Bridge</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02</a:t>
            </a:r>
            <a:endParaRPr lang="en-US" sz="600" dirty="0"/>
          </a:p>
        </p:txBody>
      </p:sp>
      <p:sp>
        <p:nvSpPr>
          <p:cNvPr id="8" name="Text 6"/>
          <p:cNvSpPr/>
          <p:nvPr/>
        </p:nvSpPr>
        <p:spPr>
          <a:xfrm>
            <a:off x="914400" y="1965960"/>
            <a:ext cx="4114800" cy="1874520"/>
          </a:xfrm>
          <a:prstGeom prst="rect">
            <a:avLst/>
          </a:prstGeom>
          <a:solidFill>
            <a:srgbClr val="E8F0FE"/>
          </a:solidFill>
          <a:ln w="12700">
            <a:solidFill>
              <a:srgbClr val="4285F4"/>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Learning goal 1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Understand the engineering discipline: context, tools, Skills, harness, workflows, loops and governance.</a:t>
            </a:r>
            <a:endParaRPr lang="en-US" sz="1200" dirty="0"/>
          </a:p>
        </p:txBody>
      </p:sp>
      <p:sp>
        <p:nvSpPr>
          <p:cNvPr id="9" name="Text 7"/>
          <p:cNvSpPr/>
          <p:nvPr/>
        </p:nvSpPr>
        <p:spPr>
          <a:xfrm>
            <a:off x="7132320" y="1965960"/>
            <a:ext cx="4114800" cy="1874520"/>
          </a:xfrm>
          <a:prstGeom prst="rect">
            <a:avLst/>
          </a:prstGeom>
          <a:solidFill>
            <a:srgbClr val="E6F4EA"/>
          </a:solidFill>
          <a:ln w="12700">
            <a:solidFill>
              <a:srgbClr val="34A853"/>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Learning goal 2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Apply the discipline to a practical business workflow: WidgetWare sales-development preparation.</a:t>
            </a:r>
            <a:endParaRPr lang="en-US" sz="1200" dirty="0"/>
          </a:p>
        </p:txBody>
      </p:sp>
      <p:sp>
        <p:nvSpPr>
          <p:cNvPr id="10" name="Shape 8"/>
          <p:cNvSpPr/>
          <p:nvPr/>
        </p:nvSpPr>
        <p:spPr>
          <a:xfrm>
            <a:off x="5212080" y="2907792"/>
            <a:ext cx="1691640" cy="0"/>
          </a:xfrm>
          <a:prstGeom prst="line">
            <a:avLst/>
          </a:prstGeom>
          <a:noFill/>
          <a:ln w="20320">
            <a:solidFill>
              <a:srgbClr val="34A853"/>
            </a:solidFill>
            <a:prstDash val="solid"/>
            <a:tailEnd type="triangle"/>
          </a:ln>
        </p:spPr>
      </p:sp>
      <p:sp>
        <p:nvSpPr>
          <p:cNvPr id="11" name="Text 9"/>
          <p:cNvSpPr/>
          <p:nvPr/>
        </p:nvSpPr>
        <p:spPr>
          <a:xfrm>
            <a:off x="1508760" y="4983480"/>
            <a:ext cx="9144000" cy="585216"/>
          </a:xfrm>
          <a:prstGeom prst="rect">
            <a:avLst/>
          </a:prstGeom>
          <a:noFill/>
          <a:ln/>
        </p:spPr>
        <p:txBody>
          <a:bodyPr wrap="square" lIns="508" tIns="508" rIns="508" bIns="508" rtlCol="0" anchor="ctr">
            <a:normAutofit/>
          </a:bodyPr>
          <a:lstStyle/>
          <a:p>
            <a:pPr algn="ctr" indent="0" marL="0">
              <a:buNone/>
            </a:pPr>
            <a:r>
              <a:rPr lang="en-US" sz="2300" b="1" dirty="0">
                <a:solidFill>
                  <a:srgbClr val="202124"/>
                </a:solidFill>
                <a:latin typeface="Aptos Display" pitchFamily="34" charset="0"/>
                <a:ea typeface="Aptos Display" pitchFamily="34" charset="-122"/>
                <a:cs typeface="Aptos Display" pitchFamily="34" charset="-120"/>
              </a:rPr>
              <a:t>We introduce each agent capability when the business problem requires it.</a:t>
            </a:r>
            <a:endParaRPr lang="en-US"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E8F0FE"/>
          </a:solidFill>
          <a:ln/>
        </p:spPr>
        <p:txBody>
          <a:bodyPr wrap="square" lIns="381" tIns="381" rIns="381" bIns="381" rtlCol="0" anchor="ctr">
            <a:normAutofit/>
          </a:bodyPr>
          <a:lstStyle/>
          <a:p>
            <a:pPr indent="0" marL="0">
              <a:buNone/>
            </a:pPr>
            <a:r>
              <a:rPr lang="en-US" sz="600" b="1" dirty="0">
                <a:solidFill>
                  <a:srgbClr val="4285F4"/>
                </a:solidFill>
                <a:latin typeface="Aptos" pitchFamily="34" charset="0"/>
                <a:ea typeface="Aptos" pitchFamily="34" charset="-122"/>
                <a:cs typeface="Aptos" pitchFamily="34" charset="-120"/>
              </a:rPr>
              <a:t>FIT</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Why SDR is a strong agentic use case</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It has enough structure for engineering and enough ambiguity for model reasoning.</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WidgetWare SDR Bridge</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03</a:t>
            </a:r>
            <a:endParaRPr lang="en-US" sz="600" dirty="0"/>
          </a:p>
        </p:txBody>
      </p:sp>
      <p:sp>
        <p:nvSpPr>
          <p:cNvPr id="8" name="Text 6"/>
          <p:cNvSpPr/>
          <p:nvPr/>
        </p:nvSpPr>
        <p:spPr>
          <a:xfrm>
            <a:off x="960120" y="1783080"/>
            <a:ext cx="4023360" cy="2834640"/>
          </a:xfrm>
          <a:prstGeom prst="rect">
            <a:avLst/>
          </a:prstGeom>
          <a:solidFill>
            <a:srgbClr val="E8F0FE"/>
          </a:solidFill>
          <a:ln w="12700">
            <a:solidFill>
              <a:srgbClr val="4285F4"/>
            </a:solidFill>
          </a:ln>
        </p:spPr>
        <p:txBody>
          <a:bodyPr wrap="square" lIns="1905" tIns="1905" rIns="1905" bIns="1905" rtlCol="0" anchor="ctr">
            <a:normAutofit/>
          </a:bodyPr>
          <a:lstStyle/>
          <a:p>
            <a:pPr indent="0" marL="0">
              <a:buNone/>
            </a:pPr>
            <a:r>
              <a:rPr lang="en-US" sz="1300" b="1" dirty="0">
                <a:solidFill>
                  <a:srgbClr val="202124"/>
                </a:solidFill>
                <a:latin typeface="Aptos" pitchFamily="34" charset="0"/>
                <a:ea typeface="Aptos" pitchFamily="34" charset="-122"/>
                <a:cs typeface="Aptos" pitchFamily="34" charset="-120"/>
              </a:rPr>
              <a:t>Predictable structure
</a:t>
            </a:r>
            <a:endParaRPr lang="en-US" sz="1300" dirty="0"/>
          </a:p>
          <a:p>
            <a:pPr indent="0" marL="0">
              <a:buNone/>
            </a:pPr>
            <a:r>
              <a:rPr lang="en-US" sz="1300" dirty="0">
                <a:solidFill>
                  <a:srgbClr val="202124"/>
                </a:solidFill>
                <a:latin typeface="Aptos" pitchFamily="34" charset="0"/>
                <a:ea typeface="Aptos" pitchFamily="34" charset="-122"/>
                <a:cs typeface="Aptos" pitchFamily="34" charset="-120"/>
              </a:rPr>
              <a:t>intake</a:t>
            </a:r>
            <a:endParaRPr lang="en-US" sz="1300" dirty="0"/>
          </a:p>
          <a:p>
            <a:pPr indent="0" marL="0">
              <a:buNone/>
            </a:pPr>
            <a:r>
              <a:rPr lang="en-US" sz="1300" dirty="0">
                <a:solidFill>
                  <a:srgbClr val="202124"/>
                </a:solidFill>
                <a:latin typeface="Aptos" pitchFamily="34" charset="0"/>
                <a:ea typeface="Aptos" pitchFamily="34" charset="-122"/>
                <a:cs typeface="Aptos" pitchFamily="34" charset="-120"/>
              </a:rPr>
              <a:t>research</a:t>
            </a:r>
            <a:endParaRPr lang="en-US" sz="1300" dirty="0"/>
          </a:p>
          <a:p>
            <a:pPr indent="0" marL="0">
              <a:buNone/>
            </a:pPr>
            <a:r>
              <a:rPr lang="en-US" sz="1300" dirty="0">
                <a:solidFill>
                  <a:srgbClr val="202124"/>
                </a:solidFill>
                <a:latin typeface="Aptos" pitchFamily="34" charset="0"/>
                <a:ea typeface="Aptos" pitchFamily="34" charset="-122"/>
                <a:cs typeface="Aptos" pitchFamily="34" charset="-120"/>
              </a:rPr>
              <a:t>qualification</a:t>
            </a:r>
            <a:endParaRPr lang="en-US" sz="1300" dirty="0"/>
          </a:p>
          <a:p>
            <a:pPr indent="0" marL="0">
              <a:buNone/>
            </a:pPr>
            <a:r>
              <a:rPr lang="en-US" sz="1300" dirty="0">
                <a:solidFill>
                  <a:srgbClr val="202124"/>
                </a:solidFill>
                <a:latin typeface="Aptos" pitchFamily="34" charset="0"/>
                <a:ea typeface="Aptos" pitchFamily="34" charset="-122"/>
                <a:cs typeface="Aptos" pitchFamily="34" charset="-120"/>
              </a:rPr>
              <a:t>review</a:t>
            </a:r>
            <a:endParaRPr lang="en-US" sz="1300" dirty="0"/>
          </a:p>
          <a:p>
            <a:pPr indent="0" marL="0">
              <a:buNone/>
            </a:pPr>
            <a:r>
              <a:rPr lang="en-US" sz="1300" dirty="0">
                <a:solidFill>
                  <a:srgbClr val="202124"/>
                </a:solidFill>
                <a:latin typeface="Aptos" pitchFamily="34" charset="0"/>
                <a:ea typeface="Aptos" pitchFamily="34" charset="-122"/>
                <a:cs typeface="Aptos" pitchFamily="34" charset="-120"/>
              </a:rPr>
              <a:t>draft</a:t>
            </a:r>
            <a:endParaRPr lang="en-US" sz="1300" dirty="0"/>
          </a:p>
          <a:p>
            <a:pPr indent="0" marL="0">
              <a:buNone/>
            </a:pPr>
            <a:r>
              <a:rPr lang="en-US" sz="1300" dirty="0">
                <a:solidFill>
                  <a:srgbClr val="202124"/>
                </a:solidFill>
                <a:latin typeface="Aptos" pitchFamily="34" charset="0"/>
                <a:ea typeface="Aptos" pitchFamily="34" charset="-122"/>
                <a:cs typeface="Aptos" pitchFamily="34" charset="-120"/>
              </a:rPr>
              <a:t>approval</a:t>
            </a:r>
            <a:endParaRPr lang="en-US" sz="1300" dirty="0"/>
          </a:p>
        </p:txBody>
      </p:sp>
      <p:sp>
        <p:nvSpPr>
          <p:cNvPr id="9" name="Text 7"/>
          <p:cNvSpPr/>
          <p:nvPr/>
        </p:nvSpPr>
        <p:spPr>
          <a:xfrm>
            <a:off x="7223760" y="1783080"/>
            <a:ext cx="4023360" cy="2834640"/>
          </a:xfrm>
          <a:prstGeom prst="rect">
            <a:avLst/>
          </a:prstGeom>
          <a:solidFill>
            <a:srgbClr val="FEF7E0"/>
          </a:solidFill>
          <a:ln w="12700">
            <a:solidFill>
              <a:srgbClr val="FBBC04"/>
            </a:solidFill>
          </a:ln>
        </p:spPr>
        <p:txBody>
          <a:bodyPr wrap="square" lIns="1905" tIns="1905" rIns="1905" bIns="1905" rtlCol="0" anchor="ctr">
            <a:normAutofit/>
          </a:bodyPr>
          <a:lstStyle/>
          <a:p>
            <a:pPr indent="0" marL="0">
              <a:buNone/>
            </a:pPr>
            <a:r>
              <a:rPr lang="en-US" sz="1250" b="1" dirty="0">
                <a:solidFill>
                  <a:srgbClr val="202124"/>
                </a:solidFill>
                <a:latin typeface="Aptos" pitchFamily="34" charset="0"/>
                <a:ea typeface="Aptos" pitchFamily="34" charset="-122"/>
                <a:cs typeface="Aptos" pitchFamily="34" charset="-120"/>
              </a:rPr>
              <a:t>Judgment-intensive work
</a:t>
            </a:r>
            <a:endParaRPr lang="en-US" sz="1250" dirty="0"/>
          </a:p>
          <a:p>
            <a:pPr indent="0" marL="0">
              <a:buNone/>
            </a:pPr>
            <a:r>
              <a:rPr lang="en-US" sz="1250" dirty="0">
                <a:solidFill>
                  <a:srgbClr val="202124"/>
                </a:solidFill>
                <a:latin typeface="Aptos" pitchFamily="34" charset="0"/>
                <a:ea typeface="Aptos" pitchFamily="34" charset="-122"/>
                <a:cs typeface="Aptos" pitchFamily="34" charset="-120"/>
              </a:rPr>
              <a:t>Is the evidence relevant?</a:t>
            </a:r>
            <a:endParaRPr lang="en-US" sz="1250" dirty="0"/>
          </a:p>
          <a:p>
            <a:pPr indent="0" marL="0">
              <a:buNone/>
            </a:pPr>
            <a:r>
              <a:rPr lang="en-US" sz="1250" dirty="0">
                <a:solidFill>
                  <a:srgbClr val="202124"/>
                </a:solidFill>
                <a:latin typeface="Aptos" pitchFamily="34" charset="0"/>
                <a:ea typeface="Aptos" pitchFamily="34" charset="-122"/>
                <a:cs typeface="Aptos" pitchFamily="34" charset="-120"/>
              </a:rPr>
              <a:t>Is the account a fit?</a:t>
            </a:r>
            <a:endParaRPr lang="en-US" sz="1250" dirty="0"/>
          </a:p>
          <a:p>
            <a:pPr indent="0" marL="0">
              <a:buNone/>
            </a:pPr>
            <a:r>
              <a:rPr lang="en-US" sz="1250" dirty="0">
                <a:solidFill>
                  <a:srgbClr val="202124"/>
                </a:solidFill>
                <a:latin typeface="Aptos" pitchFamily="34" charset="0"/>
                <a:ea typeface="Aptos" pitchFamily="34" charset="-122"/>
                <a:cs typeface="Aptos" pitchFamily="34" charset="-120"/>
              </a:rPr>
              <a:t>Is there enough readiness signal?</a:t>
            </a:r>
            <a:endParaRPr lang="en-US" sz="1250" dirty="0"/>
          </a:p>
          <a:p>
            <a:pPr indent="0" marL="0">
              <a:buNone/>
            </a:pPr>
            <a:r>
              <a:rPr lang="en-US" sz="1250" dirty="0">
                <a:solidFill>
                  <a:srgbClr val="202124"/>
                </a:solidFill>
                <a:latin typeface="Aptos" pitchFamily="34" charset="0"/>
                <a:ea typeface="Aptos" pitchFamily="34" charset="-122"/>
                <a:cs typeface="Aptos" pitchFamily="34" charset="-120"/>
              </a:rPr>
              <a:t>What is known vs inferred?</a:t>
            </a:r>
            <a:endParaRPr lang="en-US" sz="1250" dirty="0"/>
          </a:p>
        </p:txBody>
      </p:sp>
      <p:sp>
        <p:nvSpPr>
          <p:cNvPr id="10" name="Text 8"/>
          <p:cNvSpPr/>
          <p:nvPr/>
        </p:nvSpPr>
        <p:spPr>
          <a:xfrm>
            <a:off x="2148840" y="5138928"/>
            <a:ext cx="7909560" cy="502920"/>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1300" b="1" dirty="0">
                <a:solidFill>
                  <a:srgbClr val="34A853"/>
                </a:solidFill>
                <a:latin typeface="Aptos" pitchFamily="34" charset="0"/>
                <a:ea typeface="Aptos" pitchFamily="34" charset="-122"/>
                <a:cs typeface="Aptos" pitchFamily="34" charset="-120"/>
              </a:rPr>
              <a:t>SDR work sits exactly where deterministic workflow and agentic judgment meet.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E6F4EA"/>
          </a:solidFill>
          <a:ln/>
        </p:spPr>
        <p:txBody>
          <a:bodyPr wrap="square" lIns="381" tIns="381" rIns="381" bIns="381" rtlCol="0" anchor="ctr">
            <a:normAutofit/>
          </a:bodyPr>
          <a:lstStyle/>
          <a:p>
            <a:pPr indent="0" marL="0">
              <a:buNone/>
            </a:pPr>
            <a:r>
              <a:rPr lang="en-US" sz="600" b="1" dirty="0">
                <a:solidFill>
                  <a:srgbClr val="34A853"/>
                </a:solidFill>
                <a:latin typeface="Aptos" pitchFamily="34" charset="0"/>
                <a:ea typeface="Aptos" pitchFamily="34" charset="-122"/>
                <a:cs typeface="Aptos" pitchFamily="34" charset="-120"/>
              </a:rPr>
              <a:t>PROBLEM</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The WidgetWare business problem</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Convert a target account into a human-reviewable sales-development package.</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WidgetWare SDR Bridge</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04</a:t>
            </a:r>
            <a:endParaRPr lang="en-US" sz="600" dirty="0"/>
          </a:p>
        </p:txBody>
      </p:sp>
      <p:sp>
        <p:nvSpPr>
          <p:cNvPr id="8" name="Text 6"/>
          <p:cNvSpPr/>
          <p:nvPr/>
        </p:nvSpPr>
        <p:spPr>
          <a:xfrm>
            <a:off x="868680" y="2743200"/>
            <a:ext cx="1600200" cy="658368"/>
          </a:xfrm>
          <a:prstGeom prst="rect">
            <a:avLst/>
          </a:prstGeom>
          <a:solidFill>
            <a:srgbClr val="F8F9FA"/>
          </a:solidFill>
          <a:ln w="12700">
            <a:solidFill>
              <a:srgbClr val="DADCE0"/>
            </a:solidFill>
          </a:ln>
        </p:spPr>
        <p:txBody>
          <a:bodyPr wrap="square" lIns="762" tIns="762" rIns="762" bIns="762" rtlCol="0" anchor="ctr">
            <a:normAutofit/>
          </a:bodyPr>
          <a:lstStyle/>
          <a:p>
            <a:pPr algn="ctr" indent="0" marL="0">
              <a:buNone/>
            </a:pPr>
            <a:r>
              <a:rPr lang="en-US" sz="1150" b="1" dirty="0">
                <a:solidFill>
                  <a:srgbClr val="DADCE0"/>
                </a:solidFill>
                <a:latin typeface="Aptos" pitchFamily="34" charset="0"/>
                <a:ea typeface="Aptos" pitchFamily="34" charset="-122"/>
                <a:cs typeface="Aptos" pitchFamily="34" charset="-120"/>
              </a:rPr>
              <a:t>Target Account</a:t>
            </a:r>
            <a:endParaRPr lang="en-US" sz="1150" dirty="0"/>
          </a:p>
        </p:txBody>
      </p:sp>
      <p:sp>
        <p:nvSpPr>
          <p:cNvPr id="9" name="Shape 7"/>
          <p:cNvSpPr/>
          <p:nvPr/>
        </p:nvSpPr>
        <p:spPr>
          <a:xfrm>
            <a:off x="2514600" y="3072384"/>
            <a:ext cx="1188720" cy="0"/>
          </a:xfrm>
          <a:prstGeom prst="line">
            <a:avLst/>
          </a:prstGeom>
          <a:noFill/>
          <a:ln w="16510">
            <a:solidFill>
              <a:srgbClr val="34A853"/>
            </a:solidFill>
            <a:prstDash val="solid"/>
            <a:tailEnd type="triangle"/>
          </a:ln>
        </p:spPr>
      </p:sp>
      <p:sp>
        <p:nvSpPr>
          <p:cNvPr id="10" name="Text 8"/>
          <p:cNvSpPr/>
          <p:nvPr/>
        </p:nvSpPr>
        <p:spPr>
          <a:xfrm>
            <a:off x="3703320" y="2743200"/>
            <a:ext cx="1691640" cy="658368"/>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1150" b="1" dirty="0">
                <a:solidFill>
                  <a:srgbClr val="4285F4"/>
                </a:solidFill>
                <a:latin typeface="Aptos" pitchFamily="34" charset="0"/>
                <a:ea typeface="Aptos" pitchFamily="34" charset="-122"/>
                <a:cs typeface="Aptos" pitchFamily="34" charset="-120"/>
              </a:rPr>
              <a:t>Evidence + Signals</a:t>
            </a:r>
            <a:endParaRPr lang="en-US" sz="1150" dirty="0"/>
          </a:p>
        </p:txBody>
      </p:sp>
      <p:sp>
        <p:nvSpPr>
          <p:cNvPr id="11" name="Shape 9"/>
          <p:cNvSpPr/>
          <p:nvPr/>
        </p:nvSpPr>
        <p:spPr>
          <a:xfrm>
            <a:off x="5440680" y="3072384"/>
            <a:ext cx="1188720" cy="0"/>
          </a:xfrm>
          <a:prstGeom prst="line">
            <a:avLst/>
          </a:prstGeom>
          <a:noFill/>
          <a:ln w="16510">
            <a:solidFill>
              <a:srgbClr val="34A853"/>
            </a:solidFill>
            <a:prstDash val="solid"/>
            <a:tailEnd type="triangle"/>
          </a:ln>
        </p:spPr>
      </p:sp>
      <p:sp>
        <p:nvSpPr>
          <p:cNvPr id="12" name="Text 10"/>
          <p:cNvSpPr/>
          <p:nvPr/>
        </p:nvSpPr>
        <p:spPr>
          <a:xfrm>
            <a:off x="6629400" y="2743200"/>
            <a:ext cx="1463040" cy="658368"/>
          </a:xfrm>
          <a:prstGeom prst="rect">
            <a:avLst/>
          </a:prstGeom>
          <a:solidFill>
            <a:srgbClr val="FEF7E0"/>
          </a:solidFill>
          <a:ln w="12700">
            <a:solidFill>
              <a:srgbClr val="FBBC04"/>
            </a:solidFill>
          </a:ln>
        </p:spPr>
        <p:txBody>
          <a:bodyPr wrap="square" lIns="762" tIns="762" rIns="762" bIns="762" rtlCol="0" anchor="ctr">
            <a:normAutofit/>
          </a:bodyPr>
          <a:lstStyle/>
          <a:p>
            <a:pPr algn="ctr" indent="0" marL="0">
              <a:buNone/>
            </a:pPr>
            <a:r>
              <a:rPr lang="en-US" sz="1150" b="1" dirty="0">
                <a:solidFill>
                  <a:srgbClr val="FBBC04"/>
                </a:solidFill>
                <a:latin typeface="Aptos" pitchFamily="34" charset="0"/>
                <a:ea typeface="Aptos" pitchFamily="34" charset="-122"/>
                <a:cs typeface="Aptos" pitchFamily="34" charset="-120"/>
              </a:rPr>
              <a:t>Qualification</a:t>
            </a:r>
            <a:endParaRPr lang="en-US" sz="1150" dirty="0"/>
          </a:p>
        </p:txBody>
      </p:sp>
      <p:sp>
        <p:nvSpPr>
          <p:cNvPr id="13" name="Shape 11"/>
          <p:cNvSpPr/>
          <p:nvPr/>
        </p:nvSpPr>
        <p:spPr>
          <a:xfrm>
            <a:off x="8138160" y="3072384"/>
            <a:ext cx="1188720" cy="0"/>
          </a:xfrm>
          <a:prstGeom prst="line">
            <a:avLst/>
          </a:prstGeom>
          <a:noFill/>
          <a:ln w="16510">
            <a:solidFill>
              <a:srgbClr val="34A853"/>
            </a:solidFill>
            <a:prstDash val="solid"/>
            <a:tailEnd type="triangle"/>
          </a:ln>
        </p:spPr>
      </p:sp>
      <p:sp>
        <p:nvSpPr>
          <p:cNvPr id="14" name="Text 12"/>
          <p:cNvSpPr/>
          <p:nvPr/>
        </p:nvSpPr>
        <p:spPr>
          <a:xfrm>
            <a:off x="9326880" y="2743200"/>
            <a:ext cx="1874520" cy="658368"/>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1150" b="1" dirty="0">
                <a:solidFill>
                  <a:srgbClr val="34A853"/>
                </a:solidFill>
                <a:latin typeface="Aptos" pitchFamily="34" charset="0"/>
                <a:ea typeface="Aptos" pitchFamily="34" charset="-122"/>
                <a:cs typeface="Aptos" pitchFamily="34" charset="-120"/>
              </a:rPr>
              <a:t>Approval Package</a:t>
            </a:r>
            <a:endParaRPr lang="en-US" sz="1150" dirty="0"/>
          </a:p>
        </p:txBody>
      </p:sp>
      <p:sp>
        <p:nvSpPr>
          <p:cNvPr id="15" name="Text 13"/>
          <p:cNvSpPr/>
          <p:nvPr/>
        </p:nvSpPr>
        <p:spPr>
          <a:xfrm>
            <a:off x="1097280" y="4297680"/>
            <a:ext cx="4206240" cy="1097280"/>
          </a:xfrm>
          <a:prstGeom prst="rect">
            <a:avLst/>
          </a:prstGeom>
          <a:solidFill>
            <a:srgbClr val="F8F9FA"/>
          </a:solidFill>
          <a:ln w="12700">
            <a:solidFill>
              <a:srgbClr val="DADCE0"/>
            </a:solidFill>
          </a:ln>
        </p:spPr>
        <p:txBody>
          <a:bodyPr wrap="square" lIns="1905" tIns="1905" rIns="1905" bIns="1905" rtlCol="0" anchor="ctr">
            <a:normAutofit/>
          </a:bodyPr>
          <a:lstStyle/>
          <a:p>
            <a:pPr indent="0" marL="0">
              <a:buNone/>
            </a:pPr>
            <a:r>
              <a:rPr lang="en-US" sz="1150" b="1" dirty="0">
                <a:solidFill>
                  <a:srgbClr val="202124"/>
                </a:solidFill>
                <a:latin typeface="Aptos" pitchFamily="34" charset="0"/>
                <a:ea typeface="Aptos" pitchFamily="34" charset="-122"/>
                <a:cs typeface="Aptos" pitchFamily="34" charset="-120"/>
              </a:rPr>
              <a:t>Required output
</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recommendation</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evidence classification</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buyer hypothesis</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draft context</a:t>
            </a:r>
            <a:endParaRPr lang="en-US" sz="1150" dirty="0"/>
          </a:p>
          <a:p>
            <a:pPr indent="0" marL="0">
              <a:buNone/>
            </a:pPr>
            <a:r>
              <a:rPr lang="en-US" sz="1150" dirty="0">
                <a:solidFill>
                  <a:srgbClr val="202124"/>
                </a:solidFill>
                <a:latin typeface="Aptos" pitchFamily="34" charset="0"/>
                <a:ea typeface="Aptos" pitchFamily="34" charset="-122"/>
                <a:cs typeface="Aptos" pitchFamily="34" charset="-120"/>
              </a:rPr>
              <a:t>human decision point</a:t>
            </a:r>
            <a:endParaRPr lang="en-US" sz="1150" dirty="0"/>
          </a:p>
        </p:txBody>
      </p:sp>
      <p:sp>
        <p:nvSpPr>
          <p:cNvPr id="16" name="Text 14"/>
          <p:cNvSpPr/>
          <p:nvPr/>
        </p:nvSpPr>
        <p:spPr>
          <a:xfrm>
            <a:off x="6583680" y="4297680"/>
            <a:ext cx="4206240" cy="1097280"/>
          </a:xfrm>
          <a:prstGeom prst="rect">
            <a:avLst/>
          </a:prstGeom>
          <a:solidFill>
            <a:srgbClr val="FCE8E6"/>
          </a:solidFill>
          <a:ln w="12700">
            <a:solidFill>
              <a:srgbClr val="EA4335"/>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Boundary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No external email, posting or CRM write-back without explicit human control.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F3E8FD"/>
          </a:solidFill>
          <a:ln/>
        </p:spPr>
        <p:txBody>
          <a:bodyPr wrap="square" lIns="381" tIns="381" rIns="381" bIns="381" rtlCol="0" anchor="ctr">
            <a:normAutofit/>
          </a:bodyPr>
          <a:lstStyle/>
          <a:p>
            <a:pPr indent="0" marL="0">
              <a:buNone/>
            </a:pPr>
            <a:r>
              <a:rPr lang="en-US" sz="600" b="1" dirty="0">
                <a:solidFill>
                  <a:srgbClr val="A142F4"/>
                </a:solidFill>
                <a:latin typeface="Aptos" pitchFamily="34" charset="0"/>
                <a:ea typeface="Aptos" pitchFamily="34" charset="-122"/>
                <a:cs typeface="Aptos" pitchFamily="34" charset="-120"/>
              </a:rPr>
              <a:t>DESIGN SPLIT</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Deterministic work and agentic work</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The goal is not to make everything agentic. The goal is correct responsibility assignment.</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WidgetWare SDR Bridge</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05</a:t>
            </a:r>
            <a:endParaRPr lang="en-US" sz="600" dirty="0"/>
          </a:p>
        </p:txBody>
      </p:sp>
      <p:sp>
        <p:nvSpPr>
          <p:cNvPr id="8" name="Text 6"/>
          <p:cNvSpPr/>
          <p:nvPr/>
        </p:nvSpPr>
        <p:spPr>
          <a:xfrm>
            <a:off x="868680" y="1783080"/>
            <a:ext cx="3931920" cy="320040"/>
          </a:xfrm>
          <a:prstGeom prst="rect">
            <a:avLst/>
          </a:prstGeom>
          <a:noFill/>
          <a:ln/>
        </p:spPr>
        <p:txBody>
          <a:bodyPr wrap="square" lIns="0" tIns="0" rIns="0" bIns="0" rtlCol="0" anchor="ctr"/>
          <a:lstStyle/>
          <a:p>
            <a:pPr indent="0" marL="0">
              <a:buNone/>
            </a:pPr>
            <a:r>
              <a:rPr lang="en-US" sz="1000" b="1" dirty="0">
                <a:solidFill>
                  <a:srgbClr val="5F6368"/>
                </a:solidFill>
              </a:rPr>
              <a:t>SDR requirement</a:t>
            </a:r>
            <a:endParaRPr lang="en-US" sz="1000" dirty="0"/>
          </a:p>
        </p:txBody>
      </p:sp>
      <p:sp>
        <p:nvSpPr>
          <p:cNvPr id="9" name="Text 7"/>
          <p:cNvSpPr/>
          <p:nvPr/>
        </p:nvSpPr>
        <p:spPr>
          <a:xfrm>
            <a:off x="6492240" y="1783080"/>
            <a:ext cx="3931920" cy="320040"/>
          </a:xfrm>
          <a:prstGeom prst="rect">
            <a:avLst/>
          </a:prstGeom>
          <a:noFill/>
          <a:ln/>
        </p:spPr>
        <p:txBody>
          <a:bodyPr wrap="square" lIns="0" tIns="0" rIns="0" bIns="0" rtlCol="0" anchor="ctr"/>
          <a:lstStyle/>
          <a:p>
            <a:pPr indent="0" marL="0">
              <a:buNone/>
            </a:pPr>
            <a:r>
              <a:rPr lang="en-US" sz="1000" b="1" dirty="0">
                <a:solidFill>
                  <a:srgbClr val="5F6368"/>
                </a:solidFill>
              </a:rPr>
              <a:t>Best mechanism</a:t>
            </a:r>
            <a:endParaRPr lang="en-US" sz="1000" dirty="0"/>
          </a:p>
        </p:txBody>
      </p:sp>
      <p:sp>
        <p:nvSpPr>
          <p:cNvPr id="10" name="Text 8"/>
          <p:cNvSpPr/>
          <p:nvPr/>
        </p:nvSpPr>
        <p:spPr>
          <a:xfrm>
            <a:off x="868680" y="2167128"/>
            <a:ext cx="4526280" cy="283464"/>
          </a:xfrm>
          <a:prstGeom prst="rect">
            <a:avLst/>
          </a:prstGeom>
          <a:solidFill>
            <a:srgbClr val="FFFFFF"/>
          </a:solidFill>
          <a:ln/>
        </p:spPr>
        <p:txBody>
          <a:bodyPr wrap="square" lIns="508" tIns="508" rIns="508" bIns="508" rtlCol="0" anchor="ctr">
            <a:normAutofit/>
          </a:bodyPr>
          <a:lstStyle/>
          <a:p>
            <a:pPr indent="0" marL="0">
              <a:buNone/>
            </a:pPr>
            <a:r>
              <a:rPr lang="en-US" sz="1030" dirty="0">
                <a:solidFill>
                  <a:srgbClr val="202124"/>
                </a:solidFill>
              </a:rPr>
              <a:t>Validate input structure</a:t>
            </a:r>
            <a:endParaRPr lang="en-US" sz="1030" dirty="0"/>
          </a:p>
        </p:txBody>
      </p:sp>
      <p:sp>
        <p:nvSpPr>
          <p:cNvPr id="11" name="Text 9"/>
          <p:cNvSpPr/>
          <p:nvPr/>
        </p:nvSpPr>
        <p:spPr>
          <a:xfrm>
            <a:off x="6492240" y="2167128"/>
            <a:ext cx="4526280" cy="283464"/>
          </a:xfrm>
          <a:prstGeom prst="rect">
            <a:avLst/>
          </a:prstGeom>
          <a:solidFill>
            <a:srgbClr val="F8F9FA"/>
          </a:solidFill>
          <a:ln w="6350">
            <a:solidFill>
              <a:srgbClr val="DADCE0"/>
            </a:solidFill>
          </a:ln>
        </p:spPr>
        <p:txBody>
          <a:bodyPr wrap="square" lIns="508" tIns="508" rIns="508" bIns="508" rtlCol="0" anchor="ctr">
            <a:normAutofit/>
          </a:bodyPr>
          <a:lstStyle/>
          <a:p>
            <a:pPr indent="0" marL="0">
              <a:buNone/>
            </a:pPr>
            <a:r>
              <a:rPr lang="en-US" sz="1030" b="1" dirty="0">
                <a:solidFill>
                  <a:srgbClr val="202124"/>
                </a:solidFill>
              </a:rPr>
              <a:t>Deterministic</a:t>
            </a:r>
            <a:endParaRPr lang="en-US" sz="1030" dirty="0"/>
          </a:p>
        </p:txBody>
      </p:sp>
      <p:sp>
        <p:nvSpPr>
          <p:cNvPr id="12" name="Text 10"/>
          <p:cNvSpPr/>
          <p:nvPr/>
        </p:nvSpPr>
        <p:spPr>
          <a:xfrm>
            <a:off x="868680" y="2578608"/>
            <a:ext cx="4526280" cy="283464"/>
          </a:xfrm>
          <a:prstGeom prst="rect">
            <a:avLst/>
          </a:prstGeom>
          <a:solidFill>
            <a:srgbClr val="F8F9FA"/>
          </a:solidFill>
          <a:ln/>
        </p:spPr>
        <p:txBody>
          <a:bodyPr wrap="square" lIns="508" tIns="508" rIns="508" bIns="508" rtlCol="0" anchor="ctr">
            <a:normAutofit/>
          </a:bodyPr>
          <a:lstStyle/>
          <a:p>
            <a:pPr indent="0" marL="0">
              <a:buNone/>
            </a:pPr>
            <a:r>
              <a:rPr lang="en-US" sz="1030" dirty="0">
                <a:solidFill>
                  <a:srgbClr val="202124"/>
                </a:solidFill>
              </a:rPr>
              <a:t>Retrieve approved context</a:t>
            </a:r>
            <a:endParaRPr lang="en-US" sz="1030" dirty="0"/>
          </a:p>
        </p:txBody>
      </p:sp>
      <p:sp>
        <p:nvSpPr>
          <p:cNvPr id="13" name="Text 11"/>
          <p:cNvSpPr/>
          <p:nvPr/>
        </p:nvSpPr>
        <p:spPr>
          <a:xfrm>
            <a:off x="6492240" y="2578608"/>
            <a:ext cx="4526280" cy="283464"/>
          </a:xfrm>
          <a:prstGeom prst="rect">
            <a:avLst/>
          </a:prstGeom>
          <a:solidFill>
            <a:srgbClr val="E8F0FE"/>
          </a:solidFill>
          <a:ln w="6350">
            <a:solidFill>
              <a:srgbClr val="4285F4"/>
            </a:solidFill>
          </a:ln>
        </p:spPr>
        <p:txBody>
          <a:bodyPr wrap="square" lIns="508" tIns="508" rIns="508" bIns="508" rtlCol="0" anchor="ctr">
            <a:normAutofit/>
          </a:bodyPr>
          <a:lstStyle/>
          <a:p>
            <a:pPr indent="0" marL="0">
              <a:buNone/>
            </a:pPr>
            <a:r>
              <a:rPr lang="en-US" sz="1030" b="1" dirty="0">
                <a:solidFill>
                  <a:srgbClr val="202124"/>
                </a:solidFill>
              </a:rPr>
              <a:t>Controlled tool</a:t>
            </a:r>
            <a:endParaRPr lang="en-US" sz="1030" dirty="0"/>
          </a:p>
        </p:txBody>
      </p:sp>
      <p:sp>
        <p:nvSpPr>
          <p:cNvPr id="14" name="Text 12"/>
          <p:cNvSpPr/>
          <p:nvPr/>
        </p:nvSpPr>
        <p:spPr>
          <a:xfrm>
            <a:off x="868680" y="2990088"/>
            <a:ext cx="4526280" cy="283464"/>
          </a:xfrm>
          <a:prstGeom prst="rect">
            <a:avLst/>
          </a:prstGeom>
          <a:solidFill>
            <a:srgbClr val="FFFFFF"/>
          </a:solidFill>
          <a:ln/>
        </p:spPr>
        <p:txBody>
          <a:bodyPr wrap="square" lIns="508" tIns="508" rIns="508" bIns="508" rtlCol="0" anchor="ctr">
            <a:normAutofit/>
          </a:bodyPr>
          <a:lstStyle/>
          <a:p>
            <a:pPr indent="0" marL="0">
              <a:buNone/>
            </a:pPr>
            <a:r>
              <a:rPr lang="en-US" sz="1030" dirty="0">
                <a:solidFill>
                  <a:srgbClr val="202124"/>
                </a:solidFill>
              </a:rPr>
              <a:t>Interpret weak signals</a:t>
            </a:r>
            <a:endParaRPr lang="en-US" sz="1030" dirty="0"/>
          </a:p>
        </p:txBody>
      </p:sp>
      <p:sp>
        <p:nvSpPr>
          <p:cNvPr id="15" name="Text 13"/>
          <p:cNvSpPr/>
          <p:nvPr/>
        </p:nvSpPr>
        <p:spPr>
          <a:xfrm>
            <a:off x="6492240" y="2990088"/>
            <a:ext cx="4526280" cy="283464"/>
          </a:xfrm>
          <a:prstGeom prst="rect">
            <a:avLst/>
          </a:prstGeom>
          <a:solidFill>
            <a:srgbClr val="E6F4EA"/>
          </a:solidFill>
          <a:ln w="6350">
            <a:solidFill>
              <a:srgbClr val="34A853"/>
            </a:solidFill>
          </a:ln>
        </p:spPr>
        <p:txBody>
          <a:bodyPr wrap="square" lIns="508" tIns="508" rIns="508" bIns="508" rtlCol="0" anchor="ctr">
            <a:normAutofit/>
          </a:bodyPr>
          <a:lstStyle/>
          <a:p>
            <a:pPr indent="0" marL="0">
              <a:buNone/>
            </a:pPr>
            <a:r>
              <a:rPr lang="en-US" sz="1030" b="1" dirty="0">
                <a:solidFill>
                  <a:srgbClr val="202124"/>
                </a:solidFill>
              </a:rPr>
              <a:t>Model reasoning</a:t>
            </a:r>
            <a:endParaRPr lang="en-US" sz="1030" dirty="0"/>
          </a:p>
        </p:txBody>
      </p:sp>
      <p:sp>
        <p:nvSpPr>
          <p:cNvPr id="16" name="Text 14"/>
          <p:cNvSpPr/>
          <p:nvPr/>
        </p:nvSpPr>
        <p:spPr>
          <a:xfrm>
            <a:off x="868680" y="3401568"/>
            <a:ext cx="4526280" cy="283464"/>
          </a:xfrm>
          <a:prstGeom prst="rect">
            <a:avLst/>
          </a:prstGeom>
          <a:solidFill>
            <a:srgbClr val="F8F9FA"/>
          </a:solidFill>
          <a:ln/>
        </p:spPr>
        <p:txBody>
          <a:bodyPr wrap="square" lIns="508" tIns="508" rIns="508" bIns="508" rtlCol="0" anchor="ctr">
            <a:normAutofit/>
          </a:bodyPr>
          <a:lstStyle/>
          <a:p>
            <a:pPr indent="0" marL="0">
              <a:buNone/>
            </a:pPr>
            <a:r>
              <a:rPr lang="en-US" sz="1030" dirty="0">
                <a:solidFill>
                  <a:srgbClr val="202124"/>
                </a:solidFill>
              </a:rPr>
              <a:t>Compare fit and readiness</a:t>
            </a:r>
            <a:endParaRPr lang="en-US" sz="1030" dirty="0"/>
          </a:p>
        </p:txBody>
      </p:sp>
      <p:sp>
        <p:nvSpPr>
          <p:cNvPr id="17" name="Text 15"/>
          <p:cNvSpPr/>
          <p:nvPr/>
        </p:nvSpPr>
        <p:spPr>
          <a:xfrm>
            <a:off x="6492240" y="3401568"/>
            <a:ext cx="4526280" cy="283464"/>
          </a:xfrm>
          <a:prstGeom prst="rect">
            <a:avLst/>
          </a:prstGeom>
          <a:solidFill>
            <a:srgbClr val="E6F4EA"/>
          </a:solidFill>
          <a:ln w="6350">
            <a:solidFill>
              <a:srgbClr val="34A853"/>
            </a:solidFill>
          </a:ln>
        </p:spPr>
        <p:txBody>
          <a:bodyPr wrap="square" lIns="508" tIns="508" rIns="508" bIns="508" rtlCol="0" anchor="ctr">
            <a:normAutofit/>
          </a:bodyPr>
          <a:lstStyle/>
          <a:p>
            <a:pPr indent="0" marL="0">
              <a:buNone/>
            </a:pPr>
            <a:r>
              <a:rPr lang="en-US" sz="1030" b="1" dirty="0">
                <a:solidFill>
                  <a:srgbClr val="202124"/>
                </a:solidFill>
              </a:rPr>
              <a:t>Model reasoning</a:t>
            </a:r>
            <a:endParaRPr lang="en-US" sz="1030" dirty="0"/>
          </a:p>
        </p:txBody>
      </p:sp>
      <p:sp>
        <p:nvSpPr>
          <p:cNvPr id="18" name="Text 16"/>
          <p:cNvSpPr/>
          <p:nvPr/>
        </p:nvSpPr>
        <p:spPr>
          <a:xfrm>
            <a:off x="868680" y="3813048"/>
            <a:ext cx="4526280" cy="283464"/>
          </a:xfrm>
          <a:prstGeom prst="rect">
            <a:avLst/>
          </a:prstGeom>
          <a:solidFill>
            <a:srgbClr val="FFFFFF"/>
          </a:solidFill>
          <a:ln/>
        </p:spPr>
        <p:txBody>
          <a:bodyPr wrap="square" lIns="508" tIns="508" rIns="508" bIns="508" rtlCol="0" anchor="ctr">
            <a:normAutofit/>
          </a:bodyPr>
          <a:lstStyle/>
          <a:p>
            <a:pPr indent="0" marL="0">
              <a:buNone/>
            </a:pPr>
            <a:r>
              <a:rPr lang="en-US" sz="1030" dirty="0">
                <a:solidFill>
                  <a:srgbClr val="202124"/>
                </a:solidFill>
              </a:rPr>
              <a:t>Validate output schema</a:t>
            </a:r>
            <a:endParaRPr lang="en-US" sz="1030" dirty="0"/>
          </a:p>
        </p:txBody>
      </p:sp>
      <p:sp>
        <p:nvSpPr>
          <p:cNvPr id="19" name="Text 17"/>
          <p:cNvSpPr/>
          <p:nvPr/>
        </p:nvSpPr>
        <p:spPr>
          <a:xfrm>
            <a:off x="6492240" y="3813048"/>
            <a:ext cx="4526280" cy="283464"/>
          </a:xfrm>
          <a:prstGeom prst="rect">
            <a:avLst/>
          </a:prstGeom>
          <a:solidFill>
            <a:srgbClr val="F8F9FA"/>
          </a:solidFill>
          <a:ln w="6350">
            <a:solidFill>
              <a:srgbClr val="DADCE0"/>
            </a:solidFill>
          </a:ln>
        </p:spPr>
        <p:txBody>
          <a:bodyPr wrap="square" lIns="508" tIns="508" rIns="508" bIns="508" rtlCol="0" anchor="ctr">
            <a:normAutofit/>
          </a:bodyPr>
          <a:lstStyle/>
          <a:p>
            <a:pPr indent="0" marL="0">
              <a:buNone/>
            </a:pPr>
            <a:r>
              <a:rPr lang="en-US" sz="1030" b="1" dirty="0">
                <a:solidFill>
                  <a:srgbClr val="202124"/>
                </a:solidFill>
              </a:rPr>
              <a:t>Deterministic</a:t>
            </a:r>
            <a:endParaRPr lang="en-US" sz="1030" dirty="0"/>
          </a:p>
        </p:txBody>
      </p:sp>
      <p:sp>
        <p:nvSpPr>
          <p:cNvPr id="20" name="Text 18"/>
          <p:cNvSpPr/>
          <p:nvPr/>
        </p:nvSpPr>
        <p:spPr>
          <a:xfrm>
            <a:off x="868680" y="4224528"/>
            <a:ext cx="4526280" cy="283464"/>
          </a:xfrm>
          <a:prstGeom prst="rect">
            <a:avLst/>
          </a:prstGeom>
          <a:solidFill>
            <a:srgbClr val="F8F9FA"/>
          </a:solidFill>
          <a:ln/>
        </p:spPr>
        <p:txBody>
          <a:bodyPr wrap="square" lIns="508" tIns="508" rIns="508" bIns="508" rtlCol="0" anchor="ctr">
            <a:normAutofit/>
          </a:bodyPr>
          <a:lstStyle/>
          <a:p>
            <a:pPr indent="0" marL="0">
              <a:buNone/>
            </a:pPr>
            <a:r>
              <a:rPr lang="en-US" sz="1030" dirty="0">
                <a:solidFill>
                  <a:srgbClr val="202124"/>
                </a:solidFill>
              </a:rPr>
              <a:t>Draft relevant message</a:t>
            </a:r>
            <a:endParaRPr lang="en-US" sz="1030" dirty="0"/>
          </a:p>
        </p:txBody>
      </p:sp>
      <p:sp>
        <p:nvSpPr>
          <p:cNvPr id="21" name="Text 19"/>
          <p:cNvSpPr/>
          <p:nvPr/>
        </p:nvSpPr>
        <p:spPr>
          <a:xfrm>
            <a:off x="6492240" y="4224528"/>
            <a:ext cx="4526280" cy="283464"/>
          </a:xfrm>
          <a:prstGeom prst="rect">
            <a:avLst/>
          </a:prstGeom>
          <a:solidFill>
            <a:srgbClr val="E6F4EA"/>
          </a:solidFill>
          <a:ln w="6350">
            <a:solidFill>
              <a:srgbClr val="34A853"/>
            </a:solidFill>
          </a:ln>
        </p:spPr>
        <p:txBody>
          <a:bodyPr wrap="square" lIns="508" tIns="508" rIns="508" bIns="508" rtlCol="0" anchor="ctr">
            <a:normAutofit/>
          </a:bodyPr>
          <a:lstStyle/>
          <a:p>
            <a:pPr indent="0" marL="0">
              <a:buNone/>
            </a:pPr>
            <a:r>
              <a:rPr lang="en-US" sz="1030" b="1" dirty="0">
                <a:solidFill>
                  <a:srgbClr val="202124"/>
                </a:solidFill>
              </a:rPr>
              <a:t>Model reasoning</a:t>
            </a:r>
            <a:endParaRPr lang="en-US" sz="1030" dirty="0"/>
          </a:p>
        </p:txBody>
      </p:sp>
      <p:sp>
        <p:nvSpPr>
          <p:cNvPr id="22" name="Text 20"/>
          <p:cNvSpPr/>
          <p:nvPr/>
        </p:nvSpPr>
        <p:spPr>
          <a:xfrm>
            <a:off x="868680" y="4636008"/>
            <a:ext cx="4526280" cy="283464"/>
          </a:xfrm>
          <a:prstGeom prst="rect">
            <a:avLst/>
          </a:prstGeom>
          <a:solidFill>
            <a:srgbClr val="FFFFFF"/>
          </a:solidFill>
          <a:ln/>
        </p:spPr>
        <p:txBody>
          <a:bodyPr wrap="square" lIns="508" tIns="508" rIns="508" bIns="508" rtlCol="0" anchor="ctr">
            <a:normAutofit/>
          </a:bodyPr>
          <a:lstStyle/>
          <a:p>
            <a:pPr indent="0" marL="0">
              <a:buNone/>
            </a:pPr>
            <a:r>
              <a:rPr lang="en-US" sz="1030" dirty="0">
                <a:solidFill>
                  <a:srgbClr val="202124"/>
                </a:solidFill>
              </a:rPr>
              <a:t>Authorize external action</a:t>
            </a:r>
            <a:endParaRPr lang="en-US" sz="1030" dirty="0"/>
          </a:p>
        </p:txBody>
      </p:sp>
      <p:sp>
        <p:nvSpPr>
          <p:cNvPr id="23" name="Text 21"/>
          <p:cNvSpPr/>
          <p:nvPr/>
        </p:nvSpPr>
        <p:spPr>
          <a:xfrm>
            <a:off x="6492240" y="4636008"/>
            <a:ext cx="4526280" cy="283464"/>
          </a:xfrm>
          <a:prstGeom prst="rect">
            <a:avLst/>
          </a:prstGeom>
          <a:solidFill>
            <a:srgbClr val="FCE8E6"/>
          </a:solidFill>
          <a:ln w="6350">
            <a:solidFill>
              <a:srgbClr val="EA4335"/>
            </a:solidFill>
          </a:ln>
        </p:spPr>
        <p:txBody>
          <a:bodyPr wrap="square" lIns="508" tIns="508" rIns="508" bIns="508" rtlCol="0" anchor="ctr">
            <a:normAutofit/>
          </a:bodyPr>
          <a:lstStyle/>
          <a:p>
            <a:pPr indent="0" marL="0">
              <a:buNone/>
            </a:pPr>
            <a:r>
              <a:rPr lang="en-US" sz="1030" b="1" dirty="0">
                <a:solidFill>
                  <a:srgbClr val="202124"/>
                </a:solidFill>
              </a:rPr>
              <a:t>Human policy</a:t>
            </a:r>
            <a:endParaRPr lang="en-US" sz="1030" dirty="0"/>
          </a:p>
        </p:txBody>
      </p:sp>
      <p:sp>
        <p:nvSpPr>
          <p:cNvPr id="24" name="Text 22"/>
          <p:cNvSpPr/>
          <p:nvPr/>
        </p:nvSpPr>
        <p:spPr>
          <a:xfrm>
            <a:off x="1417320" y="5486400"/>
            <a:ext cx="9326880" cy="411480"/>
          </a:xfrm>
          <a:prstGeom prst="rect">
            <a:avLst/>
          </a:prstGeom>
          <a:noFill/>
          <a:ln/>
        </p:spPr>
        <p:txBody>
          <a:bodyPr wrap="square" lIns="508" tIns="508" rIns="508" bIns="508" rtlCol="0" anchor="ctr">
            <a:normAutofit/>
          </a:bodyPr>
          <a:lstStyle/>
          <a:p>
            <a:pPr algn="ctr" indent="0" marL="0">
              <a:buNone/>
            </a:pPr>
            <a:r>
              <a:rPr lang="en-US" sz="2300" b="1" dirty="0">
                <a:solidFill>
                  <a:srgbClr val="202124"/>
                </a:solidFill>
                <a:latin typeface="Aptos Display" pitchFamily="34" charset="0"/>
                <a:ea typeface="Aptos Display" pitchFamily="34" charset="-122"/>
                <a:cs typeface="Aptos Display" pitchFamily="34" charset="-120"/>
              </a:rPr>
              <a:t>Good architecture keeps rules, reasoning and authority separate.</a:t>
            </a:r>
            <a:endParaRPr lang="en-US" sz="2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E8F0FE"/>
          </a:solidFill>
          <a:ln/>
        </p:spPr>
        <p:txBody>
          <a:bodyPr wrap="square" lIns="381" tIns="381" rIns="381" bIns="381" rtlCol="0" anchor="ctr">
            <a:normAutofit/>
          </a:bodyPr>
          <a:lstStyle/>
          <a:p>
            <a:pPr indent="0" marL="0">
              <a:buNone/>
            </a:pPr>
            <a:r>
              <a:rPr lang="en-US" sz="600" b="1" dirty="0">
                <a:solidFill>
                  <a:srgbClr val="4285F4"/>
                </a:solidFill>
                <a:latin typeface="Aptos" pitchFamily="34" charset="0"/>
                <a:ea typeface="Aptos" pitchFamily="34" charset="-122"/>
                <a:cs typeface="Aptos" pitchFamily="34" charset="-120"/>
              </a:rPr>
              <a:t>WORKFLOW</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The WidgetWare agent workflow</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The system creates inspectable intermediate artifacts instead of relying on one giant prompt.</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WidgetWare SDR Bridge</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06</a:t>
            </a:r>
            <a:endParaRPr lang="en-US" sz="600" dirty="0"/>
          </a:p>
        </p:txBody>
      </p:sp>
      <p:sp>
        <p:nvSpPr>
          <p:cNvPr id="8" name="Shape 6"/>
          <p:cNvSpPr/>
          <p:nvPr/>
        </p:nvSpPr>
        <p:spPr>
          <a:xfrm>
            <a:off x="1947672" y="2880360"/>
            <a:ext cx="512064" cy="0"/>
          </a:xfrm>
          <a:prstGeom prst="line">
            <a:avLst/>
          </a:prstGeom>
          <a:noFill/>
          <a:ln w="13970">
            <a:solidFill>
              <a:srgbClr val="4285F4"/>
            </a:solidFill>
            <a:prstDash val="solid"/>
            <a:tailEnd type="triangle"/>
          </a:ln>
        </p:spPr>
      </p:sp>
      <p:sp>
        <p:nvSpPr>
          <p:cNvPr id="9" name="Shape 7"/>
          <p:cNvSpPr/>
          <p:nvPr/>
        </p:nvSpPr>
        <p:spPr>
          <a:xfrm>
            <a:off x="3520440" y="2880360"/>
            <a:ext cx="512064" cy="0"/>
          </a:xfrm>
          <a:prstGeom prst="line">
            <a:avLst/>
          </a:prstGeom>
          <a:noFill/>
          <a:ln w="13970">
            <a:solidFill>
              <a:srgbClr val="4285F4"/>
            </a:solidFill>
            <a:prstDash val="solid"/>
            <a:tailEnd type="triangle"/>
          </a:ln>
        </p:spPr>
      </p:sp>
      <p:sp>
        <p:nvSpPr>
          <p:cNvPr id="10" name="Shape 8"/>
          <p:cNvSpPr/>
          <p:nvPr/>
        </p:nvSpPr>
        <p:spPr>
          <a:xfrm>
            <a:off x="5093208" y="2880360"/>
            <a:ext cx="512064" cy="0"/>
          </a:xfrm>
          <a:prstGeom prst="line">
            <a:avLst/>
          </a:prstGeom>
          <a:noFill/>
          <a:ln w="13970">
            <a:solidFill>
              <a:srgbClr val="4285F4"/>
            </a:solidFill>
            <a:prstDash val="solid"/>
            <a:tailEnd type="triangle"/>
          </a:ln>
        </p:spPr>
      </p:sp>
      <p:sp>
        <p:nvSpPr>
          <p:cNvPr id="11" name="Shape 9"/>
          <p:cNvSpPr/>
          <p:nvPr/>
        </p:nvSpPr>
        <p:spPr>
          <a:xfrm>
            <a:off x="6665976" y="2880360"/>
            <a:ext cx="512064" cy="0"/>
          </a:xfrm>
          <a:prstGeom prst="line">
            <a:avLst/>
          </a:prstGeom>
          <a:noFill/>
          <a:ln w="13970">
            <a:solidFill>
              <a:srgbClr val="4285F4"/>
            </a:solidFill>
            <a:prstDash val="solid"/>
            <a:tailEnd type="triangle"/>
          </a:ln>
        </p:spPr>
      </p:sp>
      <p:sp>
        <p:nvSpPr>
          <p:cNvPr id="12" name="Shape 10"/>
          <p:cNvSpPr/>
          <p:nvPr/>
        </p:nvSpPr>
        <p:spPr>
          <a:xfrm>
            <a:off x="8238744" y="2880360"/>
            <a:ext cx="512064" cy="0"/>
          </a:xfrm>
          <a:prstGeom prst="line">
            <a:avLst/>
          </a:prstGeom>
          <a:noFill/>
          <a:ln w="13970">
            <a:solidFill>
              <a:srgbClr val="4285F4"/>
            </a:solidFill>
            <a:prstDash val="solid"/>
            <a:tailEnd type="triangle"/>
          </a:ln>
        </p:spPr>
      </p:sp>
      <p:sp>
        <p:nvSpPr>
          <p:cNvPr id="13" name="Shape 11"/>
          <p:cNvSpPr/>
          <p:nvPr/>
        </p:nvSpPr>
        <p:spPr>
          <a:xfrm>
            <a:off x="9811512" y="2880360"/>
            <a:ext cx="512064" cy="0"/>
          </a:xfrm>
          <a:prstGeom prst="line">
            <a:avLst/>
          </a:prstGeom>
          <a:noFill/>
          <a:ln w="13970">
            <a:solidFill>
              <a:srgbClr val="4285F4"/>
            </a:solidFill>
            <a:prstDash val="solid"/>
            <a:tailEnd type="triangle"/>
          </a:ln>
        </p:spPr>
      </p:sp>
      <p:sp>
        <p:nvSpPr>
          <p:cNvPr id="14" name="Text 12"/>
          <p:cNvSpPr/>
          <p:nvPr/>
        </p:nvSpPr>
        <p:spPr>
          <a:xfrm>
            <a:off x="841248" y="2542032"/>
            <a:ext cx="1115568" cy="685800"/>
          </a:xfrm>
          <a:prstGeom prst="rect">
            <a:avLst/>
          </a:prstGeom>
          <a:solidFill>
            <a:srgbClr val="F8F9FA"/>
          </a:solidFill>
          <a:ln w="12700">
            <a:solidFill>
              <a:srgbClr val="DADCE0"/>
            </a:solidFill>
          </a:ln>
        </p:spPr>
        <p:txBody>
          <a:bodyPr wrap="square" lIns="762" tIns="762" rIns="762" bIns="762" rtlCol="0" anchor="ctr">
            <a:normAutofit/>
          </a:bodyPr>
          <a:lstStyle/>
          <a:p>
            <a:pPr algn="ctr" indent="0" marL="0">
              <a:buNone/>
            </a:pPr>
            <a:r>
              <a:rPr lang="en-US" sz="960" b="1" dirty="0">
                <a:solidFill>
                  <a:srgbClr val="DADCE0"/>
                </a:solidFill>
                <a:latin typeface="Aptos" pitchFamily="34" charset="0"/>
                <a:ea typeface="Aptos" pitchFamily="34" charset="-122"/>
                <a:cs typeface="Aptos" pitchFamily="34" charset="-120"/>
              </a:rPr>
              <a:t>Intake</a:t>
            </a:r>
            <a:endParaRPr lang="en-US" sz="960" dirty="0"/>
          </a:p>
        </p:txBody>
      </p:sp>
      <p:sp>
        <p:nvSpPr>
          <p:cNvPr id="15" name="Text 13"/>
          <p:cNvSpPr/>
          <p:nvPr/>
        </p:nvSpPr>
        <p:spPr>
          <a:xfrm>
            <a:off x="2414016" y="2542032"/>
            <a:ext cx="1115568" cy="685800"/>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960" b="1" dirty="0">
                <a:solidFill>
                  <a:srgbClr val="34A853"/>
                </a:solidFill>
                <a:latin typeface="Aptos" pitchFamily="34" charset="0"/>
                <a:ea typeface="Aptos" pitchFamily="34" charset="-122"/>
                <a:cs typeface="Aptos" pitchFamily="34" charset="-120"/>
              </a:rPr>
              <a:t>Research</a:t>
            </a:r>
            <a:endParaRPr lang="en-US" sz="960" dirty="0"/>
          </a:p>
        </p:txBody>
      </p:sp>
      <p:sp>
        <p:nvSpPr>
          <p:cNvPr id="16" name="Text 14"/>
          <p:cNvSpPr/>
          <p:nvPr/>
        </p:nvSpPr>
        <p:spPr>
          <a:xfrm>
            <a:off x="3986784" y="2542032"/>
            <a:ext cx="1115568" cy="685800"/>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960" b="1" dirty="0">
                <a:solidFill>
                  <a:srgbClr val="4285F4"/>
                </a:solidFill>
                <a:latin typeface="Aptos" pitchFamily="34" charset="0"/>
                <a:ea typeface="Aptos" pitchFamily="34" charset="-122"/>
                <a:cs typeface="Aptos" pitchFamily="34" charset="-120"/>
              </a:rPr>
              <a:t>Evidence</a:t>
            </a:r>
            <a:endParaRPr lang="en-US" sz="960" dirty="0"/>
          </a:p>
        </p:txBody>
      </p:sp>
      <p:sp>
        <p:nvSpPr>
          <p:cNvPr id="17" name="Text 15"/>
          <p:cNvSpPr/>
          <p:nvPr/>
        </p:nvSpPr>
        <p:spPr>
          <a:xfrm>
            <a:off x="5559552" y="2542032"/>
            <a:ext cx="1115568" cy="685800"/>
          </a:xfrm>
          <a:prstGeom prst="rect">
            <a:avLst/>
          </a:prstGeom>
          <a:solidFill>
            <a:srgbClr val="FEF7E0"/>
          </a:solidFill>
          <a:ln w="12700">
            <a:solidFill>
              <a:srgbClr val="FBBC04"/>
            </a:solidFill>
          </a:ln>
        </p:spPr>
        <p:txBody>
          <a:bodyPr wrap="square" lIns="762" tIns="762" rIns="762" bIns="762" rtlCol="0" anchor="ctr">
            <a:normAutofit/>
          </a:bodyPr>
          <a:lstStyle/>
          <a:p>
            <a:pPr algn="ctr" indent="0" marL="0">
              <a:buNone/>
            </a:pPr>
            <a:r>
              <a:rPr lang="en-US" sz="960" b="1" dirty="0">
                <a:solidFill>
                  <a:srgbClr val="FBBC04"/>
                </a:solidFill>
                <a:latin typeface="Aptos" pitchFamily="34" charset="0"/>
                <a:ea typeface="Aptos" pitchFamily="34" charset="-122"/>
                <a:cs typeface="Aptos" pitchFamily="34" charset="-120"/>
              </a:rPr>
              <a:t>Qualify</a:t>
            </a:r>
            <a:endParaRPr lang="en-US" sz="960" dirty="0"/>
          </a:p>
        </p:txBody>
      </p:sp>
      <p:sp>
        <p:nvSpPr>
          <p:cNvPr id="18" name="Text 16"/>
          <p:cNvSpPr/>
          <p:nvPr/>
        </p:nvSpPr>
        <p:spPr>
          <a:xfrm>
            <a:off x="7132320" y="2542032"/>
            <a:ext cx="1115568" cy="685800"/>
          </a:xfrm>
          <a:prstGeom prst="rect">
            <a:avLst/>
          </a:prstGeom>
          <a:solidFill>
            <a:srgbClr val="F3E8FD"/>
          </a:solidFill>
          <a:ln w="12700">
            <a:solidFill>
              <a:srgbClr val="A142F4"/>
            </a:solidFill>
          </a:ln>
        </p:spPr>
        <p:txBody>
          <a:bodyPr wrap="square" lIns="762" tIns="762" rIns="762" bIns="762" rtlCol="0" anchor="ctr">
            <a:normAutofit/>
          </a:bodyPr>
          <a:lstStyle/>
          <a:p>
            <a:pPr algn="ctr" indent="0" marL="0">
              <a:buNone/>
            </a:pPr>
            <a:r>
              <a:rPr lang="en-US" sz="960" b="1" dirty="0">
                <a:solidFill>
                  <a:srgbClr val="A142F4"/>
                </a:solidFill>
                <a:latin typeface="Aptos" pitchFamily="34" charset="0"/>
                <a:ea typeface="Aptos" pitchFamily="34" charset="-122"/>
                <a:cs typeface="Aptos" pitchFamily="34" charset="-120"/>
              </a:rPr>
              <a:t>Review</a:t>
            </a:r>
            <a:endParaRPr lang="en-US" sz="960" dirty="0"/>
          </a:p>
        </p:txBody>
      </p:sp>
      <p:sp>
        <p:nvSpPr>
          <p:cNvPr id="19" name="Text 17"/>
          <p:cNvSpPr/>
          <p:nvPr/>
        </p:nvSpPr>
        <p:spPr>
          <a:xfrm>
            <a:off x="8705088" y="2542032"/>
            <a:ext cx="1115568" cy="685800"/>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960" b="1" dirty="0">
                <a:solidFill>
                  <a:srgbClr val="34A853"/>
                </a:solidFill>
                <a:latin typeface="Aptos" pitchFamily="34" charset="0"/>
                <a:ea typeface="Aptos" pitchFamily="34" charset="-122"/>
                <a:cs typeface="Aptos" pitchFamily="34" charset="-120"/>
              </a:rPr>
              <a:t>Draft</a:t>
            </a:r>
            <a:endParaRPr lang="en-US" sz="960" dirty="0"/>
          </a:p>
        </p:txBody>
      </p:sp>
      <p:sp>
        <p:nvSpPr>
          <p:cNvPr id="20" name="Text 18"/>
          <p:cNvSpPr/>
          <p:nvPr/>
        </p:nvSpPr>
        <p:spPr>
          <a:xfrm>
            <a:off x="10277856" y="2542032"/>
            <a:ext cx="1115568" cy="685800"/>
          </a:xfrm>
          <a:prstGeom prst="rect">
            <a:avLst/>
          </a:prstGeom>
          <a:solidFill>
            <a:srgbClr val="FCE8E6"/>
          </a:solidFill>
          <a:ln w="12700">
            <a:solidFill>
              <a:srgbClr val="EA4335"/>
            </a:solidFill>
          </a:ln>
        </p:spPr>
        <p:txBody>
          <a:bodyPr wrap="square" lIns="762" tIns="762" rIns="762" bIns="762" rtlCol="0" anchor="ctr">
            <a:normAutofit/>
          </a:bodyPr>
          <a:lstStyle/>
          <a:p>
            <a:pPr algn="ctr" indent="0" marL="0">
              <a:buNone/>
            </a:pPr>
            <a:r>
              <a:rPr lang="en-US" sz="960" b="1" dirty="0">
                <a:solidFill>
                  <a:srgbClr val="EA4335"/>
                </a:solidFill>
                <a:latin typeface="Aptos" pitchFamily="34" charset="0"/>
                <a:ea typeface="Aptos" pitchFamily="34" charset="-122"/>
                <a:cs typeface="Aptos" pitchFamily="34" charset="-120"/>
              </a:rPr>
              <a:t>Approve</a:t>
            </a:r>
            <a:endParaRPr lang="en-US" sz="960" dirty="0"/>
          </a:p>
        </p:txBody>
      </p:sp>
      <p:sp>
        <p:nvSpPr>
          <p:cNvPr id="21" name="Text 19"/>
          <p:cNvSpPr/>
          <p:nvPr/>
        </p:nvSpPr>
        <p:spPr>
          <a:xfrm>
            <a:off x="914400" y="4160520"/>
            <a:ext cx="3931920" cy="1234440"/>
          </a:xfrm>
          <a:prstGeom prst="rect">
            <a:avLst/>
          </a:prstGeom>
          <a:solidFill>
            <a:srgbClr val="F8F9FA"/>
          </a:solidFill>
          <a:ln w="12700">
            <a:solidFill>
              <a:srgbClr val="DADCE0"/>
            </a:solidFill>
          </a:ln>
        </p:spPr>
        <p:txBody>
          <a:bodyPr wrap="square" lIns="1905" tIns="1905" rIns="1905" bIns="1905" rtlCol="0" anchor="ctr">
            <a:normAutofit/>
          </a:bodyPr>
          <a:lstStyle/>
          <a:p>
            <a:pPr indent="0" marL="0">
              <a:buNone/>
            </a:pPr>
            <a:r>
              <a:rPr lang="en-US" sz="1100" b="1" dirty="0">
                <a:solidFill>
                  <a:srgbClr val="202124"/>
                </a:solidFill>
                <a:latin typeface="Aptos" pitchFamily="34" charset="0"/>
                <a:ea typeface="Aptos" pitchFamily="34" charset="-122"/>
                <a:cs typeface="Aptos" pitchFamily="34" charset="-120"/>
              </a:rPr>
              <a:t>Inspectable artifacts
</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research notes</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evidence labels</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qualification record</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review comments</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draft package</a:t>
            </a:r>
            <a:endParaRPr lang="en-US" sz="1100" dirty="0"/>
          </a:p>
          <a:p>
            <a:pPr indent="0" marL="0">
              <a:buNone/>
            </a:pPr>
            <a:r>
              <a:rPr lang="en-US" sz="1100" dirty="0">
                <a:solidFill>
                  <a:srgbClr val="202124"/>
                </a:solidFill>
                <a:latin typeface="Aptos" pitchFamily="34" charset="0"/>
                <a:ea typeface="Aptos" pitchFamily="34" charset="-122"/>
                <a:cs typeface="Aptos" pitchFamily="34" charset="-120"/>
              </a:rPr>
              <a:t>human decision</a:t>
            </a:r>
            <a:endParaRPr lang="en-US" sz="1100" dirty="0"/>
          </a:p>
        </p:txBody>
      </p:sp>
      <p:sp>
        <p:nvSpPr>
          <p:cNvPr id="22" name="Text 20"/>
          <p:cNvSpPr/>
          <p:nvPr/>
        </p:nvSpPr>
        <p:spPr>
          <a:xfrm>
            <a:off x="7223760" y="4160520"/>
            <a:ext cx="3931920" cy="1234440"/>
          </a:xfrm>
          <a:prstGeom prst="rect">
            <a:avLst/>
          </a:prstGeom>
          <a:solidFill>
            <a:srgbClr val="E6F4EA"/>
          </a:solidFill>
          <a:ln w="12700">
            <a:solidFill>
              <a:srgbClr val="34A853"/>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Engineering benefit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Every stage can be tested, reviewed, traced and improved independently.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E6F4EA"/>
          </a:solidFill>
          <a:ln/>
        </p:spPr>
        <p:txBody>
          <a:bodyPr wrap="square" lIns="381" tIns="381" rIns="381" bIns="381" rtlCol="0" anchor="ctr">
            <a:normAutofit/>
          </a:bodyPr>
          <a:lstStyle/>
          <a:p>
            <a:pPr indent="0" marL="0">
              <a:buNone/>
            </a:pPr>
            <a:r>
              <a:rPr lang="en-US" sz="600" b="1" dirty="0">
                <a:solidFill>
                  <a:srgbClr val="34A853"/>
                </a:solidFill>
                <a:latin typeface="Aptos" pitchFamily="34" charset="0"/>
                <a:ea typeface="Aptos" pitchFamily="34" charset="-122"/>
                <a:cs typeface="Aptos" pitchFamily="34" charset="-120"/>
              </a:rPr>
              <a:t>SEVEN-STEP MAP</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The Seven Steps applied to WidgetWare</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Each step becomes a concrete part of the SDR system.</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WidgetWare SDR Bridge</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07</a:t>
            </a:r>
            <a:endParaRPr lang="en-US" sz="600" dirty="0"/>
          </a:p>
        </p:txBody>
      </p:sp>
      <p:sp>
        <p:nvSpPr>
          <p:cNvPr id="8" name="Text 6"/>
          <p:cNvSpPr/>
          <p:nvPr/>
        </p:nvSpPr>
        <p:spPr>
          <a:xfrm>
            <a:off x="868680" y="1572768"/>
            <a:ext cx="1371600" cy="347472"/>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950" b="1" dirty="0">
                <a:solidFill>
                  <a:srgbClr val="4285F4"/>
                </a:solidFill>
                <a:latin typeface="Aptos" pitchFamily="34" charset="0"/>
                <a:ea typeface="Aptos" pitchFamily="34" charset="-122"/>
                <a:cs typeface="Aptos" pitchFamily="34" charset="-120"/>
              </a:rPr>
              <a:t>1 Frame</a:t>
            </a:r>
            <a:endParaRPr lang="en-US" sz="950" dirty="0"/>
          </a:p>
        </p:txBody>
      </p:sp>
      <p:sp>
        <p:nvSpPr>
          <p:cNvPr id="9" name="Text 7"/>
          <p:cNvSpPr/>
          <p:nvPr/>
        </p:nvSpPr>
        <p:spPr>
          <a:xfrm>
            <a:off x="2514600" y="1591056"/>
            <a:ext cx="8138160" cy="310896"/>
          </a:xfrm>
          <a:prstGeom prst="rect">
            <a:avLst/>
          </a:prstGeom>
          <a:noFill/>
          <a:ln/>
        </p:spPr>
        <p:txBody>
          <a:bodyPr wrap="square" lIns="254" tIns="254" rIns="254" bIns="254" rtlCol="0" anchor="ctr">
            <a:normAutofit/>
          </a:bodyPr>
          <a:lstStyle/>
          <a:p>
            <a:pPr indent="0" marL="0">
              <a:buNone/>
            </a:pPr>
            <a:r>
              <a:rPr lang="en-US" sz="1100" dirty="0">
                <a:solidFill>
                  <a:srgbClr val="202124"/>
                </a:solidFill>
                <a:latin typeface="Aptos" pitchFamily="34" charset="0"/>
                <a:ea typeface="Aptos" pitchFamily="34" charset="-122"/>
                <a:cs typeface="Aptos" pitchFamily="34" charset="-120"/>
              </a:rPr>
              <a:t>SDR charter, scope and autonomy</a:t>
            </a:r>
            <a:endParaRPr lang="en-US" sz="1100" dirty="0"/>
          </a:p>
        </p:txBody>
      </p:sp>
      <p:sp>
        <p:nvSpPr>
          <p:cNvPr id="10" name="Text 8"/>
          <p:cNvSpPr/>
          <p:nvPr/>
        </p:nvSpPr>
        <p:spPr>
          <a:xfrm>
            <a:off x="868680" y="2084832"/>
            <a:ext cx="1371600" cy="347472"/>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950" b="1" dirty="0">
                <a:solidFill>
                  <a:srgbClr val="34A853"/>
                </a:solidFill>
                <a:latin typeface="Aptos" pitchFamily="34" charset="0"/>
                <a:ea typeface="Aptos" pitchFamily="34" charset="-122"/>
                <a:cs typeface="Aptos" pitchFamily="34" charset="-120"/>
              </a:rPr>
              <a:t>2 Context</a:t>
            </a:r>
            <a:endParaRPr lang="en-US" sz="950" dirty="0"/>
          </a:p>
        </p:txBody>
      </p:sp>
      <p:sp>
        <p:nvSpPr>
          <p:cNvPr id="11" name="Text 9"/>
          <p:cNvSpPr/>
          <p:nvPr/>
        </p:nvSpPr>
        <p:spPr>
          <a:xfrm>
            <a:off x="2514600" y="2103120"/>
            <a:ext cx="8138160" cy="310896"/>
          </a:xfrm>
          <a:prstGeom prst="rect">
            <a:avLst/>
          </a:prstGeom>
          <a:noFill/>
          <a:ln/>
        </p:spPr>
        <p:txBody>
          <a:bodyPr wrap="square" lIns="254" tIns="254" rIns="254" bIns="254" rtlCol="0" anchor="ctr">
            <a:normAutofit/>
          </a:bodyPr>
          <a:lstStyle/>
          <a:p>
            <a:pPr indent="0" marL="0">
              <a:buNone/>
            </a:pPr>
            <a:r>
              <a:rPr lang="en-US" sz="1100" dirty="0">
                <a:solidFill>
                  <a:srgbClr val="202124"/>
                </a:solidFill>
                <a:latin typeface="Aptos" pitchFamily="34" charset="0"/>
                <a:ea typeface="Aptos" pitchFamily="34" charset="-122"/>
                <a:cs typeface="Aptos" pitchFamily="34" charset="-120"/>
              </a:rPr>
              <a:t>WidgetWare, ICP, policies and evidence</a:t>
            </a:r>
            <a:endParaRPr lang="en-US" sz="1100" dirty="0"/>
          </a:p>
        </p:txBody>
      </p:sp>
      <p:sp>
        <p:nvSpPr>
          <p:cNvPr id="12" name="Text 10"/>
          <p:cNvSpPr/>
          <p:nvPr/>
        </p:nvSpPr>
        <p:spPr>
          <a:xfrm>
            <a:off x="868680" y="2596896"/>
            <a:ext cx="1371600" cy="347472"/>
          </a:xfrm>
          <a:prstGeom prst="rect">
            <a:avLst/>
          </a:prstGeom>
          <a:solidFill>
            <a:srgbClr val="FEF7E0"/>
          </a:solidFill>
          <a:ln w="12700">
            <a:solidFill>
              <a:srgbClr val="FBBC04"/>
            </a:solidFill>
          </a:ln>
        </p:spPr>
        <p:txBody>
          <a:bodyPr wrap="square" lIns="762" tIns="762" rIns="762" bIns="762" rtlCol="0" anchor="ctr">
            <a:normAutofit/>
          </a:bodyPr>
          <a:lstStyle/>
          <a:p>
            <a:pPr algn="ctr" indent="0" marL="0">
              <a:buNone/>
            </a:pPr>
            <a:r>
              <a:rPr lang="en-US" sz="950" b="1" dirty="0">
                <a:solidFill>
                  <a:srgbClr val="FBBC04"/>
                </a:solidFill>
                <a:latin typeface="Aptos" pitchFamily="34" charset="0"/>
                <a:ea typeface="Aptos" pitchFamily="34" charset="-122"/>
                <a:cs typeface="Aptos" pitchFamily="34" charset="-120"/>
              </a:rPr>
              <a:t>3 Capabilities</a:t>
            </a:r>
            <a:endParaRPr lang="en-US" sz="950" dirty="0"/>
          </a:p>
        </p:txBody>
      </p:sp>
      <p:sp>
        <p:nvSpPr>
          <p:cNvPr id="13" name="Text 11"/>
          <p:cNvSpPr/>
          <p:nvPr/>
        </p:nvSpPr>
        <p:spPr>
          <a:xfrm>
            <a:off x="2514600" y="2615184"/>
            <a:ext cx="8138160" cy="310896"/>
          </a:xfrm>
          <a:prstGeom prst="rect">
            <a:avLst/>
          </a:prstGeom>
          <a:noFill/>
          <a:ln/>
        </p:spPr>
        <p:txBody>
          <a:bodyPr wrap="square" lIns="254" tIns="254" rIns="254" bIns="254" rtlCol="0" anchor="ctr">
            <a:normAutofit/>
          </a:bodyPr>
          <a:lstStyle/>
          <a:p>
            <a:pPr indent="0" marL="0">
              <a:buNone/>
            </a:pPr>
            <a:r>
              <a:rPr lang="en-US" sz="1100" dirty="0">
                <a:solidFill>
                  <a:srgbClr val="202124"/>
                </a:solidFill>
                <a:latin typeface="Aptos" pitchFamily="34" charset="0"/>
                <a:ea typeface="Aptos" pitchFamily="34" charset="-122"/>
                <a:cs typeface="Aptos" pitchFamily="34" charset="-120"/>
              </a:rPr>
              <a:t>Skills, tools, contracts and prompts</a:t>
            </a:r>
            <a:endParaRPr lang="en-US" sz="1100" dirty="0"/>
          </a:p>
        </p:txBody>
      </p:sp>
      <p:sp>
        <p:nvSpPr>
          <p:cNvPr id="14" name="Text 12"/>
          <p:cNvSpPr/>
          <p:nvPr/>
        </p:nvSpPr>
        <p:spPr>
          <a:xfrm>
            <a:off x="868680" y="3108960"/>
            <a:ext cx="1371600" cy="347472"/>
          </a:xfrm>
          <a:prstGeom prst="rect">
            <a:avLst/>
          </a:prstGeom>
          <a:solidFill>
            <a:srgbClr val="F3E8FD"/>
          </a:solidFill>
          <a:ln w="12700">
            <a:solidFill>
              <a:srgbClr val="A142F4"/>
            </a:solidFill>
          </a:ln>
        </p:spPr>
        <p:txBody>
          <a:bodyPr wrap="square" lIns="762" tIns="762" rIns="762" bIns="762" rtlCol="0" anchor="ctr">
            <a:normAutofit/>
          </a:bodyPr>
          <a:lstStyle/>
          <a:p>
            <a:pPr algn="ctr" indent="0" marL="0">
              <a:buNone/>
            </a:pPr>
            <a:r>
              <a:rPr lang="en-US" sz="950" b="1" dirty="0">
                <a:solidFill>
                  <a:srgbClr val="A142F4"/>
                </a:solidFill>
                <a:latin typeface="Aptos" pitchFamily="34" charset="0"/>
                <a:ea typeface="Aptos" pitchFamily="34" charset="-122"/>
                <a:cs typeface="Aptos" pitchFamily="34" charset="-120"/>
              </a:rPr>
              <a:t>4 Harness</a:t>
            </a:r>
            <a:endParaRPr lang="en-US" sz="950" dirty="0"/>
          </a:p>
        </p:txBody>
      </p:sp>
      <p:sp>
        <p:nvSpPr>
          <p:cNvPr id="15" name="Text 13"/>
          <p:cNvSpPr/>
          <p:nvPr/>
        </p:nvSpPr>
        <p:spPr>
          <a:xfrm>
            <a:off x="2514600" y="3127248"/>
            <a:ext cx="8138160" cy="310896"/>
          </a:xfrm>
          <a:prstGeom prst="rect">
            <a:avLst/>
          </a:prstGeom>
          <a:noFill/>
          <a:ln/>
        </p:spPr>
        <p:txBody>
          <a:bodyPr wrap="square" lIns="254" tIns="254" rIns="254" bIns="254" rtlCol="0" anchor="ctr">
            <a:normAutofit/>
          </a:bodyPr>
          <a:lstStyle/>
          <a:p>
            <a:pPr indent="0" marL="0">
              <a:buNone/>
            </a:pPr>
            <a:r>
              <a:rPr lang="en-US" sz="1100" dirty="0">
                <a:solidFill>
                  <a:srgbClr val="202124"/>
                </a:solidFill>
                <a:latin typeface="Aptos" pitchFamily="34" charset="0"/>
                <a:ea typeface="Aptos" pitchFamily="34" charset="-122"/>
                <a:cs typeface="Aptos" pitchFamily="34" charset="-120"/>
              </a:rPr>
              <a:t>Antigravity, repo, ADK and tests</a:t>
            </a:r>
            <a:endParaRPr lang="en-US" sz="1100" dirty="0"/>
          </a:p>
        </p:txBody>
      </p:sp>
      <p:sp>
        <p:nvSpPr>
          <p:cNvPr id="16" name="Text 14"/>
          <p:cNvSpPr/>
          <p:nvPr/>
        </p:nvSpPr>
        <p:spPr>
          <a:xfrm>
            <a:off x="868680" y="3621024"/>
            <a:ext cx="1371600" cy="347472"/>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950" b="1" dirty="0">
                <a:solidFill>
                  <a:srgbClr val="4285F4"/>
                </a:solidFill>
                <a:latin typeface="Aptos" pitchFamily="34" charset="0"/>
                <a:ea typeface="Aptos" pitchFamily="34" charset="-122"/>
                <a:cs typeface="Aptos" pitchFamily="34" charset="-120"/>
              </a:rPr>
              <a:t>5 Workflows</a:t>
            </a:r>
            <a:endParaRPr lang="en-US" sz="950" dirty="0"/>
          </a:p>
        </p:txBody>
      </p:sp>
      <p:sp>
        <p:nvSpPr>
          <p:cNvPr id="17" name="Text 15"/>
          <p:cNvSpPr/>
          <p:nvPr/>
        </p:nvSpPr>
        <p:spPr>
          <a:xfrm>
            <a:off x="2514600" y="3639312"/>
            <a:ext cx="8138160" cy="310896"/>
          </a:xfrm>
          <a:prstGeom prst="rect">
            <a:avLst/>
          </a:prstGeom>
          <a:noFill/>
          <a:ln/>
        </p:spPr>
        <p:txBody>
          <a:bodyPr wrap="square" lIns="254" tIns="254" rIns="254" bIns="254" rtlCol="0" anchor="ctr">
            <a:normAutofit/>
          </a:bodyPr>
          <a:lstStyle/>
          <a:p>
            <a:pPr indent="0" marL="0">
              <a:buNone/>
            </a:pPr>
            <a:r>
              <a:rPr lang="en-US" sz="1100" dirty="0">
                <a:solidFill>
                  <a:srgbClr val="202124"/>
                </a:solidFill>
                <a:latin typeface="Aptos" pitchFamily="34" charset="0"/>
                <a:ea typeface="Aptos" pitchFamily="34" charset="-122"/>
                <a:cs typeface="Aptos" pitchFamily="34" charset="-120"/>
              </a:rPr>
              <a:t>Research → qualify → review → draft</a:t>
            </a:r>
            <a:endParaRPr lang="en-US" sz="1100" dirty="0"/>
          </a:p>
        </p:txBody>
      </p:sp>
      <p:sp>
        <p:nvSpPr>
          <p:cNvPr id="18" name="Text 16"/>
          <p:cNvSpPr/>
          <p:nvPr/>
        </p:nvSpPr>
        <p:spPr>
          <a:xfrm>
            <a:off x="868680" y="4133088"/>
            <a:ext cx="1371600" cy="347472"/>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950" b="1" dirty="0">
                <a:solidFill>
                  <a:srgbClr val="34A853"/>
                </a:solidFill>
                <a:latin typeface="Aptos" pitchFamily="34" charset="0"/>
                <a:ea typeface="Aptos" pitchFamily="34" charset="-122"/>
                <a:cs typeface="Aptos" pitchFamily="34" charset="-120"/>
              </a:rPr>
              <a:t>6 Loops</a:t>
            </a:r>
            <a:endParaRPr lang="en-US" sz="950" dirty="0"/>
          </a:p>
        </p:txBody>
      </p:sp>
      <p:sp>
        <p:nvSpPr>
          <p:cNvPr id="19" name="Text 17"/>
          <p:cNvSpPr/>
          <p:nvPr/>
        </p:nvSpPr>
        <p:spPr>
          <a:xfrm>
            <a:off x="2514600" y="4151376"/>
            <a:ext cx="8138160" cy="310896"/>
          </a:xfrm>
          <a:prstGeom prst="rect">
            <a:avLst/>
          </a:prstGeom>
          <a:noFill/>
          <a:ln/>
        </p:spPr>
        <p:txBody>
          <a:bodyPr wrap="square" lIns="254" tIns="254" rIns="254" bIns="254" rtlCol="0" anchor="ctr">
            <a:normAutofit/>
          </a:bodyPr>
          <a:lstStyle/>
          <a:p>
            <a:pPr indent="0" marL="0">
              <a:buNone/>
            </a:pPr>
            <a:r>
              <a:rPr lang="en-US" sz="1100" dirty="0">
                <a:solidFill>
                  <a:srgbClr val="202124"/>
                </a:solidFill>
                <a:latin typeface="Aptos" pitchFamily="34" charset="0"/>
                <a:ea typeface="Aptos" pitchFamily="34" charset="-122"/>
                <a:cs typeface="Aptos" pitchFamily="34" charset="-120"/>
              </a:rPr>
              <a:t>Account queues with budgets and stopping rules</a:t>
            </a:r>
            <a:endParaRPr lang="en-US" sz="1100" dirty="0"/>
          </a:p>
        </p:txBody>
      </p:sp>
      <p:sp>
        <p:nvSpPr>
          <p:cNvPr id="20" name="Text 18"/>
          <p:cNvSpPr/>
          <p:nvPr/>
        </p:nvSpPr>
        <p:spPr>
          <a:xfrm>
            <a:off x="868680" y="4645152"/>
            <a:ext cx="1371600" cy="347472"/>
          </a:xfrm>
          <a:prstGeom prst="rect">
            <a:avLst/>
          </a:prstGeom>
          <a:solidFill>
            <a:srgbClr val="FCE8E6"/>
          </a:solidFill>
          <a:ln w="12700">
            <a:solidFill>
              <a:srgbClr val="EA4335"/>
            </a:solidFill>
          </a:ln>
        </p:spPr>
        <p:txBody>
          <a:bodyPr wrap="square" lIns="762" tIns="762" rIns="762" bIns="762" rtlCol="0" anchor="ctr">
            <a:normAutofit/>
          </a:bodyPr>
          <a:lstStyle/>
          <a:p>
            <a:pPr algn="ctr" indent="0" marL="0">
              <a:buNone/>
            </a:pPr>
            <a:r>
              <a:rPr lang="en-US" sz="950" b="1" dirty="0">
                <a:solidFill>
                  <a:srgbClr val="EA4335"/>
                </a:solidFill>
                <a:latin typeface="Aptos" pitchFamily="34" charset="0"/>
                <a:ea typeface="Aptos" pitchFamily="34" charset="-122"/>
                <a:cs typeface="Aptos" pitchFamily="34" charset="-120"/>
              </a:rPr>
              <a:t>7 Govern</a:t>
            </a:r>
            <a:endParaRPr lang="en-US" sz="950" dirty="0"/>
          </a:p>
        </p:txBody>
      </p:sp>
      <p:sp>
        <p:nvSpPr>
          <p:cNvPr id="21" name="Text 19"/>
          <p:cNvSpPr/>
          <p:nvPr/>
        </p:nvSpPr>
        <p:spPr>
          <a:xfrm>
            <a:off x="2514600" y="4663440"/>
            <a:ext cx="8138160" cy="310896"/>
          </a:xfrm>
          <a:prstGeom prst="rect">
            <a:avLst/>
          </a:prstGeom>
          <a:noFill/>
          <a:ln/>
        </p:spPr>
        <p:txBody>
          <a:bodyPr wrap="square" lIns="254" tIns="254" rIns="254" bIns="254" rtlCol="0" anchor="ctr">
            <a:normAutofit/>
          </a:bodyPr>
          <a:lstStyle/>
          <a:p>
            <a:pPr indent="0" marL="0">
              <a:buNone/>
            </a:pPr>
            <a:r>
              <a:rPr lang="en-US" sz="1100" dirty="0">
                <a:solidFill>
                  <a:srgbClr val="202124"/>
                </a:solidFill>
                <a:latin typeface="Aptos" pitchFamily="34" charset="0"/>
                <a:ea typeface="Aptos" pitchFamily="34" charset="-122"/>
                <a:cs typeface="Aptos" pitchFamily="34" charset="-120"/>
              </a:rPr>
              <a:t>Golden cases, rubrics, traces and approval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F3E8FD"/>
          </a:solidFill>
          <a:ln/>
        </p:spPr>
        <p:txBody>
          <a:bodyPr wrap="square" lIns="381" tIns="381" rIns="381" bIns="381" rtlCol="0" anchor="ctr">
            <a:normAutofit/>
          </a:bodyPr>
          <a:lstStyle/>
          <a:p>
            <a:pPr indent="0" marL="0">
              <a:buNone/>
            </a:pPr>
            <a:r>
              <a:rPr lang="en-US" sz="600" b="1" dirty="0">
                <a:solidFill>
                  <a:srgbClr val="A142F4"/>
                </a:solidFill>
                <a:latin typeface="Aptos" pitchFamily="34" charset="0"/>
                <a:ea typeface="Aptos" pitchFamily="34" charset="-122"/>
                <a:cs typeface="Aptos" pitchFamily="34" charset="-120"/>
              </a:rPr>
              <a:t>PROGRESSION</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How WidgetWare grows across the course</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Every class adds one inspectable capability to the same business system.</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WidgetWare SDR Bridge</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08</a:t>
            </a:r>
            <a:endParaRPr lang="en-US" sz="600" dirty="0"/>
          </a:p>
        </p:txBody>
      </p:sp>
      <p:sp>
        <p:nvSpPr>
          <p:cNvPr id="8" name="Shape 6"/>
          <p:cNvSpPr/>
          <p:nvPr/>
        </p:nvSpPr>
        <p:spPr>
          <a:xfrm>
            <a:off x="2103120" y="2148840"/>
            <a:ext cx="594360" cy="0"/>
          </a:xfrm>
          <a:prstGeom prst="line">
            <a:avLst/>
          </a:prstGeom>
          <a:noFill/>
          <a:ln w="12700">
            <a:solidFill>
              <a:srgbClr val="A142F4"/>
            </a:solidFill>
            <a:prstDash val="solid"/>
            <a:tailEnd type="triangle"/>
          </a:ln>
        </p:spPr>
      </p:sp>
      <p:sp>
        <p:nvSpPr>
          <p:cNvPr id="9" name="Shape 7"/>
          <p:cNvSpPr/>
          <p:nvPr/>
        </p:nvSpPr>
        <p:spPr>
          <a:xfrm>
            <a:off x="4160520" y="2148840"/>
            <a:ext cx="594360" cy="0"/>
          </a:xfrm>
          <a:prstGeom prst="line">
            <a:avLst/>
          </a:prstGeom>
          <a:noFill/>
          <a:ln w="12700">
            <a:solidFill>
              <a:srgbClr val="A142F4"/>
            </a:solidFill>
            <a:prstDash val="solid"/>
            <a:tailEnd type="triangle"/>
          </a:ln>
        </p:spPr>
      </p:sp>
      <p:sp>
        <p:nvSpPr>
          <p:cNvPr id="10" name="Shape 8"/>
          <p:cNvSpPr/>
          <p:nvPr/>
        </p:nvSpPr>
        <p:spPr>
          <a:xfrm>
            <a:off x="6217920" y="2148840"/>
            <a:ext cx="594360" cy="0"/>
          </a:xfrm>
          <a:prstGeom prst="line">
            <a:avLst/>
          </a:prstGeom>
          <a:noFill/>
          <a:ln w="12700">
            <a:solidFill>
              <a:srgbClr val="A142F4"/>
            </a:solidFill>
            <a:prstDash val="solid"/>
            <a:tailEnd type="triangle"/>
          </a:ln>
        </p:spPr>
      </p:sp>
      <p:sp>
        <p:nvSpPr>
          <p:cNvPr id="11" name="Shape 9"/>
          <p:cNvSpPr/>
          <p:nvPr/>
        </p:nvSpPr>
        <p:spPr>
          <a:xfrm>
            <a:off x="8275320" y="2148840"/>
            <a:ext cx="594360" cy="0"/>
          </a:xfrm>
          <a:prstGeom prst="line">
            <a:avLst/>
          </a:prstGeom>
          <a:noFill/>
          <a:ln w="12700">
            <a:solidFill>
              <a:srgbClr val="A142F4"/>
            </a:solidFill>
            <a:prstDash val="solid"/>
            <a:tailEnd type="triangle"/>
          </a:ln>
        </p:spPr>
      </p:sp>
      <p:sp>
        <p:nvSpPr>
          <p:cNvPr id="12" name="Shape 10"/>
          <p:cNvSpPr/>
          <p:nvPr/>
        </p:nvSpPr>
        <p:spPr>
          <a:xfrm>
            <a:off x="10332720" y="2148840"/>
            <a:ext cx="-1463040" cy="2011680"/>
          </a:xfrm>
          <a:prstGeom prst="line">
            <a:avLst/>
          </a:prstGeom>
          <a:noFill/>
          <a:ln w="12700">
            <a:solidFill>
              <a:srgbClr val="A142F4"/>
            </a:solidFill>
            <a:prstDash val="solid"/>
            <a:tailEnd type="triangle"/>
          </a:ln>
        </p:spPr>
      </p:sp>
      <p:sp>
        <p:nvSpPr>
          <p:cNvPr id="13" name="Shape 11"/>
          <p:cNvSpPr/>
          <p:nvPr/>
        </p:nvSpPr>
        <p:spPr>
          <a:xfrm>
            <a:off x="10332720" y="4160520"/>
            <a:ext cx="-3520440" cy="0"/>
          </a:xfrm>
          <a:prstGeom prst="line">
            <a:avLst/>
          </a:prstGeom>
          <a:noFill/>
          <a:ln w="12700">
            <a:solidFill>
              <a:srgbClr val="A142F4"/>
            </a:solidFill>
            <a:prstDash val="solid"/>
            <a:tailEnd type="triangle"/>
          </a:ln>
        </p:spPr>
      </p:sp>
      <p:sp>
        <p:nvSpPr>
          <p:cNvPr id="14" name="Shape 12"/>
          <p:cNvSpPr/>
          <p:nvPr/>
        </p:nvSpPr>
        <p:spPr>
          <a:xfrm>
            <a:off x="8275320" y="4160520"/>
            <a:ext cx="-3520440" cy="0"/>
          </a:xfrm>
          <a:prstGeom prst="line">
            <a:avLst/>
          </a:prstGeom>
          <a:noFill/>
          <a:ln w="12700">
            <a:solidFill>
              <a:srgbClr val="A142F4"/>
            </a:solidFill>
            <a:prstDash val="solid"/>
            <a:tailEnd type="triangle"/>
          </a:ln>
        </p:spPr>
      </p:sp>
      <p:sp>
        <p:nvSpPr>
          <p:cNvPr id="15" name="Shape 13"/>
          <p:cNvSpPr/>
          <p:nvPr/>
        </p:nvSpPr>
        <p:spPr>
          <a:xfrm>
            <a:off x="6217920" y="4160520"/>
            <a:ext cx="-3520440" cy="0"/>
          </a:xfrm>
          <a:prstGeom prst="line">
            <a:avLst/>
          </a:prstGeom>
          <a:noFill/>
          <a:ln w="12700">
            <a:solidFill>
              <a:srgbClr val="A142F4"/>
            </a:solidFill>
            <a:prstDash val="solid"/>
            <a:tailEnd type="triangle"/>
          </a:ln>
        </p:spPr>
      </p:sp>
      <p:sp>
        <p:nvSpPr>
          <p:cNvPr id="16" name="Shape 14"/>
          <p:cNvSpPr/>
          <p:nvPr/>
        </p:nvSpPr>
        <p:spPr>
          <a:xfrm>
            <a:off x="4160520" y="4160520"/>
            <a:ext cx="-3520440" cy="0"/>
          </a:xfrm>
          <a:prstGeom prst="line">
            <a:avLst/>
          </a:prstGeom>
          <a:noFill/>
          <a:ln w="12700">
            <a:solidFill>
              <a:srgbClr val="A142F4"/>
            </a:solidFill>
            <a:prstDash val="solid"/>
            <a:tailEnd type="triangle"/>
          </a:ln>
        </p:spPr>
      </p:sp>
      <p:sp>
        <p:nvSpPr>
          <p:cNvPr id="17" name="Text 15"/>
          <p:cNvSpPr/>
          <p:nvPr/>
        </p:nvSpPr>
        <p:spPr>
          <a:xfrm>
            <a:off x="685800" y="1828800"/>
            <a:ext cx="1417320" cy="640080"/>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920" b="1" dirty="0">
                <a:solidFill>
                  <a:srgbClr val="4285F4"/>
                </a:solidFill>
                <a:latin typeface="Aptos" pitchFamily="34" charset="0"/>
                <a:ea typeface="Aptos" pitchFamily="34" charset="-122"/>
                <a:cs typeface="Aptos" pitchFamily="34" charset="-120"/>
              </a:rPr>
              <a:t>Boundaries</a:t>
            </a:r>
            <a:endParaRPr lang="en-US" sz="920" dirty="0"/>
          </a:p>
        </p:txBody>
      </p:sp>
      <p:sp>
        <p:nvSpPr>
          <p:cNvPr id="18" name="Text 16"/>
          <p:cNvSpPr/>
          <p:nvPr/>
        </p:nvSpPr>
        <p:spPr>
          <a:xfrm>
            <a:off x="2743200" y="1828800"/>
            <a:ext cx="1417320" cy="640080"/>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920" b="1" dirty="0">
                <a:solidFill>
                  <a:srgbClr val="34A853"/>
                </a:solidFill>
                <a:latin typeface="Aptos" pitchFamily="34" charset="0"/>
                <a:ea typeface="Aptos" pitchFamily="34" charset="-122"/>
                <a:cs typeface="Aptos" pitchFamily="34" charset="-120"/>
              </a:rPr>
              <a:t>Harness</a:t>
            </a:r>
            <a:endParaRPr lang="en-US" sz="920" dirty="0"/>
          </a:p>
        </p:txBody>
      </p:sp>
      <p:sp>
        <p:nvSpPr>
          <p:cNvPr id="19" name="Text 17"/>
          <p:cNvSpPr/>
          <p:nvPr/>
        </p:nvSpPr>
        <p:spPr>
          <a:xfrm>
            <a:off x="4800600" y="1828800"/>
            <a:ext cx="1417320" cy="640080"/>
          </a:xfrm>
          <a:prstGeom prst="rect">
            <a:avLst/>
          </a:prstGeom>
          <a:solidFill>
            <a:srgbClr val="FEF7E0"/>
          </a:solidFill>
          <a:ln w="12700">
            <a:solidFill>
              <a:srgbClr val="FBBC04"/>
            </a:solidFill>
          </a:ln>
        </p:spPr>
        <p:txBody>
          <a:bodyPr wrap="square" lIns="762" tIns="762" rIns="762" bIns="762" rtlCol="0" anchor="ctr">
            <a:normAutofit/>
          </a:bodyPr>
          <a:lstStyle/>
          <a:p>
            <a:pPr algn="ctr" indent="0" marL="0">
              <a:buNone/>
            </a:pPr>
            <a:r>
              <a:rPr lang="en-US" sz="920" b="1" dirty="0">
                <a:solidFill>
                  <a:srgbClr val="FBBC04"/>
                </a:solidFill>
                <a:latin typeface="Aptos" pitchFamily="34" charset="0"/>
                <a:ea typeface="Aptos" pitchFamily="34" charset="-122"/>
                <a:cs typeface="Aptos" pitchFamily="34" charset="-120"/>
              </a:rPr>
              <a:t>Context</a:t>
            </a:r>
            <a:endParaRPr lang="en-US" sz="920" dirty="0"/>
          </a:p>
        </p:txBody>
      </p:sp>
      <p:sp>
        <p:nvSpPr>
          <p:cNvPr id="20" name="Text 18"/>
          <p:cNvSpPr/>
          <p:nvPr/>
        </p:nvSpPr>
        <p:spPr>
          <a:xfrm>
            <a:off x="6858000" y="1828800"/>
            <a:ext cx="1417320" cy="640080"/>
          </a:xfrm>
          <a:prstGeom prst="rect">
            <a:avLst/>
          </a:prstGeom>
          <a:solidFill>
            <a:srgbClr val="F3E8FD"/>
          </a:solidFill>
          <a:ln w="12700">
            <a:solidFill>
              <a:srgbClr val="A142F4"/>
            </a:solidFill>
          </a:ln>
        </p:spPr>
        <p:txBody>
          <a:bodyPr wrap="square" lIns="762" tIns="762" rIns="762" bIns="762" rtlCol="0" anchor="ctr">
            <a:normAutofit/>
          </a:bodyPr>
          <a:lstStyle/>
          <a:p>
            <a:pPr algn="ctr" indent="0" marL="0">
              <a:buNone/>
            </a:pPr>
            <a:r>
              <a:rPr lang="en-US" sz="920" b="1" dirty="0">
                <a:solidFill>
                  <a:srgbClr val="A142F4"/>
                </a:solidFill>
                <a:latin typeface="Aptos" pitchFamily="34" charset="0"/>
                <a:ea typeface="Aptos" pitchFamily="34" charset="-122"/>
                <a:cs typeface="Aptos" pitchFamily="34" charset="-120"/>
              </a:rPr>
              <a:t>First Agent</a:t>
            </a:r>
            <a:endParaRPr lang="en-US" sz="920" dirty="0"/>
          </a:p>
        </p:txBody>
      </p:sp>
      <p:sp>
        <p:nvSpPr>
          <p:cNvPr id="21" name="Text 19"/>
          <p:cNvSpPr/>
          <p:nvPr/>
        </p:nvSpPr>
        <p:spPr>
          <a:xfrm>
            <a:off x="8915400" y="1828800"/>
            <a:ext cx="1417320" cy="640080"/>
          </a:xfrm>
          <a:prstGeom prst="rect">
            <a:avLst/>
          </a:prstGeom>
          <a:solidFill>
            <a:srgbClr val="E8F0FE"/>
          </a:solidFill>
          <a:ln w="12700">
            <a:solidFill>
              <a:srgbClr val="4285F4"/>
            </a:solidFill>
          </a:ln>
        </p:spPr>
        <p:txBody>
          <a:bodyPr wrap="square" lIns="762" tIns="762" rIns="762" bIns="762" rtlCol="0" anchor="ctr">
            <a:normAutofit/>
          </a:bodyPr>
          <a:lstStyle/>
          <a:p>
            <a:pPr algn="ctr" indent="0" marL="0">
              <a:buNone/>
            </a:pPr>
            <a:r>
              <a:rPr lang="en-US" sz="920" b="1" dirty="0">
                <a:solidFill>
                  <a:srgbClr val="4285F4"/>
                </a:solidFill>
                <a:latin typeface="Aptos" pitchFamily="34" charset="0"/>
                <a:ea typeface="Aptos" pitchFamily="34" charset="-122"/>
                <a:cs typeface="Aptos" pitchFamily="34" charset="-120"/>
              </a:rPr>
              <a:t>Skills</a:t>
            </a:r>
            <a:endParaRPr lang="en-US" sz="920" dirty="0"/>
          </a:p>
        </p:txBody>
      </p:sp>
      <p:sp>
        <p:nvSpPr>
          <p:cNvPr id="22" name="Text 20"/>
          <p:cNvSpPr/>
          <p:nvPr/>
        </p:nvSpPr>
        <p:spPr>
          <a:xfrm>
            <a:off x="8915400" y="3840480"/>
            <a:ext cx="1417320" cy="640080"/>
          </a:xfrm>
          <a:prstGeom prst="rect">
            <a:avLst/>
          </a:prstGeom>
          <a:solidFill>
            <a:srgbClr val="E6F4EA"/>
          </a:solidFill>
          <a:ln w="12700">
            <a:solidFill>
              <a:srgbClr val="34A853"/>
            </a:solidFill>
          </a:ln>
        </p:spPr>
        <p:txBody>
          <a:bodyPr wrap="square" lIns="762" tIns="762" rIns="762" bIns="762" rtlCol="0" anchor="ctr">
            <a:normAutofit/>
          </a:bodyPr>
          <a:lstStyle/>
          <a:p>
            <a:pPr algn="ctr" indent="0" marL="0">
              <a:buNone/>
            </a:pPr>
            <a:r>
              <a:rPr lang="en-US" sz="920" b="1" dirty="0">
                <a:solidFill>
                  <a:srgbClr val="34A853"/>
                </a:solidFill>
                <a:latin typeface="Aptos" pitchFamily="34" charset="0"/>
                <a:ea typeface="Aptos" pitchFamily="34" charset="-122"/>
                <a:cs typeface="Aptos" pitchFamily="34" charset="-120"/>
              </a:rPr>
              <a:t>Contracts</a:t>
            </a:r>
            <a:endParaRPr lang="en-US" sz="920" dirty="0"/>
          </a:p>
        </p:txBody>
      </p:sp>
      <p:sp>
        <p:nvSpPr>
          <p:cNvPr id="23" name="Text 21"/>
          <p:cNvSpPr/>
          <p:nvPr/>
        </p:nvSpPr>
        <p:spPr>
          <a:xfrm>
            <a:off x="6858000" y="3840480"/>
            <a:ext cx="1417320" cy="640080"/>
          </a:xfrm>
          <a:prstGeom prst="rect">
            <a:avLst/>
          </a:prstGeom>
          <a:solidFill>
            <a:srgbClr val="FEF7E0"/>
          </a:solidFill>
          <a:ln w="12700">
            <a:solidFill>
              <a:srgbClr val="FBBC04"/>
            </a:solidFill>
          </a:ln>
        </p:spPr>
        <p:txBody>
          <a:bodyPr wrap="square" lIns="762" tIns="762" rIns="762" bIns="762" rtlCol="0" anchor="ctr">
            <a:normAutofit/>
          </a:bodyPr>
          <a:lstStyle/>
          <a:p>
            <a:pPr algn="ctr" indent="0" marL="0">
              <a:buNone/>
            </a:pPr>
            <a:r>
              <a:rPr lang="en-US" sz="920" b="1" dirty="0">
                <a:solidFill>
                  <a:srgbClr val="FBBC04"/>
                </a:solidFill>
                <a:latin typeface="Aptos" pitchFamily="34" charset="0"/>
                <a:ea typeface="Aptos" pitchFamily="34" charset="-122"/>
                <a:cs typeface="Aptos" pitchFamily="34" charset="-120"/>
              </a:rPr>
              <a:t>Tools</a:t>
            </a:r>
            <a:endParaRPr lang="en-US" sz="920" dirty="0"/>
          </a:p>
        </p:txBody>
      </p:sp>
      <p:sp>
        <p:nvSpPr>
          <p:cNvPr id="24" name="Text 22"/>
          <p:cNvSpPr/>
          <p:nvPr/>
        </p:nvSpPr>
        <p:spPr>
          <a:xfrm>
            <a:off x="4800600" y="3840480"/>
            <a:ext cx="1417320" cy="640080"/>
          </a:xfrm>
          <a:prstGeom prst="rect">
            <a:avLst/>
          </a:prstGeom>
          <a:solidFill>
            <a:srgbClr val="F3E8FD"/>
          </a:solidFill>
          <a:ln w="12700">
            <a:solidFill>
              <a:srgbClr val="A142F4"/>
            </a:solidFill>
          </a:ln>
        </p:spPr>
        <p:txBody>
          <a:bodyPr wrap="square" lIns="762" tIns="762" rIns="762" bIns="762" rtlCol="0" anchor="ctr">
            <a:normAutofit/>
          </a:bodyPr>
          <a:lstStyle/>
          <a:p>
            <a:pPr algn="ctr" indent="0" marL="0">
              <a:buNone/>
            </a:pPr>
            <a:r>
              <a:rPr lang="en-US" sz="920" b="1" dirty="0">
                <a:solidFill>
                  <a:srgbClr val="A142F4"/>
                </a:solidFill>
                <a:latin typeface="Aptos" pitchFamily="34" charset="0"/>
                <a:ea typeface="Aptos" pitchFamily="34" charset="-122"/>
                <a:cs typeface="Aptos" pitchFamily="34" charset="-120"/>
              </a:rPr>
              <a:t>Multi-Agent</a:t>
            </a:r>
            <a:endParaRPr lang="en-US" sz="920" dirty="0"/>
          </a:p>
        </p:txBody>
      </p:sp>
      <p:sp>
        <p:nvSpPr>
          <p:cNvPr id="25" name="Text 23"/>
          <p:cNvSpPr/>
          <p:nvPr/>
        </p:nvSpPr>
        <p:spPr>
          <a:xfrm>
            <a:off x="2743200" y="3840480"/>
            <a:ext cx="1417320" cy="640080"/>
          </a:xfrm>
          <a:prstGeom prst="rect">
            <a:avLst/>
          </a:prstGeom>
          <a:solidFill>
            <a:srgbClr val="FCE8E6"/>
          </a:solidFill>
          <a:ln w="12700">
            <a:solidFill>
              <a:srgbClr val="EA4335"/>
            </a:solidFill>
          </a:ln>
        </p:spPr>
        <p:txBody>
          <a:bodyPr wrap="square" lIns="762" tIns="762" rIns="762" bIns="762" rtlCol="0" anchor="ctr">
            <a:normAutofit/>
          </a:bodyPr>
          <a:lstStyle/>
          <a:p>
            <a:pPr algn="ctr" indent="0" marL="0">
              <a:buNone/>
            </a:pPr>
            <a:r>
              <a:rPr lang="en-US" sz="920" b="1" dirty="0">
                <a:solidFill>
                  <a:srgbClr val="EA4335"/>
                </a:solidFill>
                <a:latin typeface="Aptos" pitchFamily="34" charset="0"/>
                <a:ea typeface="Aptos" pitchFamily="34" charset="-122"/>
                <a:cs typeface="Aptos" pitchFamily="34" charset="-120"/>
              </a:rPr>
              <a:t>Approval</a:t>
            </a:r>
            <a:endParaRPr lang="en-US" sz="920" dirty="0"/>
          </a:p>
        </p:txBody>
      </p:sp>
      <p:sp>
        <p:nvSpPr>
          <p:cNvPr id="26" name="Text 24"/>
          <p:cNvSpPr/>
          <p:nvPr/>
        </p:nvSpPr>
        <p:spPr>
          <a:xfrm>
            <a:off x="685800" y="3840480"/>
            <a:ext cx="1417320" cy="640080"/>
          </a:xfrm>
          <a:prstGeom prst="rect">
            <a:avLst/>
          </a:prstGeom>
          <a:solidFill>
            <a:srgbClr val="F8F9FA"/>
          </a:solidFill>
          <a:ln w="12700">
            <a:solidFill>
              <a:srgbClr val="DADCE0"/>
            </a:solidFill>
          </a:ln>
        </p:spPr>
        <p:txBody>
          <a:bodyPr wrap="square" lIns="762" tIns="762" rIns="762" bIns="762" rtlCol="0" anchor="ctr">
            <a:normAutofit/>
          </a:bodyPr>
          <a:lstStyle/>
          <a:p>
            <a:pPr algn="ctr" indent="0" marL="0">
              <a:buNone/>
            </a:pPr>
            <a:r>
              <a:rPr lang="en-US" sz="920" b="1" dirty="0">
                <a:solidFill>
                  <a:srgbClr val="DADCE0"/>
                </a:solidFill>
                <a:latin typeface="Aptos" pitchFamily="34" charset="0"/>
                <a:ea typeface="Aptos" pitchFamily="34" charset="-122"/>
                <a:cs typeface="Aptos" pitchFamily="34" charset="-120"/>
              </a:rPr>
              <a:t>Eval + Loops</a:t>
            </a:r>
            <a:endParaRPr lang="en-US" sz="920" dirty="0"/>
          </a:p>
        </p:txBody>
      </p:sp>
      <p:sp>
        <p:nvSpPr>
          <p:cNvPr id="27" name="Text 25"/>
          <p:cNvSpPr/>
          <p:nvPr/>
        </p:nvSpPr>
        <p:spPr>
          <a:xfrm>
            <a:off x="2057400" y="5349240"/>
            <a:ext cx="8001000" cy="548640"/>
          </a:xfrm>
          <a:prstGeom prst="rect">
            <a:avLst/>
          </a:prstGeom>
          <a:solidFill>
            <a:srgbClr val="F8F9FA"/>
          </a:solidFill>
          <a:ln w="12700">
            <a:solidFill>
              <a:srgbClr val="DADCE0"/>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Course pattern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Add a capability, verify it, compare it, preserve the checkpoint, and advance.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E6F4EA"/>
          </a:solidFill>
          <a:ln/>
        </p:spPr>
        <p:txBody>
          <a:bodyPr wrap="square" lIns="381" tIns="381" rIns="381" bIns="381" rtlCol="0" anchor="ctr">
            <a:normAutofit/>
          </a:bodyPr>
          <a:lstStyle/>
          <a:p>
            <a:pPr indent="0" marL="0">
              <a:buNone/>
            </a:pPr>
            <a:r>
              <a:rPr lang="en-US" sz="600" b="1" dirty="0">
                <a:solidFill>
                  <a:srgbClr val="34A853"/>
                </a:solidFill>
                <a:latin typeface="Aptos" pitchFamily="34" charset="0"/>
                <a:ea typeface="Aptos" pitchFamily="34" charset="-122"/>
                <a:cs typeface="Aptos" pitchFamily="34" charset="-120"/>
              </a:rPr>
              <a:t>VALUE</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Business value and learning value</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The same build delivers a useful business capability and a structured agent-engineering education.</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WidgetWare SDR Bridge</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09</a:t>
            </a:r>
            <a:endParaRPr lang="en-US" sz="600" dirty="0"/>
          </a:p>
        </p:txBody>
      </p:sp>
      <p:sp>
        <p:nvSpPr>
          <p:cNvPr id="8" name="Text 6"/>
          <p:cNvSpPr/>
          <p:nvPr/>
        </p:nvSpPr>
        <p:spPr>
          <a:xfrm>
            <a:off x="914400" y="1828800"/>
            <a:ext cx="4297680" cy="2743200"/>
          </a:xfrm>
          <a:prstGeom prst="rect">
            <a:avLst/>
          </a:prstGeom>
          <a:solidFill>
            <a:srgbClr val="E6F4EA"/>
          </a:solidFill>
          <a:ln w="12700">
            <a:solidFill>
              <a:srgbClr val="34A853"/>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Business value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better research</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consistent qualification</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evidence-backed recommendations</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cleaner sales handoff</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reduced preparation effort</a:t>
            </a:r>
            <a:endParaRPr lang="en-US" sz="1200" dirty="0"/>
          </a:p>
        </p:txBody>
      </p:sp>
      <p:sp>
        <p:nvSpPr>
          <p:cNvPr id="9" name="Text 7"/>
          <p:cNvSpPr/>
          <p:nvPr/>
        </p:nvSpPr>
        <p:spPr>
          <a:xfrm>
            <a:off x="6995160" y="1828800"/>
            <a:ext cx="4297680" cy="2743200"/>
          </a:xfrm>
          <a:prstGeom prst="rect">
            <a:avLst/>
          </a:prstGeom>
          <a:solidFill>
            <a:srgbClr val="E8F0FE"/>
          </a:solidFill>
          <a:ln w="12700">
            <a:solidFill>
              <a:srgbClr val="4285F4"/>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Learning value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context engineering</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controlled tools</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typed contracts</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multi-agent orchestration</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human-in-the-loop design</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evaluation against outcomes</a:t>
            </a:r>
            <a:endParaRPr lang="en-US" sz="1200" dirty="0"/>
          </a:p>
        </p:txBody>
      </p:sp>
      <p:sp>
        <p:nvSpPr>
          <p:cNvPr id="10" name="Text 8"/>
          <p:cNvSpPr/>
          <p:nvPr/>
        </p:nvSpPr>
        <p:spPr>
          <a:xfrm>
            <a:off x="1737360" y="5266944"/>
            <a:ext cx="8732520" cy="438912"/>
          </a:xfrm>
          <a:prstGeom prst="rect">
            <a:avLst/>
          </a:prstGeom>
          <a:noFill/>
          <a:ln/>
        </p:spPr>
        <p:txBody>
          <a:bodyPr wrap="square" lIns="508" tIns="508" rIns="508" bIns="508" rtlCol="0" anchor="ctr">
            <a:normAutofit/>
          </a:bodyPr>
          <a:lstStyle/>
          <a:p>
            <a:pPr algn="ctr" indent="0" marL="0">
              <a:buNone/>
            </a:pPr>
            <a:r>
              <a:rPr lang="en-US" sz="2300" b="1" dirty="0">
                <a:solidFill>
                  <a:srgbClr val="202124"/>
                </a:solidFill>
                <a:latin typeface="Aptos Display" pitchFamily="34" charset="0"/>
                <a:ea typeface="Aptos Display" pitchFamily="34" charset="-122"/>
                <a:cs typeface="Aptos Display" pitchFamily="34" charset="-120"/>
              </a:rPr>
              <a:t>Learners solve something real while learning something new.</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29184"/>
            <a:ext cx="2057400" cy="201168"/>
          </a:xfrm>
          <a:prstGeom prst="rect">
            <a:avLst/>
          </a:prstGeom>
          <a:solidFill>
            <a:srgbClr val="FCE8E6"/>
          </a:solidFill>
          <a:ln/>
        </p:spPr>
        <p:txBody>
          <a:bodyPr wrap="square" lIns="381" tIns="381" rIns="381" bIns="381" rtlCol="0" anchor="ctr">
            <a:normAutofit/>
          </a:bodyPr>
          <a:lstStyle/>
          <a:p>
            <a:pPr indent="0" marL="0">
              <a:buNone/>
            </a:pPr>
            <a:r>
              <a:rPr lang="en-US" sz="600" b="1" dirty="0">
                <a:solidFill>
                  <a:srgbClr val="EA4335"/>
                </a:solidFill>
                <a:latin typeface="Aptos" pitchFamily="34" charset="0"/>
                <a:ea typeface="Aptos" pitchFamily="34" charset="-122"/>
                <a:cs typeface="Aptos" pitchFamily="34" charset="-120"/>
              </a:rPr>
              <a:t>BOUNDARY</a:t>
            </a:r>
            <a:endParaRPr lang="en-US" sz="600" dirty="0"/>
          </a:p>
        </p:txBody>
      </p:sp>
      <p:sp>
        <p:nvSpPr>
          <p:cNvPr id="3" name="Text 1"/>
          <p:cNvSpPr/>
          <p:nvPr/>
        </p:nvSpPr>
        <p:spPr>
          <a:xfrm>
            <a:off x="594360" y="685800"/>
            <a:ext cx="10607040" cy="502920"/>
          </a:xfrm>
          <a:prstGeom prst="rect">
            <a:avLst/>
          </a:prstGeom>
          <a:noFill/>
          <a:ln/>
        </p:spPr>
        <p:txBody>
          <a:bodyPr wrap="square" lIns="0" tIns="0" rIns="0" bIns="0" rtlCol="0" anchor="ctr">
            <a:normAutofit/>
          </a:bodyPr>
          <a:lstStyle/>
          <a:p>
            <a:pPr indent="0" marL="0">
              <a:buNone/>
            </a:pPr>
            <a:r>
              <a:rPr lang="en-US" sz="2700" b="1" dirty="0">
                <a:solidFill>
                  <a:srgbClr val="202124"/>
                </a:solidFill>
                <a:latin typeface="Aptos Display" pitchFamily="34" charset="0"/>
                <a:ea typeface="Aptos Display" pitchFamily="34" charset="-122"/>
                <a:cs typeface="Aptos Display" pitchFamily="34" charset="-120"/>
              </a:rPr>
              <a:t>Controlled autonomy is the product boundary</a:t>
            </a:r>
            <a:endParaRPr lang="en-US" sz="2700" dirty="0"/>
          </a:p>
        </p:txBody>
      </p:sp>
      <p:sp>
        <p:nvSpPr>
          <p:cNvPr id="4" name="Text 2"/>
          <p:cNvSpPr/>
          <p:nvPr/>
        </p:nvSpPr>
        <p:spPr>
          <a:xfrm>
            <a:off x="594360" y="1197864"/>
            <a:ext cx="10241280" cy="256032"/>
          </a:xfrm>
          <a:prstGeom prst="rect">
            <a:avLst/>
          </a:prstGeom>
          <a:noFill/>
          <a:ln/>
        </p:spPr>
        <p:txBody>
          <a:bodyPr wrap="square" lIns="0" tIns="0" rIns="0" bIns="0" rtlCol="0" anchor="ctr">
            <a:normAutofit/>
          </a:bodyPr>
          <a:lstStyle/>
          <a:p>
            <a:pPr indent="0" marL="0">
              <a:buNone/>
            </a:pPr>
            <a:r>
              <a:rPr lang="en-US" sz="950" dirty="0">
                <a:solidFill>
                  <a:srgbClr val="5F6368"/>
                </a:solidFill>
                <a:latin typeface="Aptos" pitchFamily="34" charset="0"/>
                <a:ea typeface="Aptos" pitchFamily="34" charset="-122"/>
                <a:cs typeface="Aptos" pitchFamily="34" charset="-120"/>
              </a:rPr>
              <a:t>WidgetWare prepares. Humans authorize consequential external action.</a:t>
            </a:r>
            <a:endParaRPr lang="en-US" sz="950" dirty="0"/>
          </a:p>
        </p:txBody>
      </p:sp>
      <p:sp>
        <p:nvSpPr>
          <p:cNvPr id="5" name="Shape 3"/>
          <p:cNvSpPr/>
          <p:nvPr/>
        </p:nvSpPr>
        <p:spPr>
          <a:xfrm>
            <a:off x="411480" y="6473952"/>
            <a:ext cx="11384280" cy="0"/>
          </a:xfrm>
          <a:prstGeom prst="line">
            <a:avLst/>
          </a:prstGeom>
          <a:noFill/>
          <a:ln w="12700">
            <a:solidFill>
              <a:srgbClr val="E8EAED"/>
            </a:solidFill>
            <a:prstDash val="solid"/>
          </a:ln>
        </p:spPr>
      </p:sp>
      <p:sp>
        <p:nvSpPr>
          <p:cNvPr id="6" name="Text 4"/>
          <p:cNvSpPr/>
          <p:nvPr/>
        </p:nvSpPr>
        <p:spPr>
          <a:xfrm>
            <a:off x="411480" y="6556248"/>
            <a:ext cx="4937760" cy="146304"/>
          </a:xfrm>
          <a:prstGeom prst="rect">
            <a:avLst/>
          </a:prstGeom>
          <a:noFill/>
          <a:ln/>
        </p:spPr>
        <p:txBody>
          <a:bodyPr wrap="square" lIns="0" tIns="0" rIns="0" bIns="0" rtlCol="0" anchor="ctr"/>
          <a:lstStyle/>
          <a:p>
            <a:pPr indent="0" marL="0">
              <a:buNone/>
            </a:pPr>
            <a:r>
              <a:rPr lang="en-US" sz="580" dirty="0">
                <a:solidFill>
                  <a:srgbClr val="9AA0A6"/>
                </a:solidFill>
                <a:latin typeface="Aptos" pitchFamily="34" charset="0"/>
                <a:ea typeface="Aptos" pitchFamily="34" charset="-122"/>
                <a:cs typeface="Aptos" pitchFamily="34" charset="-120"/>
              </a:rPr>
              <a:t>WidgetWare SDR Bridge</a:t>
            </a:r>
            <a:endParaRPr lang="en-US" sz="580" dirty="0"/>
          </a:p>
        </p:txBody>
      </p:sp>
      <p:sp>
        <p:nvSpPr>
          <p:cNvPr id="7" name="Text 5"/>
          <p:cNvSpPr/>
          <p:nvPr/>
        </p:nvSpPr>
        <p:spPr>
          <a:xfrm>
            <a:off x="11155680" y="6537960"/>
            <a:ext cx="594360" cy="146304"/>
          </a:xfrm>
          <a:prstGeom prst="rect">
            <a:avLst/>
          </a:prstGeom>
          <a:noFill/>
          <a:ln/>
        </p:spPr>
        <p:txBody>
          <a:bodyPr wrap="square" lIns="0" tIns="0" rIns="0" bIns="0" rtlCol="0" anchor="ctr"/>
          <a:lstStyle/>
          <a:p>
            <a:pPr algn="r" indent="0" marL="0">
              <a:buNone/>
            </a:pPr>
            <a:r>
              <a:rPr lang="en-US" sz="600" dirty="0">
                <a:solidFill>
                  <a:srgbClr val="9AA0A6"/>
                </a:solidFill>
                <a:latin typeface="Aptos" pitchFamily="34" charset="0"/>
                <a:ea typeface="Aptos" pitchFamily="34" charset="-122"/>
                <a:cs typeface="Aptos" pitchFamily="34" charset="-120"/>
              </a:rPr>
              <a:t>10</a:t>
            </a:r>
            <a:endParaRPr lang="en-US" sz="600" dirty="0"/>
          </a:p>
        </p:txBody>
      </p:sp>
      <p:sp>
        <p:nvSpPr>
          <p:cNvPr id="8" name="Text 6"/>
          <p:cNvSpPr/>
          <p:nvPr/>
        </p:nvSpPr>
        <p:spPr>
          <a:xfrm>
            <a:off x="960120" y="1783080"/>
            <a:ext cx="4023360" cy="2743200"/>
          </a:xfrm>
          <a:prstGeom prst="rect">
            <a:avLst/>
          </a:prstGeom>
          <a:solidFill>
            <a:srgbClr val="E6F4EA"/>
          </a:solidFill>
          <a:ln w="12700">
            <a:solidFill>
              <a:srgbClr val="34A853"/>
            </a:solidFill>
          </a:ln>
        </p:spPr>
        <p:txBody>
          <a:bodyPr wrap="square" lIns="1905" tIns="1905" rIns="1905" bIns="1905" rtlCol="0" anchor="ctr">
            <a:normAutofit/>
          </a:bodyPr>
          <a:lstStyle/>
          <a:p>
            <a:pPr indent="0" marL="0">
              <a:buNone/>
            </a:pPr>
            <a:r>
              <a:rPr lang="en-US" sz="1300" b="1" dirty="0">
                <a:solidFill>
                  <a:srgbClr val="202124"/>
                </a:solidFill>
                <a:latin typeface="Aptos" pitchFamily="34" charset="0"/>
                <a:ea typeface="Aptos" pitchFamily="34" charset="-122"/>
                <a:cs typeface="Aptos" pitchFamily="34" charset="-120"/>
              </a:rPr>
              <a:t>WidgetWare will
</a:t>
            </a:r>
            <a:endParaRPr lang="en-US" sz="1300" dirty="0"/>
          </a:p>
          <a:p>
            <a:pPr indent="0" marL="0">
              <a:buNone/>
            </a:pPr>
            <a:r>
              <a:rPr lang="en-US" sz="1300" dirty="0">
                <a:solidFill>
                  <a:srgbClr val="202124"/>
                </a:solidFill>
                <a:latin typeface="Aptos" pitchFamily="34" charset="0"/>
                <a:ea typeface="Aptos" pitchFamily="34" charset="-122"/>
                <a:cs typeface="Aptos" pitchFamily="34" charset="-120"/>
              </a:rPr>
              <a:t>research</a:t>
            </a:r>
            <a:endParaRPr lang="en-US" sz="1300" dirty="0"/>
          </a:p>
          <a:p>
            <a:pPr indent="0" marL="0">
              <a:buNone/>
            </a:pPr>
            <a:r>
              <a:rPr lang="en-US" sz="1300" dirty="0">
                <a:solidFill>
                  <a:srgbClr val="202124"/>
                </a:solidFill>
                <a:latin typeface="Aptos" pitchFamily="34" charset="0"/>
                <a:ea typeface="Aptos" pitchFamily="34" charset="-122"/>
                <a:cs typeface="Aptos" pitchFamily="34" charset="-120"/>
              </a:rPr>
              <a:t>recommend</a:t>
            </a:r>
            <a:endParaRPr lang="en-US" sz="1300" dirty="0"/>
          </a:p>
          <a:p>
            <a:pPr indent="0" marL="0">
              <a:buNone/>
            </a:pPr>
            <a:r>
              <a:rPr lang="en-US" sz="1300" dirty="0">
                <a:solidFill>
                  <a:srgbClr val="202124"/>
                </a:solidFill>
                <a:latin typeface="Aptos" pitchFamily="34" charset="0"/>
                <a:ea typeface="Aptos" pitchFamily="34" charset="-122"/>
                <a:cs typeface="Aptos" pitchFamily="34" charset="-120"/>
              </a:rPr>
              <a:t>draft</a:t>
            </a:r>
            <a:endParaRPr lang="en-US" sz="1300" dirty="0"/>
          </a:p>
          <a:p>
            <a:pPr indent="0" marL="0">
              <a:buNone/>
            </a:pPr>
            <a:r>
              <a:rPr lang="en-US" sz="1300" dirty="0">
                <a:solidFill>
                  <a:srgbClr val="202124"/>
                </a:solidFill>
                <a:latin typeface="Aptos" pitchFamily="34" charset="0"/>
                <a:ea typeface="Aptos" pitchFamily="34" charset="-122"/>
                <a:cs typeface="Aptos" pitchFamily="34" charset="-120"/>
              </a:rPr>
              <a:t>prepare approval package</a:t>
            </a:r>
            <a:endParaRPr lang="en-US" sz="1300" dirty="0"/>
          </a:p>
          <a:p>
            <a:pPr indent="0" marL="0">
              <a:buNone/>
            </a:pPr>
            <a:r>
              <a:rPr lang="en-US" sz="1300" dirty="0">
                <a:solidFill>
                  <a:srgbClr val="202124"/>
                </a:solidFill>
                <a:latin typeface="Aptos" pitchFamily="34" charset="0"/>
                <a:ea typeface="Aptos" pitchFamily="34" charset="-122"/>
                <a:cs typeface="Aptos" pitchFamily="34" charset="-120"/>
              </a:rPr>
              <a:t>record human decision</a:t>
            </a:r>
            <a:endParaRPr lang="en-US" sz="1300" dirty="0"/>
          </a:p>
        </p:txBody>
      </p:sp>
      <p:sp>
        <p:nvSpPr>
          <p:cNvPr id="9" name="Text 7"/>
          <p:cNvSpPr/>
          <p:nvPr/>
        </p:nvSpPr>
        <p:spPr>
          <a:xfrm>
            <a:off x="7223760" y="1783080"/>
            <a:ext cx="4023360" cy="2743200"/>
          </a:xfrm>
          <a:prstGeom prst="rect">
            <a:avLst/>
          </a:prstGeom>
          <a:solidFill>
            <a:srgbClr val="FCE8E6"/>
          </a:solidFill>
          <a:ln w="12700">
            <a:solidFill>
              <a:srgbClr val="EA4335"/>
            </a:solidFill>
          </a:ln>
        </p:spPr>
        <p:txBody>
          <a:bodyPr wrap="square" lIns="1905" tIns="1905" rIns="1905" bIns="1905" rtlCol="0" anchor="ctr">
            <a:normAutofit/>
          </a:bodyPr>
          <a:lstStyle/>
          <a:p>
            <a:pPr indent="0" marL="0">
              <a:buNone/>
            </a:pPr>
            <a:r>
              <a:rPr lang="en-US" sz="1200" b="1" dirty="0">
                <a:solidFill>
                  <a:srgbClr val="202124"/>
                </a:solidFill>
                <a:latin typeface="Aptos" pitchFamily="34" charset="0"/>
                <a:ea typeface="Aptos" pitchFamily="34" charset="-122"/>
                <a:cs typeface="Aptos" pitchFamily="34" charset="-120"/>
              </a:rPr>
              <a:t>WidgetWare will not
</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fabricate evidence</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send email autonomously</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post messages</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modify CRM without authorization</a:t>
            </a:r>
            <a:endParaRPr lang="en-US" sz="1200" dirty="0"/>
          </a:p>
          <a:p>
            <a:pPr indent="0" marL="0">
              <a:buNone/>
            </a:pPr>
            <a:r>
              <a:rPr lang="en-US" sz="1200" dirty="0">
                <a:solidFill>
                  <a:srgbClr val="202124"/>
                </a:solidFill>
                <a:latin typeface="Aptos" pitchFamily="34" charset="0"/>
                <a:ea typeface="Aptos" pitchFamily="34" charset="-122"/>
                <a:cs typeface="Aptos" pitchFamily="34" charset="-120"/>
              </a:rPr>
              <a:t>make pricing or legal commitments</a:t>
            </a:r>
            <a:endParaRPr lang="en-US" sz="1200" dirty="0"/>
          </a:p>
        </p:txBody>
      </p:sp>
      <p:sp>
        <p:nvSpPr>
          <p:cNvPr id="10" name="Text 8"/>
          <p:cNvSpPr/>
          <p:nvPr/>
        </p:nvSpPr>
        <p:spPr>
          <a:xfrm>
            <a:off x="1920240" y="5193792"/>
            <a:ext cx="8412480" cy="502920"/>
          </a:xfrm>
          <a:prstGeom prst="rect">
            <a:avLst/>
          </a:prstGeom>
          <a:solidFill>
            <a:srgbClr val="FEF7E0"/>
          </a:solidFill>
          <a:ln w="12700">
            <a:solidFill>
              <a:srgbClr val="FBBC04"/>
            </a:solidFill>
          </a:ln>
        </p:spPr>
        <p:txBody>
          <a:bodyPr wrap="square" lIns="762" tIns="762" rIns="762" bIns="762" rtlCol="0" anchor="ctr">
            <a:normAutofit/>
          </a:bodyPr>
          <a:lstStyle/>
          <a:p>
            <a:pPr algn="ctr" indent="0" marL="0">
              <a:buNone/>
            </a:pPr>
            <a:r>
              <a:rPr lang="en-US" sz="1280" b="1" dirty="0">
                <a:solidFill>
                  <a:srgbClr val="FBBC04"/>
                </a:solidFill>
                <a:latin typeface="Aptos" pitchFamily="34" charset="0"/>
                <a:ea typeface="Aptos" pitchFamily="34" charset="-122"/>
                <a:cs typeface="Aptos" pitchFamily="34" charset="-120"/>
              </a:rPr>
              <a:t>Book 1 reaches “prepare for approval,” not “autonomously act outside the system.”</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CloudKarya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WidgetWare SDR: Learning Agent Engineering Through a Real Business Problem</dc:title>
  <dc:subject>WidgetWare SDR bridge to Agent Engineering</dc:subject>
  <dc:creator>CloudKarya / ML Academy</dc:creator>
  <cp:lastModifiedBy>CloudKarya / ML Academy</cp:lastModifiedBy>
  <cp:revision>1</cp:revision>
  <dcterms:created xsi:type="dcterms:W3CDTF">2026-07-31T05:03:05Z</dcterms:created>
  <dcterms:modified xsi:type="dcterms:W3CDTF">2026-07-31T05:03:05Z</dcterms:modified>
</cp:coreProperties>
</file>