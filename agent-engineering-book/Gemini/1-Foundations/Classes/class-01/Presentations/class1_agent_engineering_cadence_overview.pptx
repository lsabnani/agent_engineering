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expectation that Class 1 is about orientation and readiness. The detailed agentic concepts and SDR process will be taught separately. This deck explains how the class will operate, how learners will recover from broken work, and what readiness means before the first major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Class 1 merges the practical purpose of the first two chapters. The agentic and SDR content stays in separate presentations. This overview sits around those modules and gives students the operating rhythm for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timebox the session. The detailed content for agentic systems and SDR should come from separate decks. The unique purpose of this overview is to define the class rhythm, repository practice, baseline strategy, and readiness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treating Class 1 success as attendance or passive understanding. Success must be demonstrated: repository access, Antigravity workspace navigation, baseline restoration, and a passing verification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course cadence clearly: Review, Reset, Learn, Check, Build, Verify, Advance. The prior cadence items are preserved inside these seven phases: homework review, mistakes, golden code, concepts, Kahoot, build, tests, comparison, and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review as structured engineering feedback rather than public debugging. The goal is to surface patterns that help the entire class. Individual broken work should not block the student, because the next step is resetting to a known-good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key recovery principle. Students can learn from their broken Class 4 work, but they do not need to carry those defects into Class 5. The previous golden checkpoint is a reset point, not a shortcut around today’s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intentionally operational. Learners should fork the repository only once. The instructor repository remains the authoritative upstream source. Each learner works in their own fork and local clone. The course URL is https://github.com/sensei-ji/agent_engineering.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difference between the casual phrase “get the golden code” and the precise technical workflow. Students clone once, add upstream once, and then use fetch/sync plus checkpoints at the start of each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slides in the overview. The previous class reference is allowed as the starting point. The current class reference should stay closed until the learner has implemented and tested their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knowledge check comes before the build: it exposes misunderstandings early. The build should not become blind code copying. Students should know what is changing, why it is changing, and how they will prove that it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deterministic testing from qualitative review. A test suite can tell us whether the implementation meets the contract. The grading rubric helps assess engineering judgment, clarity, grounding, and whether the learner understands what they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academic honesty and engineering maturity without making the slide punitive. The reference solution should help students compare and reason. It should not replace learning or experimentation.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each class with an explicit handoff. Students should know whether they are ready to move forward or have one specific revision to complete. This prevents vague homework and preserves continuity across the ten-class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policy prevents Class 1 from becoming an installation clinic. Students should complete as much preflight work as possible before class. During class, the instructor verifies that Antigravity, Git, the repository, and the baseline workflow are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final operational checklist. It is also useful as a final classroom poll. Any unchecked item becomes a targeted support issue before the next build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sensei-ji/agent_engineering"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640080" y="502920"/>
            <a:ext cx="1005840" cy="292608"/>
          </a:xfrm>
          <a:prstGeom prst="roundRect">
            <a:avLst/>
          </a:prstGeom>
          <a:solidFill>
            <a:srgbClr val="E8F0FE"/>
          </a:solidFill>
          <a:ln>
            <a:solidFill>
              <a:srgbClr val="E8F0FE"/>
            </a:solidFill>
          </a:ln>
        </p:spPr>
        <p:txBody>
          <a:bodyPr wrap="square" lIns="0" tIns="0" rIns="0" bIns="0" rtlCol="0" anchor="ctr"/>
          <a:lstStyle/>
          <a:p>
            <a:pPr algn="ctr" indent="0" marL="0">
              <a:buNone/>
            </a:pPr>
            <a:r>
              <a:rPr lang="en-US" sz="1050" b="1" dirty="0">
                <a:solidFill>
                  <a:srgbClr val="1A73E8"/>
                </a:solidFill>
              </a:rPr>
              <a:t>Class 1</a:t>
            </a:r>
            <a:endParaRPr lang="en-US" sz="1050" dirty="0"/>
          </a:p>
        </p:txBody>
      </p:sp>
      <p:sp>
        <p:nvSpPr>
          <p:cNvPr id="5" name="Text 3"/>
          <p:cNvSpPr/>
          <p:nvPr/>
        </p:nvSpPr>
        <p:spPr>
          <a:xfrm>
            <a:off x="621792" y="1051560"/>
            <a:ext cx="5715000" cy="1371600"/>
          </a:xfrm>
          <a:prstGeom prst="rect">
            <a:avLst/>
          </a:prstGeom>
          <a:noFill/>
          <a:ln/>
        </p:spPr>
        <p:txBody>
          <a:bodyPr wrap="square" lIns="0" tIns="0" rIns="0" bIns="0" rtlCol="0" anchor="ctr">
            <a:normAutofit/>
          </a:bodyPr>
          <a:lstStyle/>
          <a:p>
            <a:pPr indent="0" marL="0">
              <a:buNone/>
            </a:pPr>
            <a:r>
              <a:rPr lang="en-US" sz="3400" b="1" dirty="0">
                <a:solidFill>
                  <a:srgbClr val="111827"/>
                </a:solidFill>
                <a:latin typeface="Arial" pitchFamily="34" charset="0"/>
                <a:ea typeface="Arial" pitchFamily="34" charset="-122"/>
                <a:cs typeface="Arial" pitchFamily="34" charset="-120"/>
              </a:rPr>
              <a:t>Course Orientation</a:t>
            </a:r>
            <a:endParaRPr lang="en-US" sz="3400" dirty="0"/>
          </a:p>
          <a:p>
            <a:pPr indent="0" marL="0">
              <a:buNone/>
            </a:pPr>
            <a:r>
              <a:rPr lang="en-US" sz="3400" b="1" dirty="0">
                <a:solidFill>
                  <a:srgbClr val="111827"/>
                </a:solidFill>
                <a:latin typeface="Arial" pitchFamily="34" charset="0"/>
                <a:ea typeface="Arial" pitchFamily="34" charset="-122"/>
                <a:cs typeface="Arial" pitchFamily="34" charset="-120"/>
              </a:rPr>
              <a:t>and Build Readiness</a:t>
            </a:r>
            <a:endParaRPr lang="en-US" sz="3400" dirty="0"/>
          </a:p>
        </p:txBody>
      </p:sp>
      <p:sp>
        <p:nvSpPr>
          <p:cNvPr id="6" name="Text 4"/>
          <p:cNvSpPr/>
          <p:nvPr/>
        </p:nvSpPr>
        <p:spPr>
          <a:xfrm>
            <a:off x="658368" y="2514600"/>
            <a:ext cx="5669280" cy="365760"/>
          </a:xfrm>
          <a:prstGeom prst="rect">
            <a:avLst/>
          </a:prstGeom>
          <a:noFill/>
          <a:ln/>
        </p:spPr>
        <p:txBody>
          <a:bodyPr wrap="square" lIns="0" tIns="0" rIns="0" bIns="0" rtlCol="0" anchor="ctr"/>
          <a:lstStyle/>
          <a:p>
            <a:pPr indent="0" marL="0">
              <a:buNone/>
            </a:pPr>
            <a:r>
              <a:rPr lang="en-US" sz="1600" dirty="0">
                <a:solidFill>
                  <a:srgbClr val="475569"/>
                </a:solidFill>
              </a:rPr>
              <a:t>Agent Engineering with Gemini, ADK &amp; Antigravity</a:t>
            </a:r>
            <a:endParaRPr lang="en-US" sz="1600" dirty="0"/>
          </a:p>
        </p:txBody>
      </p:sp>
      <p:sp>
        <p:nvSpPr>
          <p:cNvPr id="7" name="Text 5"/>
          <p:cNvSpPr/>
          <p:nvPr/>
        </p:nvSpPr>
        <p:spPr>
          <a:xfrm>
            <a:off x="6812280" y="960120"/>
            <a:ext cx="4251960" cy="621792"/>
          </a:xfrm>
          <a:prstGeom prst="roundRect">
            <a:avLst>
              <a:gd name="adj" fmla="val 14706"/>
            </a:avLst>
          </a:prstGeom>
          <a:solidFill>
            <a:srgbClr val="E8F0FE"/>
          </a:solidFill>
          <a:ln w="12700">
            <a:solidFill>
              <a:srgbClr val="E8F0FE"/>
            </a:solidFill>
          </a:ln>
        </p:spPr>
        <p:txBody>
          <a:bodyPr wrap="square" lIns="1651" tIns="1651" rIns="1651" bIns="1651" rtlCol="0" anchor="t">
            <a:normAutofit/>
          </a:bodyPr>
          <a:lstStyle/>
          <a:p>
            <a:pPr indent="0" marL="0">
              <a:buNone/>
            </a:pPr>
            <a:r>
              <a:rPr lang="en-US" sz="1400" b="1" dirty="0">
                <a:solidFill>
                  <a:srgbClr val="1A73E8"/>
                </a:solidFill>
                <a:latin typeface="Arial" pitchFamily="34" charset="0"/>
                <a:ea typeface="Arial" pitchFamily="34" charset="-122"/>
                <a:cs typeface="Arial" pitchFamily="34" charset="-120"/>
              </a:rPr>
              <a:t>Understand</a:t>
            </a:r>
            <a:endParaRPr lang="en-US" sz="1400" dirty="0"/>
          </a:p>
          <a:p>
            <a:pPr indent="0" marL="0">
              <a:buNone/>
            </a:pPr>
            <a:endParaRPr lang="en-US" sz="1400" dirty="0"/>
          </a:p>
          <a:p>
            <a:pPr indent="0" marL="0">
              <a:buNone/>
            </a:pPr>
            <a:r>
              <a:rPr lang="en-US" sz="1400" dirty="0">
                <a:solidFill>
                  <a:srgbClr val="1A73E8"/>
                </a:solidFill>
                <a:latin typeface="Arial" pitchFamily="34" charset="0"/>
                <a:ea typeface="Arial" pitchFamily="34" charset="-122"/>
                <a:cs typeface="Arial" pitchFamily="34" charset="-120"/>
              </a:rPr>
              <a:t>how the course is organized</a:t>
            </a:r>
            <a:endParaRPr lang="en-US" sz="1400" dirty="0"/>
          </a:p>
        </p:txBody>
      </p:sp>
      <p:sp>
        <p:nvSpPr>
          <p:cNvPr id="8" name="Text 6"/>
          <p:cNvSpPr/>
          <p:nvPr/>
        </p:nvSpPr>
        <p:spPr>
          <a:xfrm>
            <a:off x="6812280" y="1828800"/>
            <a:ext cx="4251960" cy="621792"/>
          </a:xfrm>
          <a:prstGeom prst="roundRect">
            <a:avLst>
              <a:gd name="adj" fmla="val 14706"/>
            </a:avLst>
          </a:prstGeom>
          <a:solidFill>
            <a:srgbClr val="E6F4EA"/>
          </a:solidFill>
          <a:ln w="12700">
            <a:solidFill>
              <a:srgbClr val="E6F4EA"/>
            </a:solidFill>
          </a:ln>
        </p:spPr>
        <p:txBody>
          <a:bodyPr wrap="square" lIns="1651" tIns="1651" rIns="1651" bIns="1651" rtlCol="0" anchor="t">
            <a:normAutofit/>
          </a:bodyPr>
          <a:lstStyle/>
          <a:p>
            <a:pPr indent="0" marL="0">
              <a:buNone/>
            </a:pPr>
            <a:r>
              <a:rPr lang="en-US" sz="1400" b="1" dirty="0">
                <a:solidFill>
                  <a:srgbClr val="34A853"/>
                </a:solidFill>
                <a:latin typeface="Arial" pitchFamily="34" charset="0"/>
                <a:ea typeface="Arial" pitchFamily="34" charset="-122"/>
                <a:cs typeface="Arial" pitchFamily="34" charset="-120"/>
              </a:rPr>
              <a:t>Prepare</a:t>
            </a:r>
            <a:endParaRPr lang="en-US" sz="1400" dirty="0"/>
          </a:p>
          <a:p>
            <a:pPr indent="0" marL="0">
              <a:buNone/>
            </a:pPr>
            <a:endParaRPr lang="en-US" sz="1400" dirty="0"/>
          </a:p>
          <a:p>
            <a:pPr indent="0" marL="0">
              <a:buNone/>
            </a:pPr>
            <a:r>
              <a:rPr lang="en-US" sz="1400" dirty="0">
                <a:solidFill>
                  <a:srgbClr val="34A853"/>
                </a:solidFill>
                <a:latin typeface="Arial" pitchFamily="34" charset="0"/>
                <a:ea typeface="Arial" pitchFamily="34" charset="-122"/>
                <a:cs typeface="Arial" pitchFamily="34" charset="-120"/>
              </a:rPr>
              <a:t>the Antigravity workspace</a:t>
            </a:r>
            <a:endParaRPr lang="en-US" sz="1400" dirty="0"/>
          </a:p>
        </p:txBody>
      </p:sp>
      <p:sp>
        <p:nvSpPr>
          <p:cNvPr id="9" name="Text 7"/>
          <p:cNvSpPr/>
          <p:nvPr/>
        </p:nvSpPr>
        <p:spPr>
          <a:xfrm>
            <a:off x="6812280" y="2697480"/>
            <a:ext cx="4251960" cy="621792"/>
          </a:xfrm>
          <a:prstGeom prst="roundRect">
            <a:avLst>
              <a:gd name="adj" fmla="val 14706"/>
            </a:avLst>
          </a:prstGeom>
          <a:solidFill>
            <a:srgbClr val="F3E8FF"/>
          </a:solidFill>
          <a:ln w="12700">
            <a:solidFill>
              <a:srgbClr val="F3E8FF"/>
            </a:solidFill>
          </a:ln>
        </p:spPr>
        <p:txBody>
          <a:bodyPr wrap="square" lIns="1651" tIns="1651" rIns="1651" bIns="1651" rtlCol="0" anchor="t">
            <a:normAutofit/>
          </a:bodyPr>
          <a:lstStyle/>
          <a:p>
            <a:pPr indent="0" marL="0">
              <a:buNone/>
            </a:pPr>
            <a:r>
              <a:rPr lang="en-US" sz="1400" b="1" dirty="0">
                <a:solidFill>
                  <a:srgbClr val="7C3AED"/>
                </a:solidFill>
                <a:latin typeface="Arial" pitchFamily="34" charset="0"/>
                <a:ea typeface="Arial" pitchFamily="34" charset="-122"/>
                <a:cs typeface="Arial" pitchFamily="34" charset="-120"/>
              </a:rPr>
              <a:t>Baseline</a:t>
            </a:r>
            <a:endParaRPr lang="en-US" sz="1400" dirty="0"/>
          </a:p>
          <a:p>
            <a:pPr indent="0" marL="0">
              <a:buNone/>
            </a:pPr>
            <a:endParaRPr lang="en-US" sz="1400" dirty="0"/>
          </a:p>
          <a:p>
            <a:pPr indent="0" marL="0">
              <a:buNone/>
            </a:pPr>
            <a:r>
              <a:rPr lang="en-US" sz="1400" dirty="0">
                <a:solidFill>
                  <a:srgbClr val="7C3AED"/>
                </a:solidFill>
                <a:latin typeface="Arial" pitchFamily="34" charset="0"/>
                <a:ea typeface="Arial" pitchFamily="34" charset="-122"/>
                <a:cs typeface="Arial" pitchFamily="34" charset="-120"/>
              </a:rPr>
              <a:t>from known-good code</a:t>
            </a:r>
            <a:endParaRPr lang="en-US" sz="1400" dirty="0"/>
          </a:p>
        </p:txBody>
      </p:sp>
      <p:sp>
        <p:nvSpPr>
          <p:cNvPr id="10" name="Text 8"/>
          <p:cNvSpPr/>
          <p:nvPr/>
        </p:nvSpPr>
        <p:spPr>
          <a:xfrm>
            <a:off x="6812280" y="3566160"/>
            <a:ext cx="4251960" cy="621792"/>
          </a:xfrm>
          <a:prstGeom prst="roundRect">
            <a:avLst>
              <a:gd name="adj" fmla="val 14706"/>
            </a:avLst>
          </a:prstGeom>
          <a:solidFill>
            <a:srgbClr val="FEF7E0"/>
          </a:solidFill>
          <a:ln w="12700">
            <a:solidFill>
              <a:srgbClr val="FEF7E0"/>
            </a:solidFill>
          </a:ln>
        </p:spPr>
        <p:txBody>
          <a:bodyPr wrap="square" lIns="1651" tIns="1651" rIns="1651" bIns="1651" rtlCol="0" anchor="t">
            <a:normAutofit/>
          </a:bodyPr>
          <a:lstStyle/>
          <a:p>
            <a:pPr indent="0" marL="0">
              <a:buNone/>
            </a:pPr>
            <a:r>
              <a:rPr lang="en-US" sz="1400" b="1" dirty="0">
                <a:solidFill>
                  <a:srgbClr val="FBBC04"/>
                </a:solidFill>
                <a:latin typeface="Arial" pitchFamily="34" charset="0"/>
                <a:ea typeface="Arial" pitchFamily="34" charset="-122"/>
                <a:cs typeface="Arial" pitchFamily="34" charset="-120"/>
              </a:rPr>
              <a:t>Verify</a:t>
            </a:r>
            <a:endParaRPr lang="en-US" sz="1400" dirty="0"/>
          </a:p>
          <a:p>
            <a:pPr indent="0" marL="0">
              <a:buNone/>
            </a:pPr>
            <a:endParaRPr lang="en-US" sz="1400" dirty="0"/>
          </a:p>
          <a:p>
            <a:pPr indent="0" marL="0">
              <a:buNone/>
            </a:pPr>
            <a:r>
              <a:rPr lang="en-US" sz="1400" dirty="0">
                <a:solidFill>
                  <a:srgbClr val="FBBC04"/>
                </a:solidFill>
                <a:latin typeface="Arial" pitchFamily="34" charset="0"/>
                <a:ea typeface="Arial" pitchFamily="34" charset="-122"/>
                <a:cs typeface="Arial" pitchFamily="34" charset="-120"/>
              </a:rPr>
              <a:t>readiness for Class 2</a:t>
            </a:r>
            <a:endParaRPr lang="en-US" sz="1400" dirty="0"/>
          </a:p>
        </p:txBody>
      </p:sp>
      <p:sp>
        <p:nvSpPr>
          <p:cNvPr id="11" name="Text 9"/>
          <p:cNvSpPr/>
          <p:nvPr/>
        </p:nvSpPr>
        <p:spPr>
          <a:xfrm>
            <a:off x="658368" y="5440680"/>
            <a:ext cx="9875520" cy="402336"/>
          </a:xfrm>
          <a:prstGeom prst="rect">
            <a:avLst/>
          </a:prstGeom>
          <a:noFill/>
          <a:ln/>
        </p:spPr>
        <p:txBody>
          <a:bodyPr wrap="square" lIns="0" tIns="0" rIns="0" bIns="0" rtlCol="0" anchor="ctr"/>
          <a:lstStyle/>
          <a:p>
            <a:pPr indent="0" marL="0">
              <a:buNone/>
            </a:pPr>
            <a:r>
              <a:rPr lang="en-US" sz="1500" dirty="0">
                <a:solidFill>
                  <a:srgbClr val="475569"/>
                </a:solidFill>
              </a:rPr>
              <a:t>This deck is the operating manual for the course. The agentic overview and SDR overview are separate modules.</a:t>
            </a:r>
            <a:endParaRPr lang="en-US" sz="1500" dirty="0"/>
          </a:p>
        </p:txBody>
      </p:sp>
      <p:sp>
        <p:nvSpPr>
          <p:cNvPr id="12" name="Text 10"/>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13" name="Text 11"/>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What Class 1 Contains</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The session combines conceptual context, environment readiness, and the course operating model.</a:t>
            </a:r>
            <a:endParaRPr lang="en-US" sz="1250" dirty="0"/>
          </a:p>
        </p:txBody>
      </p:sp>
      <p:sp>
        <p:nvSpPr>
          <p:cNvPr id="6" name="Text 4"/>
          <p:cNvSpPr/>
          <p:nvPr/>
        </p:nvSpPr>
        <p:spPr>
          <a:xfrm>
            <a:off x="594360" y="1234440"/>
            <a:ext cx="1965960" cy="256032"/>
          </a:xfrm>
          <a:prstGeom prst="roundRect">
            <a:avLst>
              <a:gd name="adj" fmla="val 28571"/>
            </a:avLst>
          </a:prstGeom>
          <a:solidFill>
            <a:srgbClr val="E8F0FE"/>
          </a:solidFill>
          <a:ln>
            <a:solidFill>
              <a:srgbClr val="E8F0FE"/>
            </a:solidFill>
          </a:ln>
        </p:spPr>
        <p:txBody>
          <a:bodyPr wrap="square" lIns="508" tIns="508" rIns="508" bIns="508" rtlCol="0" anchor="ctr"/>
          <a:lstStyle/>
          <a:p>
            <a:pPr algn="ctr" indent="0" marL="0">
              <a:buNone/>
            </a:pPr>
            <a:r>
              <a:rPr lang="en-US" sz="950" b="1" dirty="0">
                <a:solidFill>
                  <a:srgbClr val="1A73E8"/>
                </a:solidFill>
                <a:latin typeface="Arial" pitchFamily="34" charset="0"/>
                <a:ea typeface="Arial" pitchFamily="34" charset="-122"/>
                <a:cs typeface="Arial" pitchFamily="34" charset="-120"/>
              </a:rPr>
              <a:t>CLASS STRUCTURE</a:t>
            </a:r>
            <a:endParaRPr lang="en-US" sz="950" dirty="0"/>
          </a:p>
        </p:txBody>
      </p:sp>
      <p:sp>
        <p:nvSpPr>
          <p:cNvPr id="7" name="Text 5"/>
          <p:cNvSpPr/>
          <p:nvPr/>
        </p:nvSpPr>
        <p:spPr>
          <a:xfrm>
            <a:off x="731520" y="1847088"/>
            <a:ext cx="2926080" cy="2148840"/>
          </a:xfrm>
          <a:prstGeom prst="roundRect">
            <a:avLst>
              <a:gd name="adj" fmla="val 4255"/>
            </a:avLst>
          </a:prstGeom>
          <a:solidFill>
            <a:srgbClr val="FFFFFF"/>
          </a:solidFill>
          <a:ln w="12700">
            <a:solidFill>
              <a:srgbClr val="E5E7EB"/>
            </a:solidFill>
          </a:ln>
        </p:spPr>
        <p:txBody>
          <a:bodyPr wrap="square" lIns="2540" tIns="2540" rIns="2540" bIns="2540" rtlCol="0" anchor="t">
            <a:normAutofit/>
          </a:bodyPr>
          <a:lstStyle/>
          <a:p>
            <a:pPr indent="0" marL="0">
              <a:buNone/>
            </a:pPr>
            <a:r>
              <a:rPr lang="en-US" sz="1700" b="1" dirty="0">
                <a:solidFill>
                  <a:srgbClr val="111827"/>
                </a:solidFill>
                <a:latin typeface="Arial" pitchFamily="34" charset="0"/>
                <a:ea typeface="Arial" pitchFamily="34" charset="-122"/>
                <a:cs typeface="Arial" pitchFamily="34" charset="-120"/>
              </a:rPr>
              <a:t>Agentic + SDR orientation</a:t>
            </a:r>
            <a:endParaRPr lang="en-US" sz="1700" dirty="0"/>
          </a:p>
          <a:p>
            <a:pPr indent="0" marL="0">
              <a:buNone/>
            </a:pPr>
            <a:endParaRPr lang="en-US" sz="1700" dirty="0"/>
          </a:p>
          <a:p>
            <a:pPr indent="0" marL="0">
              <a:buNone/>
            </a:pPr>
            <a:r>
              <a:rPr lang="en-US" sz="1700" dirty="0">
                <a:solidFill>
                  <a:srgbClr val="111827"/>
                </a:solidFill>
                <a:latin typeface="Arial" pitchFamily="34" charset="0"/>
                <a:ea typeface="Arial" pitchFamily="34" charset="-122"/>
                <a:cs typeface="Arial" pitchFamily="34" charset="-120"/>
              </a:rPr>
              <a:t>Understand the system and business problem.</a:t>
            </a:r>
            <a:endParaRPr lang="en-US" sz="1700" dirty="0"/>
          </a:p>
        </p:txBody>
      </p:sp>
      <p:sp>
        <p:nvSpPr>
          <p:cNvPr id="8" name="Text 6"/>
          <p:cNvSpPr/>
          <p:nvPr/>
        </p:nvSpPr>
        <p:spPr>
          <a:xfrm>
            <a:off x="1033272" y="4315968"/>
            <a:ext cx="2331720" cy="329184"/>
          </a:xfrm>
          <a:prstGeom prst="roundRect">
            <a:avLst>
              <a:gd name="adj" fmla="val 22222"/>
            </a:avLst>
          </a:prstGeom>
          <a:solidFill>
            <a:srgbClr val="F3E8FF"/>
          </a:solidFill>
          <a:ln>
            <a:solidFill>
              <a:srgbClr val="F3E8FF"/>
            </a:solidFill>
          </a:ln>
        </p:spPr>
        <p:txBody>
          <a:bodyPr wrap="square" lIns="508" tIns="508" rIns="508" bIns="508"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Separate decks</a:t>
            </a:r>
            <a:endParaRPr lang="en-US" sz="1000" dirty="0"/>
          </a:p>
        </p:txBody>
      </p:sp>
      <p:sp>
        <p:nvSpPr>
          <p:cNvPr id="9" name="Text 7"/>
          <p:cNvSpPr/>
          <p:nvPr/>
        </p:nvSpPr>
        <p:spPr>
          <a:xfrm>
            <a:off x="4206240" y="1847088"/>
            <a:ext cx="2926080" cy="2148840"/>
          </a:xfrm>
          <a:prstGeom prst="roundRect">
            <a:avLst>
              <a:gd name="adj" fmla="val 4255"/>
            </a:avLst>
          </a:prstGeom>
          <a:solidFill>
            <a:srgbClr val="FFFFFF"/>
          </a:solidFill>
          <a:ln w="12700">
            <a:solidFill>
              <a:srgbClr val="E5E7EB"/>
            </a:solidFill>
          </a:ln>
        </p:spPr>
        <p:txBody>
          <a:bodyPr wrap="square" lIns="2540" tIns="2540" rIns="2540" bIns="2540" rtlCol="0" anchor="t">
            <a:normAutofit/>
          </a:bodyPr>
          <a:lstStyle/>
          <a:p>
            <a:pPr indent="0" marL="0">
              <a:buNone/>
            </a:pPr>
            <a:r>
              <a:rPr lang="en-US" sz="1700" b="1" dirty="0">
                <a:solidFill>
                  <a:srgbClr val="111827"/>
                </a:solidFill>
                <a:latin typeface="Arial" pitchFamily="34" charset="0"/>
                <a:ea typeface="Arial" pitchFamily="34" charset="-122"/>
                <a:cs typeface="Arial" pitchFamily="34" charset="-120"/>
              </a:rPr>
              <a:t>Antigravity setup</a:t>
            </a:r>
            <a:endParaRPr lang="en-US" sz="1700" dirty="0"/>
          </a:p>
          <a:p>
            <a:pPr indent="0" marL="0">
              <a:buNone/>
            </a:pPr>
            <a:endParaRPr lang="en-US" sz="1700" dirty="0"/>
          </a:p>
          <a:p>
            <a:pPr indent="0" marL="0">
              <a:buNone/>
            </a:pPr>
            <a:r>
              <a:rPr lang="en-US" sz="1700" dirty="0">
                <a:solidFill>
                  <a:srgbClr val="111827"/>
                </a:solidFill>
                <a:latin typeface="Arial" pitchFamily="34" charset="0"/>
                <a:ea typeface="Arial" pitchFamily="34" charset="-122"/>
                <a:cs typeface="Arial" pitchFamily="34" charset="-120"/>
              </a:rPr>
              <a:t>Prepare the workspace used throughout the course.</a:t>
            </a:r>
            <a:endParaRPr lang="en-US" sz="1700" dirty="0"/>
          </a:p>
        </p:txBody>
      </p:sp>
      <p:sp>
        <p:nvSpPr>
          <p:cNvPr id="10" name="Text 8"/>
          <p:cNvSpPr/>
          <p:nvPr/>
        </p:nvSpPr>
        <p:spPr>
          <a:xfrm>
            <a:off x="4507992" y="4315968"/>
            <a:ext cx="2331720" cy="329184"/>
          </a:xfrm>
          <a:prstGeom prst="roundRect">
            <a:avLst>
              <a:gd name="adj" fmla="val 22222"/>
            </a:avLst>
          </a:prstGeom>
          <a:solidFill>
            <a:srgbClr val="E6F4EA"/>
          </a:solidFill>
          <a:ln>
            <a:solidFill>
              <a:srgbClr val="E6F4EA"/>
            </a:solidFill>
          </a:ln>
        </p:spPr>
        <p:txBody>
          <a:bodyPr wrap="square" lIns="508" tIns="508" rIns="508" bIns="508" rtlCol="0" anchor="ctr"/>
          <a:lstStyle/>
          <a:p>
            <a:pPr algn="ctr" indent="0" marL="0">
              <a:buNone/>
            </a:pPr>
            <a:r>
              <a:rPr lang="en-US" sz="1000" b="1" dirty="0">
                <a:solidFill>
                  <a:srgbClr val="34A853"/>
                </a:solidFill>
                <a:latin typeface="Arial" pitchFamily="34" charset="0"/>
                <a:ea typeface="Arial" pitchFamily="34" charset="-122"/>
                <a:cs typeface="Arial" pitchFamily="34" charset="-120"/>
              </a:rPr>
              <a:t>Guided setup</a:t>
            </a:r>
            <a:endParaRPr lang="en-US" sz="1000" dirty="0"/>
          </a:p>
        </p:txBody>
      </p:sp>
      <p:sp>
        <p:nvSpPr>
          <p:cNvPr id="11" name="Text 9"/>
          <p:cNvSpPr/>
          <p:nvPr/>
        </p:nvSpPr>
        <p:spPr>
          <a:xfrm>
            <a:off x="7680960" y="1847088"/>
            <a:ext cx="2926080" cy="2148840"/>
          </a:xfrm>
          <a:prstGeom prst="roundRect">
            <a:avLst>
              <a:gd name="adj" fmla="val 4255"/>
            </a:avLst>
          </a:prstGeom>
          <a:solidFill>
            <a:srgbClr val="FFFFFF"/>
          </a:solidFill>
          <a:ln w="12700">
            <a:solidFill>
              <a:srgbClr val="E5E7EB"/>
            </a:solidFill>
          </a:ln>
        </p:spPr>
        <p:txBody>
          <a:bodyPr wrap="square" lIns="2540" tIns="2540" rIns="2540" bIns="2540" rtlCol="0" anchor="t">
            <a:normAutofit/>
          </a:bodyPr>
          <a:lstStyle/>
          <a:p>
            <a:pPr indent="0" marL="0">
              <a:buNone/>
            </a:pPr>
            <a:r>
              <a:rPr lang="en-US" sz="1700" b="1" dirty="0">
                <a:solidFill>
                  <a:srgbClr val="111827"/>
                </a:solidFill>
                <a:latin typeface="Arial" pitchFamily="34" charset="0"/>
                <a:ea typeface="Arial" pitchFamily="34" charset="-122"/>
                <a:cs typeface="Arial" pitchFamily="34" charset="-120"/>
              </a:rPr>
              <a:t>Course operating model</a:t>
            </a:r>
            <a:endParaRPr lang="en-US" sz="1700" dirty="0"/>
          </a:p>
          <a:p>
            <a:pPr indent="0" marL="0">
              <a:buNone/>
            </a:pPr>
            <a:endParaRPr lang="en-US" sz="1700" dirty="0"/>
          </a:p>
          <a:p>
            <a:pPr indent="0" marL="0">
              <a:buNone/>
            </a:pPr>
            <a:r>
              <a:rPr lang="en-US" sz="1700" dirty="0">
                <a:solidFill>
                  <a:srgbClr val="111827"/>
                </a:solidFill>
                <a:latin typeface="Arial" pitchFamily="34" charset="0"/>
                <a:ea typeface="Arial" pitchFamily="34" charset="-122"/>
                <a:cs typeface="Arial" pitchFamily="34" charset="-120"/>
              </a:rPr>
              <a:t>Learn how every class starts, builds, verifies, and closes.</a:t>
            </a:r>
            <a:endParaRPr lang="en-US" sz="1700" dirty="0"/>
          </a:p>
        </p:txBody>
      </p:sp>
      <p:sp>
        <p:nvSpPr>
          <p:cNvPr id="12" name="Text 10"/>
          <p:cNvSpPr/>
          <p:nvPr/>
        </p:nvSpPr>
        <p:spPr>
          <a:xfrm>
            <a:off x="7982712" y="4315968"/>
            <a:ext cx="2331720" cy="329184"/>
          </a:xfrm>
          <a:prstGeom prst="roundRect">
            <a:avLst>
              <a:gd name="adj" fmla="val 22222"/>
            </a:avLst>
          </a:prstGeom>
          <a:solidFill>
            <a:srgbClr val="E8F0FE"/>
          </a:solidFill>
          <a:ln>
            <a:solidFill>
              <a:srgbClr val="E8F0FE"/>
            </a:solidFill>
          </a:ln>
        </p:spPr>
        <p:txBody>
          <a:bodyPr wrap="square" lIns="508" tIns="508" rIns="508" bIns="508" rtlCol="0" anchor="ctr"/>
          <a:lstStyle/>
          <a:p>
            <a:pPr algn="ctr" indent="0" marL="0">
              <a:buNone/>
            </a:pPr>
            <a:r>
              <a:rPr lang="en-US" sz="1000" b="1" dirty="0">
                <a:solidFill>
                  <a:srgbClr val="1A73E8"/>
                </a:solidFill>
                <a:latin typeface="Arial" pitchFamily="34" charset="0"/>
                <a:ea typeface="Arial" pitchFamily="34" charset="-122"/>
                <a:cs typeface="Arial" pitchFamily="34" charset="-120"/>
              </a:rPr>
              <a:t>This overview</a:t>
            </a:r>
            <a:endParaRPr lang="en-US" sz="1000" dirty="0"/>
          </a:p>
        </p:txBody>
      </p:sp>
      <p:sp>
        <p:nvSpPr>
          <p:cNvPr id="13" name="Text 11"/>
          <p:cNvSpPr/>
          <p:nvPr/>
        </p:nvSpPr>
        <p:spPr>
          <a:xfrm>
            <a:off x="1097280" y="5596128"/>
            <a:ext cx="9875520" cy="393192"/>
          </a:xfrm>
          <a:prstGeom prst="rect">
            <a:avLst/>
          </a:prstGeom>
          <a:noFill/>
          <a:ln/>
        </p:spPr>
        <p:txBody>
          <a:bodyPr wrap="square" lIns="0" tIns="0" rIns="0" bIns="0" rtlCol="0" anchor="ctr"/>
          <a:lstStyle/>
          <a:p>
            <a:pPr algn="ctr" indent="0" marL="0">
              <a:buNone/>
            </a:pPr>
            <a:r>
              <a:rPr lang="en-US" sz="1800" b="1" dirty="0">
                <a:solidFill>
                  <a:srgbClr val="111827"/>
                </a:solidFill>
              </a:rPr>
              <a:t>The goal is not merely to understand the material. The goal is to become ready to build.</a:t>
            </a:r>
            <a:endParaRPr lang="en-US" sz="1800" dirty="0"/>
          </a:p>
        </p:txBody>
      </p:sp>
      <p:sp>
        <p:nvSpPr>
          <p:cNvPr id="14" name="Text 12"/>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15" name="Text 13"/>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Class 1 Agenda</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A two-hour session that gets everyone ready to start building from a shared baseline.</a:t>
            </a:r>
            <a:endParaRPr lang="en-US" sz="1250" dirty="0"/>
          </a:p>
        </p:txBody>
      </p:sp>
      <p:sp>
        <p:nvSpPr>
          <p:cNvPr id="6" name="Text 4"/>
          <p:cNvSpPr/>
          <p:nvPr/>
        </p:nvSpPr>
        <p:spPr>
          <a:xfrm>
            <a:off x="594360" y="1234440"/>
            <a:ext cx="1965960" cy="256032"/>
          </a:xfrm>
          <a:prstGeom prst="roundRect">
            <a:avLst>
              <a:gd name="adj" fmla="val 28571"/>
            </a:avLst>
          </a:prstGeom>
          <a:solidFill>
            <a:srgbClr val="E8F0FE"/>
          </a:solidFill>
          <a:ln>
            <a:solidFill>
              <a:srgbClr val="E8F0FE"/>
            </a:solidFill>
          </a:ln>
        </p:spPr>
        <p:txBody>
          <a:bodyPr wrap="square" lIns="508" tIns="508" rIns="508" bIns="508" rtlCol="0" anchor="ctr"/>
          <a:lstStyle/>
          <a:p>
            <a:pPr algn="ctr" indent="0" marL="0">
              <a:buNone/>
            </a:pPr>
            <a:r>
              <a:rPr lang="en-US" sz="950" b="1" dirty="0">
                <a:solidFill>
                  <a:srgbClr val="1A73E8"/>
                </a:solidFill>
                <a:latin typeface="Arial" pitchFamily="34" charset="0"/>
                <a:ea typeface="Arial" pitchFamily="34" charset="-122"/>
                <a:cs typeface="Arial" pitchFamily="34" charset="-120"/>
              </a:rPr>
              <a:t>TWO-HOUR FLOW</a:t>
            </a:r>
            <a:endParaRPr lang="en-US" sz="950" dirty="0"/>
          </a:p>
        </p:txBody>
      </p:sp>
      <p:sp>
        <p:nvSpPr>
          <p:cNvPr id="7" name="Text 5"/>
          <p:cNvSpPr/>
          <p:nvPr/>
        </p:nvSpPr>
        <p:spPr>
          <a:xfrm>
            <a:off x="786384" y="1572768"/>
            <a:ext cx="822960" cy="246888"/>
          </a:xfrm>
          <a:prstGeom prst="rect">
            <a:avLst/>
          </a:prstGeom>
          <a:noFill/>
          <a:ln/>
        </p:spPr>
        <p:txBody>
          <a:bodyPr wrap="square" lIns="0" tIns="0" rIns="0" bIns="0" rtlCol="0" anchor="ctr"/>
          <a:lstStyle/>
          <a:p>
            <a:pPr algn="r" indent="0" marL="0">
              <a:buNone/>
            </a:pPr>
            <a:r>
              <a:rPr lang="en-US" sz="1050" b="1" dirty="0">
                <a:solidFill>
                  <a:srgbClr val="1A73E8"/>
                </a:solidFill>
                <a:latin typeface="Arial" pitchFamily="34" charset="0"/>
                <a:ea typeface="Arial" pitchFamily="34" charset="-122"/>
                <a:cs typeface="Arial" pitchFamily="34" charset="-120"/>
              </a:rPr>
              <a:t>00–10</a:t>
            </a:r>
            <a:endParaRPr lang="en-US" sz="1050" dirty="0"/>
          </a:p>
        </p:txBody>
      </p:sp>
      <p:sp>
        <p:nvSpPr>
          <p:cNvPr id="8" name="Text 6"/>
          <p:cNvSpPr/>
          <p:nvPr/>
        </p:nvSpPr>
        <p:spPr>
          <a:xfrm>
            <a:off x="1874520" y="1563624"/>
            <a:ext cx="7863840" cy="283464"/>
          </a:xfrm>
          <a:prstGeom prst="rect">
            <a:avLst/>
          </a:prstGeom>
          <a:noFill/>
          <a:ln/>
        </p:spPr>
        <p:txBody>
          <a:bodyPr wrap="square" lIns="254" tIns="254" rIns="254" bIns="254" rtlCol="0" anchor="ctr"/>
          <a:lstStyle/>
          <a:p>
            <a:pPr indent="0" marL="0">
              <a:buNone/>
            </a:pPr>
            <a:r>
              <a:rPr lang="en-US" sz="1320" dirty="0">
                <a:solidFill>
                  <a:srgbClr val="111827"/>
                </a:solidFill>
                <a:latin typeface="Arial" pitchFamily="34" charset="0"/>
                <a:ea typeface="Arial" pitchFamily="34" charset="-122"/>
                <a:cs typeface="Arial" pitchFamily="34" charset="-120"/>
              </a:rPr>
              <a:t>Welcome, outcomes, continuous lab model</a:t>
            </a:r>
            <a:endParaRPr lang="en-US" sz="1320" dirty="0"/>
          </a:p>
        </p:txBody>
      </p:sp>
      <p:sp>
        <p:nvSpPr>
          <p:cNvPr id="9" name="Shape 7"/>
          <p:cNvSpPr/>
          <p:nvPr/>
        </p:nvSpPr>
        <p:spPr>
          <a:xfrm>
            <a:off x="1737360" y="1691640"/>
            <a:ext cx="91440" cy="0"/>
          </a:xfrm>
          <a:prstGeom prst="line">
            <a:avLst/>
          </a:prstGeom>
          <a:noFill/>
          <a:ln w="12700">
            <a:solidFill>
              <a:srgbClr val="CBD5E1"/>
            </a:solidFill>
            <a:prstDash val="solid"/>
            <a:headEnd type="none"/>
            <a:tailEnd type="none"/>
          </a:ln>
        </p:spPr>
      </p:sp>
      <p:sp>
        <p:nvSpPr>
          <p:cNvPr id="10" name="Text 8"/>
          <p:cNvSpPr/>
          <p:nvPr/>
        </p:nvSpPr>
        <p:spPr>
          <a:xfrm>
            <a:off x="786384" y="2011680"/>
            <a:ext cx="822960" cy="246888"/>
          </a:xfrm>
          <a:prstGeom prst="rect">
            <a:avLst/>
          </a:prstGeom>
          <a:noFill/>
          <a:ln/>
        </p:spPr>
        <p:txBody>
          <a:bodyPr wrap="square" lIns="0" tIns="0" rIns="0" bIns="0" rtlCol="0" anchor="ctr"/>
          <a:lstStyle/>
          <a:p>
            <a:pPr algn="r" indent="0" marL="0">
              <a:buNone/>
            </a:pPr>
            <a:r>
              <a:rPr lang="en-US" sz="1050" b="1" dirty="0">
                <a:solidFill>
                  <a:srgbClr val="1A73E8"/>
                </a:solidFill>
                <a:latin typeface="Arial" pitchFamily="34" charset="0"/>
                <a:ea typeface="Arial" pitchFamily="34" charset="-122"/>
                <a:cs typeface="Arial" pitchFamily="34" charset="-120"/>
              </a:rPr>
              <a:t>10–25</a:t>
            </a:r>
            <a:endParaRPr lang="en-US" sz="1050" dirty="0"/>
          </a:p>
        </p:txBody>
      </p:sp>
      <p:sp>
        <p:nvSpPr>
          <p:cNvPr id="11" name="Text 9"/>
          <p:cNvSpPr/>
          <p:nvPr/>
        </p:nvSpPr>
        <p:spPr>
          <a:xfrm>
            <a:off x="1874520" y="2002536"/>
            <a:ext cx="7863840" cy="283464"/>
          </a:xfrm>
          <a:prstGeom prst="rect">
            <a:avLst/>
          </a:prstGeom>
          <a:noFill/>
          <a:ln/>
        </p:spPr>
        <p:txBody>
          <a:bodyPr wrap="square" lIns="254" tIns="254" rIns="254" bIns="254" rtlCol="0" anchor="ctr"/>
          <a:lstStyle/>
          <a:p>
            <a:pPr indent="0" marL="0">
              <a:buNone/>
            </a:pPr>
            <a:r>
              <a:rPr lang="en-US" sz="1320" dirty="0">
                <a:solidFill>
                  <a:srgbClr val="111827"/>
                </a:solidFill>
                <a:latin typeface="Arial" pitchFamily="34" charset="0"/>
                <a:ea typeface="Arial" pitchFamily="34" charset="-122"/>
                <a:cs typeface="Arial" pitchFamily="34" charset="-120"/>
              </a:rPr>
              <a:t>How every class will work</a:t>
            </a:r>
            <a:endParaRPr lang="en-US" sz="1320" dirty="0"/>
          </a:p>
        </p:txBody>
      </p:sp>
      <p:sp>
        <p:nvSpPr>
          <p:cNvPr id="12" name="Shape 10"/>
          <p:cNvSpPr/>
          <p:nvPr/>
        </p:nvSpPr>
        <p:spPr>
          <a:xfrm>
            <a:off x="1737360" y="2130552"/>
            <a:ext cx="91440" cy="0"/>
          </a:xfrm>
          <a:prstGeom prst="line">
            <a:avLst/>
          </a:prstGeom>
          <a:noFill/>
          <a:ln w="12700">
            <a:solidFill>
              <a:srgbClr val="CBD5E1"/>
            </a:solidFill>
            <a:prstDash val="solid"/>
            <a:headEnd type="none"/>
            <a:tailEnd type="none"/>
          </a:ln>
        </p:spPr>
      </p:sp>
      <p:sp>
        <p:nvSpPr>
          <p:cNvPr id="13" name="Text 11"/>
          <p:cNvSpPr/>
          <p:nvPr/>
        </p:nvSpPr>
        <p:spPr>
          <a:xfrm>
            <a:off x="786384" y="2450592"/>
            <a:ext cx="822960" cy="246888"/>
          </a:xfrm>
          <a:prstGeom prst="rect">
            <a:avLst/>
          </a:prstGeom>
          <a:noFill/>
          <a:ln/>
        </p:spPr>
        <p:txBody>
          <a:bodyPr wrap="square" lIns="0" tIns="0" rIns="0" bIns="0" rtlCol="0" anchor="ctr"/>
          <a:lstStyle/>
          <a:p>
            <a:pPr algn="r" indent="0" marL="0">
              <a:buNone/>
            </a:pPr>
            <a:r>
              <a:rPr lang="en-US" sz="1050" b="1" dirty="0">
                <a:solidFill>
                  <a:srgbClr val="1A73E8"/>
                </a:solidFill>
                <a:latin typeface="Arial" pitchFamily="34" charset="0"/>
                <a:ea typeface="Arial" pitchFamily="34" charset="-122"/>
                <a:cs typeface="Arial" pitchFamily="34" charset="-120"/>
              </a:rPr>
              <a:t>25–45</a:t>
            </a:r>
            <a:endParaRPr lang="en-US" sz="1050" dirty="0"/>
          </a:p>
        </p:txBody>
      </p:sp>
      <p:sp>
        <p:nvSpPr>
          <p:cNvPr id="14" name="Text 12"/>
          <p:cNvSpPr/>
          <p:nvPr/>
        </p:nvSpPr>
        <p:spPr>
          <a:xfrm>
            <a:off x="1874520" y="2441448"/>
            <a:ext cx="7863840" cy="283464"/>
          </a:xfrm>
          <a:prstGeom prst="rect">
            <a:avLst/>
          </a:prstGeom>
          <a:noFill/>
          <a:ln/>
        </p:spPr>
        <p:txBody>
          <a:bodyPr wrap="square" lIns="254" tIns="254" rIns="254" bIns="254" rtlCol="0" anchor="ctr"/>
          <a:lstStyle/>
          <a:p>
            <a:pPr indent="0" marL="0">
              <a:buNone/>
            </a:pPr>
            <a:r>
              <a:rPr lang="en-US" sz="1320" dirty="0">
                <a:solidFill>
                  <a:srgbClr val="111827"/>
                </a:solidFill>
                <a:latin typeface="Arial" pitchFamily="34" charset="0"/>
                <a:ea typeface="Arial" pitchFamily="34" charset="-122"/>
                <a:cs typeface="Arial" pitchFamily="34" charset="-120"/>
              </a:rPr>
              <a:t>Agentic systems overview — separate deck</a:t>
            </a:r>
            <a:endParaRPr lang="en-US" sz="1320" dirty="0"/>
          </a:p>
        </p:txBody>
      </p:sp>
      <p:sp>
        <p:nvSpPr>
          <p:cNvPr id="15" name="Shape 13"/>
          <p:cNvSpPr/>
          <p:nvPr/>
        </p:nvSpPr>
        <p:spPr>
          <a:xfrm>
            <a:off x="1737360" y="2569464"/>
            <a:ext cx="91440" cy="0"/>
          </a:xfrm>
          <a:prstGeom prst="line">
            <a:avLst/>
          </a:prstGeom>
          <a:noFill/>
          <a:ln w="12700">
            <a:solidFill>
              <a:srgbClr val="CBD5E1"/>
            </a:solidFill>
            <a:prstDash val="solid"/>
            <a:headEnd type="none"/>
            <a:tailEnd type="none"/>
          </a:ln>
        </p:spPr>
      </p:sp>
      <p:sp>
        <p:nvSpPr>
          <p:cNvPr id="16" name="Text 14"/>
          <p:cNvSpPr/>
          <p:nvPr/>
        </p:nvSpPr>
        <p:spPr>
          <a:xfrm>
            <a:off x="786384" y="2889504"/>
            <a:ext cx="822960" cy="246888"/>
          </a:xfrm>
          <a:prstGeom prst="rect">
            <a:avLst/>
          </a:prstGeom>
          <a:noFill/>
          <a:ln/>
        </p:spPr>
        <p:txBody>
          <a:bodyPr wrap="square" lIns="0" tIns="0" rIns="0" bIns="0" rtlCol="0" anchor="ctr"/>
          <a:lstStyle/>
          <a:p>
            <a:pPr algn="r" indent="0" marL="0">
              <a:buNone/>
            </a:pPr>
            <a:r>
              <a:rPr lang="en-US" sz="1050" b="1" dirty="0">
                <a:solidFill>
                  <a:srgbClr val="1A73E8"/>
                </a:solidFill>
                <a:latin typeface="Arial" pitchFamily="34" charset="0"/>
                <a:ea typeface="Arial" pitchFamily="34" charset="-122"/>
                <a:cs typeface="Arial" pitchFamily="34" charset="-120"/>
              </a:rPr>
              <a:t>45–60</a:t>
            </a:r>
            <a:endParaRPr lang="en-US" sz="1050" dirty="0"/>
          </a:p>
        </p:txBody>
      </p:sp>
      <p:sp>
        <p:nvSpPr>
          <p:cNvPr id="17" name="Text 15"/>
          <p:cNvSpPr/>
          <p:nvPr/>
        </p:nvSpPr>
        <p:spPr>
          <a:xfrm>
            <a:off x="1874520" y="2880360"/>
            <a:ext cx="7863840" cy="283464"/>
          </a:xfrm>
          <a:prstGeom prst="rect">
            <a:avLst/>
          </a:prstGeom>
          <a:noFill/>
          <a:ln/>
        </p:spPr>
        <p:txBody>
          <a:bodyPr wrap="square" lIns="254" tIns="254" rIns="254" bIns="254" rtlCol="0" anchor="ctr"/>
          <a:lstStyle/>
          <a:p>
            <a:pPr indent="0" marL="0">
              <a:buNone/>
            </a:pPr>
            <a:r>
              <a:rPr lang="en-US" sz="1320" dirty="0">
                <a:solidFill>
                  <a:srgbClr val="111827"/>
                </a:solidFill>
                <a:latin typeface="Arial" pitchFamily="34" charset="0"/>
                <a:ea typeface="Arial" pitchFamily="34" charset="-122"/>
                <a:cs typeface="Arial" pitchFamily="34" charset="-120"/>
              </a:rPr>
              <a:t>SDR and WidgetWare overview — separate deck</a:t>
            </a:r>
            <a:endParaRPr lang="en-US" sz="1320" dirty="0"/>
          </a:p>
        </p:txBody>
      </p:sp>
      <p:sp>
        <p:nvSpPr>
          <p:cNvPr id="18" name="Shape 16"/>
          <p:cNvSpPr/>
          <p:nvPr/>
        </p:nvSpPr>
        <p:spPr>
          <a:xfrm>
            <a:off x="1737360" y="3008376"/>
            <a:ext cx="91440" cy="0"/>
          </a:xfrm>
          <a:prstGeom prst="line">
            <a:avLst/>
          </a:prstGeom>
          <a:noFill/>
          <a:ln w="12700">
            <a:solidFill>
              <a:srgbClr val="CBD5E1"/>
            </a:solidFill>
            <a:prstDash val="solid"/>
            <a:headEnd type="none"/>
            <a:tailEnd type="none"/>
          </a:ln>
        </p:spPr>
      </p:sp>
      <p:sp>
        <p:nvSpPr>
          <p:cNvPr id="19" name="Text 17"/>
          <p:cNvSpPr/>
          <p:nvPr/>
        </p:nvSpPr>
        <p:spPr>
          <a:xfrm>
            <a:off x="786384" y="3328416"/>
            <a:ext cx="822960" cy="246888"/>
          </a:xfrm>
          <a:prstGeom prst="rect">
            <a:avLst/>
          </a:prstGeom>
          <a:noFill/>
          <a:ln/>
        </p:spPr>
        <p:txBody>
          <a:bodyPr wrap="square" lIns="0" tIns="0" rIns="0" bIns="0" rtlCol="0" anchor="ctr"/>
          <a:lstStyle/>
          <a:p>
            <a:pPr algn="r" indent="0" marL="0">
              <a:buNone/>
            </a:pPr>
            <a:r>
              <a:rPr lang="en-US" sz="1050" b="1" dirty="0">
                <a:solidFill>
                  <a:srgbClr val="EA4335"/>
                </a:solidFill>
                <a:latin typeface="Arial" pitchFamily="34" charset="0"/>
                <a:ea typeface="Arial" pitchFamily="34" charset="-122"/>
                <a:cs typeface="Arial" pitchFamily="34" charset="-120"/>
              </a:rPr>
              <a:t>60–65</a:t>
            </a:r>
            <a:endParaRPr lang="en-US" sz="1050" dirty="0"/>
          </a:p>
        </p:txBody>
      </p:sp>
      <p:sp>
        <p:nvSpPr>
          <p:cNvPr id="20" name="Text 18"/>
          <p:cNvSpPr/>
          <p:nvPr/>
        </p:nvSpPr>
        <p:spPr>
          <a:xfrm>
            <a:off x="1874520" y="3319272"/>
            <a:ext cx="7863840" cy="283464"/>
          </a:xfrm>
          <a:prstGeom prst="rect">
            <a:avLst/>
          </a:prstGeom>
          <a:noFill/>
          <a:ln/>
        </p:spPr>
        <p:txBody>
          <a:bodyPr wrap="square" lIns="254" tIns="254" rIns="254" bIns="254" rtlCol="0" anchor="ctr"/>
          <a:lstStyle/>
          <a:p>
            <a:pPr indent="0" marL="0">
              <a:buNone/>
            </a:pPr>
            <a:r>
              <a:rPr lang="en-US" sz="1320" dirty="0">
                <a:solidFill>
                  <a:srgbClr val="111827"/>
                </a:solidFill>
                <a:latin typeface="Arial" pitchFamily="34" charset="0"/>
                <a:ea typeface="Arial" pitchFamily="34" charset="-122"/>
                <a:cs typeface="Arial" pitchFamily="34" charset="-120"/>
              </a:rPr>
              <a:t>Break</a:t>
            </a:r>
            <a:endParaRPr lang="en-US" sz="1320" dirty="0"/>
          </a:p>
        </p:txBody>
      </p:sp>
      <p:sp>
        <p:nvSpPr>
          <p:cNvPr id="21" name="Shape 19"/>
          <p:cNvSpPr/>
          <p:nvPr/>
        </p:nvSpPr>
        <p:spPr>
          <a:xfrm>
            <a:off x="1737360" y="3447288"/>
            <a:ext cx="91440" cy="0"/>
          </a:xfrm>
          <a:prstGeom prst="line">
            <a:avLst/>
          </a:prstGeom>
          <a:noFill/>
          <a:ln w="12700">
            <a:solidFill>
              <a:srgbClr val="CBD5E1"/>
            </a:solidFill>
            <a:prstDash val="solid"/>
            <a:headEnd type="none"/>
            <a:tailEnd type="none"/>
          </a:ln>
        </p:spPr>
      </p:sp>
      <p:sp>
        <p:nvSpPr>
          <p:cNvPr id="22" name="Text 20"/>
          <p:cNvSpPr/>
          <p:nvPr/>
        </p:nvSpPr>
        <p:spPr>
          <a:xfrm>
            <a:off x="786384" y="3767328"/>
            <a:ext cx="822960" cy="246888"/>
          </a:xfrm>
          <a:prstGeom prst="rect">
            <a:avLst/>
          </a:prstGeom>
          <a:noFill/>
          <a:ln/>
        </p:spPr>
        <p:txBody>
          <a:bodyPr wrap="square" lIns="0" tIns="0" rIns="0" bIns="0" rtlCol="0" anchor="ctr"/>
          <a:lstStyle/>
          <a:p>
            <a:pPr algn="r" indent="0" marL="0">
              <a:buNone/>
            </a:pPr>
            <a:r>
              <a:rPr lang="en-US" sz="1050" b="1" dirty="0">
                <a:solidFill>
                  <a:srgbClr val="1A73E8"/>
                </a:solidFill>
                <a:latin typeface="Arial" pitchFamily="34" charset="0"/>
                <a:ea typeface="Arial" pitchFamily="34" charset="-122"/>
                <a:cs typeface="Arial" pitchFamily="34" charset="-120"/>
              </a:rPr>
              <a:t>65–80</a:t>
            </a:r>
            <a:endParaRPr lang="en-US" sz="1050" dirty="0"/>
          </a:p>
        </p:txBody>
      </p:sp>
      <p:sp>
        <p:nvSpPr>
          <p:cNvPr id="23" name="Text 21"/>
          <p:cNvSpPr/>
          <p:nvPr/>
        </p:nvSpPr>
        <p:spPr>
          <a:xfrm>
            <a:off x="1874520" y="3758184"/>
            <a:ext cx="7863840" cy="283464"/>
          </a:xfrm>
          <a:prstGeom prst="rect">
            <a:avLst/>
          </a:prstGeom>
          <a:noFill/>
          <a:ln/>
        </p:spPr>
        <p:txBody>
          <a:bodyPr wrap="square" lIns="254" tIns="254" rIns="254" bIns="254" rtlCol="0" anchor="ctr"/>
          <a:lstStyle/>
          <a:p>
            <a:pPr indent="0" marL="0">
              <a:buNone/>
            </a:pPr>
            <a:r>
              <a:rPr lang="en-US" sz="1320" dirty="0">
                <a:solidFill>
                  <a:srgbClr val="111827"/>
                </a:solidFill>
                <a:latin typeface="Arial" pitchFamily="34" charset="0"/>
                <a:ea typeface="Arial" pitchFamily="34" charset="-122"/>
                <a:cs typeface="Arial" pitchFamily="34" charset="-120"/>
              </a:rPr>
              <a:t>Antigravity workspace orientation</a:t>
            </a:r>
            <a:endParaRPr lang="en-US" sz="1320" dirty="0"/>
          </a:p>
        </p:txBody>
      </p:sp>
      <p:sp>
        <p:nvSpPr>
          <p:cNvPr id="24" name="Shape 22"/>
          <p:cNvSpPr/>
          <p:nvPr/>
        </p:nvSpPr>
        <p:spPr>
          <a:xfrm>
            <a:off x="1737360" y="3886200"/>
            <a:ext cx="91440" cy="0"/>
          </a:xfrm>
          <a:prstGeom prst="line">
            <a:avLst/>
          </a:prstGeom>
          <a:noFill/>
          <a:ln w="12700">
            <a:solidFill>
              <a:srgbClr val="CBD5E1"/>
            </a:solidFill>
            <a:prstDash val="solid"/>
            <a:headEnd type="none"/>
            <a:tailEnd type="none"/>
          </a:ln>
        </p:spPr>
      </p:sp>
      <p:sp>
        <p:nvSpPr>
          <p:cNvPr id="25" name="Text 23"/>
          <p:cNvSpPr/>
          <p:nvPr/>
        </p:nvSpPr>
        <p:spPr>
          <a:xfrm>
            <a:off x="786384" y="4206240"/>
            <a:ext cx="822960" cy="246888"/>
          </a:xfrm>
          <a:prstGeom prst="rect">
            <a:avLst/>
          </a:prstGeom>
          <a:noFill/>
          <a:ln/>
        </p:spPr>
        <p:txBody>
          <a:bodyPr wrap="square" lIns="0" tIns="0" rIns="0" bIns="0" rtlCol="0" anchor="ctr"/>
          <a:lstStyle/>
          <a:p>
            <a:pPr algn="r" indent="0" marL="0">
              <a:buNone/>
            </a:pPr>
            <a:r>
              <a:rPr lang="en-US" sz="1050" b="1" dirty="0">
                <a:solidFill>
                  <a:srgbClr val="1A73E8"/>
                </a:solidFill>
                <a:latin typeface="Arial" pitchFamily="34" charset="0"/>
                <a:ea typeface="Arial" pitchFamily="34" charset="-122"/>
                <a:cs typeface="Arial" pitchFamily="34" charset="-120"/>
              </a:rPr>
              <a:t>80–100</a:t>
            </a:r>
            <a:endParaRPr lang="en-US" sz="1050" dirty="0"/>
          </a:p>
        </p:txBody>
      </p:sp>
      <p:sp>
        <p:nvSpPr>
          <p:cNvPr id="26" name="Text 24"/>
          <p:cNvSpPr/>
          <p:nvPr/>
        </p:nvSpPr>
        <p:spPr>
          <a:xfrm>
            <a:off x="1874520" y="4197096"/>
            <a:ext cx="7863840" cy="283464"/>
          </a:xfrm>
          <a:prstGeom prst="rect">
            <a:avLst/>
          </a:prstGeom>
          <a:noFill/>
          <a:ln/>
        </p:spPr>
        <p:txBody>
          <a:bodyPr wrap="square" lIns="254" tIns="254" rIns="254" bIns="254" rtlCol="0" anchor="ctr"/>
          <a:lstStyle/>
          <a:p>
            <a:pPr indent="0" marL="0">
              <a:buNone/>
            </a:pPr>
            <a:r>
              <a:rPr lang="en-US" sz="1320" dirty="0">
                <a:solidFill>
                  <a:srgbClr val="111827"/>
                </a:solidFill>
                <a:latin typeface="Arial" pitchFamily="34" charset="0"/>
                <a:ea typeface="Arial" pitchFamily="34" charset="-122"/>
                <a:cs typeface="Arial" pitchFamily="34" charset="-120"/>
              </a:rPr>
              <a:t>Repository, fork, sync, and baseline setup</a:t>
            </a:r>
            <a:endParaRPr lang="en-US" sz="1320" dirty="0"/>
          </a:p>
        </p:txBody>
      </p:sp>
      <p:sp>
        <p:nvSpPr>
          <p:cNvPr id="27" name="Shape 25"/>
          <p:cNvSpPr/>
          <p:nvPr/>
        </p:nvSpPr>
        <p:spPr>
          <a:xfrm>
            <a:off x="1737360" y="4325112"/>
            <a:ext cx="91440" cy="0"/>
          </a:xfrm>
          <a:prstGeom prst="line">
            <a:avLst/>
          </a:prstGeom>
          <a:noFill/>
          <a:ln w="12700">
            <a:solidFill>
              <a:srgbClr val="CBD5E1"/>
            </a:solidFill>
            <a:prstDash val="solid"/>
            <a:headEnd type="none"/>
            <a:tailEnd type="none"/>
          </a:ln>
        </p:spPr>
      </p:sp>
      <p:sp>
        <p:nvSpPr>
          <p:cNvPr id="28" name="Text 26"/>
          <p:cNvSpPr/>
          <p:nvPr/>
        </p:nvSpPr>
        <p:spPr>
          <a:xfrm>
            <a:off x="786384" y="4645152"/>
            <a:ext cx="822960" cy="246888"/>
          </a:xfrm>
          <a:prstGeom prst="rect">
            <a:avLst/>
          </a:prstGeom>
          <a:noFill/>
          <a:ln/>
        </p:spPr>
        <p:txBody>
          <a:bodyPr wrap="square" lIns="0" tIns="0" rIns="0" bIns="0" rtlCol="0" anchor="ctr"/>
          <a:lstStyle/>
          <a:p>
            <a:pPr algn="r" indent="0" marL="0">
              <a:buNone/>
            </a:pPr>
            <a:r>
              <a:rPr lang="en-US" sz="1050" b="1" dirty="0">
                <a:solidFill>
                  <a:srgbClr val="1A73E8"/>
                </a:solidFill>
                <a:latin typeface="Arial" pitchFamily="34" charset="0"/>
                <a:ea typeface="Arial" pitchFamily="34" charset="-122"/>
                <a:cs typeface="Arial" pitchFamily="34" charset="-120"/>
              </a:rPr>
              <a:t>100–110</a:t>
            </a:r>
            <a:endParaRPr lang="en-US" sz="1050" dirty="0"/>
          </a:p>
        </p:txBody>
      </p:sp>
      <p:sp>
        <p:nvSpPr>
          <p:cNvPr id="29" name="Text 27"/>
          <p:cNvSpPr/>
          <p:nvPr/>
        </p:nvSpPr>
        <p:spPr>
          <a:xfrm>
            <a:off x="1874520" y="4636008"/>
            <a:ext cx="7863840" cy="283464"/>
          </a:xfrm>
          <a:prstGeom prst="rect">
            <a:avLst/>
          </a:prstGeom>
          <a:noFill/>
          <a:ln/>
        </p:spPr>
        <p:txBody>
          <a:bodyPr wrap="square" lIns="254" tIns="254" rIns="254" bIns="254" rtlCol="0" anchor="ctr"/>
          <a:lstStyle/>
          <a:p>
            <a:pPr indent="0" marL="0">
              <a:buNone/>
            </a:pPr>
            <a:r>
              <a:rPr lang="en-US" sz="1320" dirty="0">
                <a:solidFill>
                  <a:srgbClr val="111827"/>
                </a:solidFill>
                <a:latin typeface="Arial" pitchFamily="34" charset="0"/>
                <a:ea typeface="Arial" pitchFamily="34" charset="-122"/>
                <a:cs typeface="Arial" pitchFamily="34" charset="-120"/>
              </a:rPr>
              <a:t>Verification exercise and troubleshooting</a:t>
            </a:r>
            <a:endParaRPr lang="en-US" sz="1320" dirty="0"/>
          </a:p>
        </p:txBody>
      </p:sp>
      <p:sp>
        <p:nvSpPr>
          <p:cNvPr id="30" name="Shape 28"/>
          <p:cNvSpPr/>
          <p:nvPr/>
        </p:nvSpPr>
        <p:spPr>
          <a:xfrm>
            <a:off x="1737360" y="4764024"/>
            <a:ext cx="91440" cy="0"/>
          </a:xfrm>
          <a:prstGeom prst="line">
            <a:avLst/>
          </a:prstGeom>
          <a:noFill/>
          <a:ln w="12700">
            <a:solidFill>
              <a:srgbClr val="CBD5E1"/>
            </a:solidFill>
            <a:prstDash val="solid"/>
            <a:headEnd type="none"/>
            <a:tailEnd type="none"/>
          </a:ln>
        </p:spPr>
      </p:sp>
      <p:sp>
        <p:nvSpPr>
          <p:cNvPr id="31" name="Text 29"/>
          <p:cNvSpPr/>
          <p:nvPr/>
        </p:nvSpPr>
        <p:spPr>
          <a:xfrm>
            <a:off x="786384" y="5084064"/>
            <a:ext cx="822960" cy="246888"/>
          </a:xfrm>
          <a:prstGeom prst="rect">
            <a:avLst/>
          </a:prstGeom>
          <a:noFill/>
          <a:ln/>
        </p:spPr>
        <p:txBody>
          <a:bodyPr wrap="square" lIns="0" tIns="0" rIns="0" bIns="0" rtlCol="0" anchor="ctr"/>
          <a:lstStyle/>
          <a:p>
            <a:pPr algn="r" indent="0" marL="0">
              <a:buNone/>
            </a:pPr>
            <a:r>
              <a:rPr lang="en-US" sz="1050" b="1" dirty="0">
                <a:solidFill>
                  <a:srgbClr val="1A73E8"/>
                </a:solidFill>
                <a:latin typeface="Arial" pitchFamily="34" charset="0"/>
                <a:ea typeface="Arial" pitchFamily="34" charset="-122"/>
                <a:cs typeface="Arial" pitchFamily="34" charset="-120"/>
              </a:rPr>
              <a:t>110–116</a:t>
            </a:r>
            <a:endParaRPr lang="en-US" sz="1050" dirty="0"/>
          </a:p>
        </p:txBody>
      </p:sp>
      <p:sp>
        <p:nvSpPr>
          <p:cNvPr id="32" name="Text 30"/>
          <p:cNvSpPr/>
          <p:nvPr/>
        </p:nvSpPr>
        <p:spPr>
          <a:xfrm>
            <a:off x="1874520" y="5074920"/>
            <a:ext cx="7863840" cy="283464"/>
          </a:xfrm>
          <a:prstGeom prst="rect">
            <a:avLst/>
          </a:prstGeom>
          <a:noFill/>
          <a:ln/>
        </p:spPr>
        <p:txBody>
          <a:bodyPr wrap="square" lIns="254" tIns="254" rIns="254" bIns="254" rtlCol="0" anchor="ctr"/>
          <a:lstStyle/>
          <a:p>
            <a:pPr indent="0" marL="0">
              <a:buNone/>
            </a:pPr>
            <a:r>
              <a:rPr lang="en-US" sz="1320" dirty="0">
                <a:solidFill>
                  <a:srgbClr val="111827"/>
                </a:solidFill>
                <a:latin typeface="Arial" pitchFamily="34" charset="0"/>
                <a:ea typeface="Arial" pitchFamily="34" charset="-122"/>
                <a:cs typeface="Arial" pitchFamily="34" charset="-120"/>
              </a:rPr>
              <a:t>Knowledge check and questions</a:t>
            </a:r>
            <a:endParaRPr lang="en-US" sz="1320" dirty="0"/>
          </a:p>
        </p:txBody>
      </p:sp>
      <p:sp>
        <p:nvSpPr>
          <p:cNvPr id="33" name="Shape 31"/>
          <p:cNvSpPr/>
          <p:nvPr/>
        </p:nvSpPr>
        <p:spPr>
          <a:xfrm>
            <a:off x="1737360" y="5202936"/>
            <a:ext cx="91440" cy="0"/>
          </a:xfrm>
          <a:prstGeom prst="line">
            <a:avLst/>
          </a:prstGeom>
          <a:noFill/>
          <a:ln w="12700">
            <a:solidFill>
              <a:srgbClr val="CBD5E1"/>
            </a:solidFill>
            <a:prstDash val="solid"/>
            <a:headEnd type="none"/>
            <a:tailEnd type="none"/>
          </a:ln>
        </p:spPr>
      </p:sp>
      <p:sp>
        <p:nvSpPr>
          <p:cNvPr id="34" name="Text 32"/>
          <p:cNvSpPr/>
          <p:nvPr/>
        </p:nvSpPr>
        <p:spPr>
          <a:xfrm>
            <a:off x="786384" y="5522976"/>
            <a:ext cx="822960" cy="246888"/>
          </a:xfrm>
          <a:prstGeom prst="rect">
            <a:avLst/>
          </a:prstGeom>
          <a:noFill/>
          <a:ln/>
        </p:spPr>
        <p:txBody>
          <a:bodyPr wrap="square" lIns="0" tIns="0" rIns="0" bIns="0" rtlCol="0" anchor="ctr"/>
          <a:lstStyle/>
          <a:p>
            <a:pPr algn="r" indent="0" marL="0">
              <a:buNone/>
            </a:pPr>
            <a:r>
              <a:rPr lang="en-US" sz="1050" b="1" dirty="0">
                <a:solidFill>
                  <a:srgbClr val="1A73E8"/>
                </a:solidFill>
                <a:latin typeface="Arial" pitchFamily="34" charset="0"/>
                <a:ea typeface="Arial" pitchFamily="34" charset="-122"/>
                <a:cs typeface="Arial" pitchFamily="34" charset="-120"/>
              </a:rPr>
              <a:t>116–120</a:t>
            </a:r>
            <a:endParaRPr lang="en-US" sz="1050" dirty="0"/>
          </a:p>
        </p:txBody>
      </p:sp>
      <p:sp>
        <p:nvSpPr>
          <p:cNvPr id="35" name="Text 33"/>
          <p:cNvSpPr/>
          <p:nvPr/>
        </p:nvSpPr>
        <p:spPr>
          <a:xfrm>
            <a:off x="1874520" y="5513832"/>
            <a:ext cx="7863840" cy="283464"/>
          </a:xfrm>
          <a:prstGeom prst="rect">
            <a:avLst/>
          </a:prstGeom>
          <a:noFill/>
          <a:ln/>
        </p:spPr>
        <p:txBody>
          <a:bodyPr wrap="square" lIns="254" tIns="254" rIns="254" bIns="254" rtlCol="0" anchor="ctr"/>
          <a:lstStyle/>
          <a:p>
            <a:pPr indent="0" marL="0">
              <a:buNone/>
            </a:pPr>
            <a:r>
              <a:rPr lang="en-US" sz="1320" dirty="0">
                <a:solidFill>
                  <a:srgbClr val="111827"/>
                </a:solidFill>
                <a:latin typeface="Arial" pitchFamily="34" charset="0"/>
                <a:ea typeface="Arial" pitchFamily="34" charset="-122"/>
                <a:cs typeface="Arial" pitchFamily="34" charset="-120"/>
              </a:rPr>
              <a:t>Checkpoint, homework, and Class 2 bridge</a:t>
            </a:r>
            <a:endParaRPr lang="en-US" sz="1320" dirty="0"/>
          </a:p>
        </p:txBody>
      </p:sp>
      <p:sp>
        <p:nvSpPr>
          <p:cNvPr id="36" name="Shape 34"/>
          <p:cNvSpPr/>
          <p:nvPr/>
        </p:nvSpPr>
        <p:spPr>
          <a:xfrm>
            <a:off x="1737360" y="5641848"/>
            <a:ext cx="91440" cy="0"/>
          </a:xfrm>
          <a:prstGeom prst="line">
            <a:avLst/>
          </a:prstGeom>
          <a:noFill/>
          <a:ln w="12700">
            <a:solidFill>
              <a:srgbClr val="CBD5E1"/>
            </a:solidFill>
            <a:prstDash val="solid"/>
            <a:headEnd type="none"/>
            <a:tailEnd type="none"/>
          </a:ln>
        </p:spPr>
      </p:sp>
      <p:sp>
        <p:nvSpPr>
          <p:cNvPr id="37" name="Text 35"/>
          <p:cNvSpPr/>
          <p:nvPr/>
        </p:nvSpPr>
        <p:spPr>
          <a:xfrm>
            <a:off x="8549640" y="5925312"/>
            <a:ext cx="2423160" cy="292608"/>
          </a:xfrm>
          <a:prstGeom prst="roundRect">
            <a:avLst>
              <a:gd name="adj" fmla="val 25000"/>
            </a:avLst>
          </a:prstGeom>
          <a:solidFill>
            <a:srgbClr val="FEF7E0"/>
          </a:solidFill>
          <a:ln>
            <a:solidFill>
              <a:srgbClr val="FEF7E0"/>
            </a:solidFill>
          </a:ln>
        </p:spPr>
        <p:txBody>
          <a:bodyPr wrap="square" lIns="508" tIns="508" rIns="508" bIns="508" rtlCol="0" anchor="ctr"/>
          <a:lstStyle/>
          <a:p>
            <a:pPr algn="ctr" indent="0" marL="0">
              <a:buNone/>
            </a:pPr>
            <a:r>
              <a:rPr lang="en-US" sz="950" b="1" dirty="0">
                <a:solidFill>
                  <a:srgbClr val="A16207"/>
                </a:solidFill>
                <a:latin typeface="Arial" pitchFamily="34" charset="0"/>
                <a:ea typeface="Arial" pitchFamily="34" charset="-122"/>
                <a:cs typeface="Arial" pitchFamily="34" charset="-120"/>
              </a:rPr>
              <a:t>Agenda, not deep content</a:t>
            </a:r>
            <a:endParaRPr lang="en-US" sz="950" dirty="0"/>
          </a:p>
        </p:txBody>
      </p:sp>
      <p:sp>
        <p:nvSpPr>
          <p:cNvPr id="38" name="Text 36"/>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39" name="Text 37"/>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What Success Looks Like for Class 1</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Success is observable: learners can access, reset, verify, and explain the class workflow.</a:t>
            </a:r>
            <a:endParaRPr lang="en-US" sz="1250" dirty="0"/>
          </a:p>
        </p:txBody>
      </p:sp>
      <p:sp>
        <p:nvSpPr>
          <p:cNvPr id="6" name="Text 4"/>
          <p:cNvSpPr/>
          <p:nvPr/>
        </p:nvSpPr>
        <p:spPr>
          <a:xfrm>
            <a:off x="594360" y="1234440"/>
            <a:ext cx="1965960" cy="256032"/>
          </a:xfrm>
          <a:prstGeom prst="roundRect">
            <a:avLst>
              <a:gd name="adj" fmla="val 28571"/>
            </a:avLst>
          </a:prstGeom>
          <a:solidFill>
            <a:srgbClr val="E8F0FE"/>
          </a:solidFill>
          <a:ln>
            <a:solidFill>
              <a:srgbClr val="E8F0FE"/>
            </a:solidFill>
          </a:ln>
        </p:spPr>
        <p:txBody>
          <a:bodyPr wrap="square" lIns="508" tIns="508" rIns="508" bIns="508" rtlCol="0" anchor="ctr"/>
          <a:lstStyle/>
          <a:p>
            <a:pPr algn="ctr" indent="0" marL="0">
              <a:buNone/>
            </a:pPr>
            <a:r>
              <a:rPr lang="en-US" sz="950" b="1" dirty="0">
                <a:solidFill>
                  <a:srgbClr val="1A73E8"/>
                </a:solidFill>
                <a:latin typeface="Arial" pitchFamily="34" charset="0"/>
                <a:ea typeface="Arial" pitchFamily="34" charset="-122"/>
                <a:cs typeface="Arial" pitchFamily="34" charset="-120"/>
              </a:rPr>
              <a:t>SUCCESS CRITERIA</a:t>
            </a:r>
            <a:endParaRPr lang="en-US" sz="950" dirty="0"/>
          </a:p>
        </p:txBody>
      </p:sp>
      <p:sp>
        <p:nvSpPr>
          <p:cNvPr id="7" name="Text 5"/>
          <p:cNvSpPr/>
          <p:nvPr/>
        </p:nvSpPr>
        <p:spPr>
          <a:xfrm>
            <a:off x="868680" y="1746504"/>
            <a:ext cx="384048" cy="384048"/>
          </a:xfrm>
          <a:prstGeom prst="ellipse">
            <a:avLst/>
          </a:prstGeom>
          <a:solidFill>
            <a:srgbClr val="E8F0FE"/>
          </a:solidFill>
          <a:ln>
            <a:solidFill>
              <a:srgbClr val="E8F0FE"/>
            </a:solidFill>
          </a:ln>
        </p:spPr>
        <p:txBody>
          <a:bodyPr wrap="square" lIns="0" tIns="0" rIns="0" bIns="0" rtlCol="0" anchor="ctr"/>
          <a:lstStyle/>
          <a:p>
            <a:pPr algn="ctr" indent="0" marL="0">
              <a:buNone/>
            </a:pPr>
            <a:r>
              <a:rPr lang="en-US" sz="1600" b="1" dirty="0">
                <a:solidFill>
                  <a:srgbClr val="1A73E8"/>
                </a:solidFill>
                <a:latin typeface="Arial" pitchFamily="34" charset="0"/>
                <a:ea typeface="Arial" pitchFamily="34" charset="-122"/>
                <a:cs typeface="Arial" pitchFamily="34" charset="-120"/>
              </a:rPr>
              <a:t>1</a:t>
            </a:r>
            <a:endParaRPr lang="en-US" sz="1600" dirty="0"/>
          </a:p>
        </p:txBody>
      </p:sp>
      <p:sp>
        <p:nvSpPr>
          <p:cNvPr id="8" name="Text 6"/>
          <p:cNvSpPr/>
          <p:nvPr/>
        </p:nvSpPr>
        <p:spPr>
          <a:xfrm>
            <a:off x="1389888" y="1746504"/>
            <a:ext cx="4178808" cy="256032"/>
          </a:xfrm>
          <a:prstGeom prst="rect">
            <a:avLst/>
          </a:prstGeom>
          <a:noFill/>
          <a:ln/>
        </p:spPr>
        <p:txBody>
          <a:bodyPr wrap="square" lIns="0" tIns="0" rIns="0" bIns="0" rtlCol="0" anchor="ctr"/>
          <a:lstStyle/>
          <a:p>
            <a:pPr indent="0" marL="0">
              <a:buNone/>
            </a:pPr>
            <a:r>
              <a:rPr lang="en-US" sz="1320" b="1" dirty="0">
                <a:solidFill>
                  <a:srgbClr val="111827"/>
                </a:solidFill>
                <a:latin typeface="Arial" pitchFamily="34" charset="0"/>
                <a:ea typeface="Arial" pitchFamily="34" charset="-122"/>
                <a:cs typeface="Arial" pitchFamily="34" charset="-120"/>
              </a:rPr>
              <a:t>Course journey</a:t>
            </a:r>
            <a:endParaRPr lang="en-US" sz="1320" dirty="0"/>
          </a:p>
        </p:txBody>
      </p:sp>
      <p:sp>
        <p:nvSpPr>
          <p:cNvPr id="9" name="Text 7"/>
          <p:cNvSpPr/>
          <p:nvPr/>
        </p:nvSpPr>
        <p:spPr>
          <a:xfrm>
            <a:off x="1389888" y="2057400"/>
            <a:ext cx="4178808" cy="256032"/>
          </a:xfrm>
          <a:prstGeom prst="rect">
            <a:avLst/>
          </a:prstGeom>
          <a:noFill/>
          <a:ln/>
        </p:spPr>
        <p:txBody>
          <a:bodyPr wrap="square" lIns="0" tIns="0" rIns="0" bIns="0" rtlCol="0" anchor="ctr">
            <a:normAutofit/>
          </a:bodyPr>
          <a:lstStyle/>
          <a:p>
            <a:pPr indent="0" marL="0">
              <a:buNone/>
            </a:pPr>
            <a:r>
              <a:rPr lang="en-US" sz="1050" dirty="0">
                <a:solidFill>
                  <a:srgbClr val="475569"/>
                </a:solidFill>
                <a:latin typeface="Arial" pitchFamily="34" charset="0"/>
                <a:ea typeface="Arial" pitchFamily="34" charset="-122"/>
                <a:cs typeface="Arial" pitchFamily="34" charset="-120"/>
              </a:rPr>
              <a:t>Every class advances the same WidgetWare SDR system.</a:t>
            </a:r>
            <a:endParaRPr lang="en-US" sz="1050" dirty="0"/>
          </a:p>
        </p:txBody>
      </p:sp>
      <p:sp>
        <p:nvSpPr>
          <p:cNvPr id="10" name="Shape 8"/>
          <p:cNvSpPr/>
          <p:nvPr/>
        </p:nvSpPr>
        <p:spPr>
          <a:xfrm>
            <a:off x="731520" y="1600200"/>
            <a:ext cx="4983480" cy="786384"/>
          </a:xfrm>
          <a:prstGeom prst="roundRect">
            <a:avLst>
              <a:gd name="adj" fmla="val 9302"/>
            </a:avLst>
          </a:prstGeom>
          <a:solidFill>
            <a:srgbClr val="FFFFFF">
              <a:alpha val="0"/>
            </a:srgbClr>
          </a:solidFill>
          <a:ln w="12700">
            <a:solidFill>
              <a:srgbClr val="E5E7EB"/>
            </a:solidFill>
            <a:prstDash val="solid"/>
          </a:ln>
        </p:spPr>
      </p:sp>
      <p:sp>
        <p:nvSpPr>
          <p:cNvPr id="11" name="Text 9"/>
          <p:cNvSpPr/>
          <p:nvPr/>
        </p:nvSpPr>
        <p:spPr>
          <a:xfrm>
            <a:off x="6446520" y="1746504"/>
            <a:ext cx="384048" cy="384048"/>
          </a:xfrm>
          <a:prstGeom prst="ellipse">
            <a:avLst/>
          </a:prstGeom>
          <a:solidFill>
            <a:srgbClr val="E6F4EA"/>
          </a:solidFill>
          <a:ln>
            <a:solidFill>
              <a:srgbClr val="E6F4EA"/>
            </a:solidFill>
          </a:ln>
        </p:spPr>
        <p:txBody>
          <a:bodyPr wrap="square" lIns="0" tIns="0" rIns="0" bIns="0" rtlCol="0" anchor="ctr"/>
          <a:lstStyle/>
          <a:p>
            <a:pPr algn="ctr" indent="0" marL="0">
              <a:buNone/>
            </a:pPr>
            <a:r>
              <a:rPr lang="en-US" sz="1600" b="1" dirty="0">
                <a:solidFill>
                  <a:srgbClr val="34A853"/>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6967728" y="1746504"/>
            <a:ext cx="4178808" cy="256032"/>
          </a:xfrm>
          <a:prstGeom prst="rect">
            <a:avLst/>
          </a:prstGeom>
          <a:noFill/>
          <a:ln/>
        </p:spPr>
        <p:txBody>
          <a:bodyPr wrap="square" lIns="0" tIns="0" rIns="0" bIns="0" rtlCol="0" anchor="ctr"/>
          <a:lstStyle/>
          <a:p>
            <a:pPr indent="0" marL="0">
              <a:buNone/>
            </a:pPr>
            <a:r>
              <a:rPr lang="en-US" sz="1320" b="1" dirty="0">
                <a:solidFill>
                  <a:srgbClr val="111827"/>
                </a:solidFill>
                <a:latin typeface="Arial" pitchFamily="34" charset="0"/>
                <a:ea typeface="Arial" pitchFamily="34" charset="-122"/>
                <a:cs typeface="Arial" pitchFamily="34" charset="-120"/>
              </a:rPr>
              <a:t>Class rhythm</a:t>
            </a:r>
            <a:endParaRPr lang="en-US" sz="1320" dirty="0"/>
          </a:p>
        </p:txBody>
      </p:sp>
      <p:sp>
        <p:nvSpPr>
          <p:cNvPr id="13" name="Text 11"/>
          <p:cNvSpPr/>
          <p:nvPr/>
        </p:nvSpPr>
        <p:spPr>
          <a:xfrm>
            <a:off x="6967728" y="2057400"/>
            <a:ext cx="4178808" cy="256032"/>
          </a:xfrm>
          <a:prstGeom prst="rect">
            <a:avLst/>
          </a:prstGeom>
          <a:noFill/>
          <a:ln/>
        </p:spPr>
        <p:txBody>
          <a:bodyPr wrap="square" lIns="0" tIns="0" rIns="0" bIns="0" rtlCol="0" anchor="ctr">
            <a:normAutofit/>
          </a:bodyPr>
          <a:lstStyle/>
          <a:p>
            <a:pPr indent="0" marL="0">
              <a:buNone/>
            </a:pPr>
            <a:r>
              <a:rPr lang="en-US" sz="1050" dirty="0">
                <a:solidFill>
                  <a:srgbClr val="475569"/>
                </a:solidFill>
                <a:latin typeface="Arial" pitchFamily="34" charset="0"/>
                <a:ea typeface="Arial" pitchFamily="34" charset="-122"/>
                <a:cs typeface="Arial" pitchFamily="34" charset="-120"/>
              </a:rPr>
              <a:t>Review, reset, learn, check, build, verify, and advance.</a:t>
            </a:r>
            <a:endParaRPr lang="en-US" sz="1050" dirty="0"/>
          </a:p>
        </p:txBody>
      </p:sp>
      <p:sp>
        <p:nvSpPr>
          <p:cNvPr id="14" name="Shape 12"/>
          <p:cNvSpPr/>
          <p:nvPr/>
        </p:nvSpPr>
        <p:spPr>
          <a:xfrm>
            <a:off x="6309360" y="1600200"/>
            <a:ext cx="4983480" cy="786384"/>
          </a:xfrm>
          <a:prstGeom prst="roundRect">
            <a:avLst>
              <a:gd name="adj" fmla="val 9302"/>
            </a:avLst>
          </a:prstGeom>
          <a:solidFill>
            <a:srgbClr val="FFFFFF">
              <a:alpha val="0"/>
            </a:srgbClr>
          </a:solidFill>
          <a:ln w="12700">
            <a:solidFill>
              <a:srgbClr val="E5E7EB"/>
            </a:solidFill>
            <a:prstDash val="solid"/>
          </a:ln>
        </p:spPr>
      </p:sp>
      <p:sp>
        <p:nvSpPr>
          <p:cNvPr id="15" name="Text 13"/>
          <p:cNvSpPr/>
          <p:nvPr/>
        </p:nvSpPr>
        <p:spPr>
          <a:xfrm>
            <a:off x="868680" y="2862072"/>
            <a:ext cx="384048" cy="384048"/>
          </a:xfrm>
          <a:prstGeom prst="ellipse">
            <a:avLst/>
          </a:prstGeom>
          <a:solidFill>
            <a:srgbClr val="F3E8FF"/>
          </a:solidFill>
          <a:ln>
            <a:solidFill>
              <a:srgbClr val="F3E8FF"/>
            </a:solidFill>
          </a:ln>
        </p:spPr>
        <p:txBody>
          <a:bodyPr wrap="square" lIns="0" tIns="0" rIns="0" bIns="0" rtlCol="0" anchor="ctr"/>
          <a:lstStyle/>
          <a:p>
            <a:pPr algn="ctr" indent="0" marL="0">
              <a:buNone/>
            </a:pPr>
            <a:r>
              <a:rPr lang="en-US" sz="1600" b="1" dirty="0">
                <a:solidFill>
                  <a:srgbClr val="7C3AED"/>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1389888" y="2862072"/>
            <a:ext cx="4178808" cy="256032"/>
          </a:xfrm>
          <a:prstGeom prst="rect">
            <a:avLst/>
          </a:prstGeom>
          <a:noFill/>
          <a:ln/>
        </p:spPr>
        <p:txBody>
          <a:bodyPr wrap="square" lIns="0" tIns="0" rIns="0" bIns="0" rtlCol="0" anchor="ctr"/>
          <a:lstStyle/>
          <a:p>
            <a:pPr indent="0" marL="0">
              <a:buNone/>
            </a:pPr>
            <a:r>
              <a:rPr lang="en-US" sz="1320" b="1" dirty="0">
                <a:solidFill>
                  <a:srgbClr val="111827"/>
                </a:solidFill>
                <a:latin typeface="Arial" pitchFamily="34" charset="0"/>
                <a:ea typeface="Arial" pitchFamily="34" charset="-122"/>
                <a:cs typeface="Arial" pitchFamily="34" charset="-120"/>
              </a:rPr>
              <a:t>Workspace access</a:t>
            </a:r>
            <a:endParaRPr lang="en-US" sz="1320" dirty="0"/>
          </a:p>
        </p:txBody>
      </p:sp>
      <p:sp>
        <p:nvSpPr>
          <p:cNvPr id="17" name="Text 15"/>
          <p:cNvSpPr/>
          <p:nvPr/>
        </p:nvSpPr>
        <p:spPr>
          <a:xfrm>
            <a:off x="1389888" y="3172968"/>
            <a:ext cx="4178808" cy="256032"/>
          </a:xfrm>
          <a:prstGeom prst="rect">
            <a:avLst/>
          </a:prstGeom>
          <a:noFill/>
          <a:ln/>
        </p:spPr>
        <p:txBody>
          <a:bodyPr wrap="square" lIns="0" tIns="0" rIns="0" bIns="0" rtlCol="0" anchor="ctr">
            <a:normAutofit/>
          </a:bodyPr>
          <a:lstStyle/>
          <a:p>
            <a:pPr indent="0" marL="0">
              <a:buNone/>
            </a:pPr>
            <a:r>
              <a:rPr lang="en-US" sz="1050" dirty="0">
                <a:solidFill>
                  <a:srgbClr val="475569"/>
                </a:solidFill>
                <a:latin typeface="Arial" pitchFamily="34" charset="0"/>
                <a:ea typeface="Arial" pitchFamily="34" charset="-122"/>
                <a:cs typeface="Arial" pitchFamily="34" charset="-120"/>
              </a:rPr>
              <a:t>Open Antigravity and navigate the repository.</a:t>
            </a:r>
            <a:endParaRPr lang="en-US" sz="1050" dirty="0"/>
          </a:p>
        </p:txBody>
      </p:sp>
      <p:sp>
        <p:nvSpPr>
          <p:cNvPr id="18" name="Shape 16"/>
          <p:cNvSpPr/>
          <p:nvPr/>
        </p:nvSpPr>
        <p:spPr>
          <a:xfrm>
            <a:off x="731520" y="2715768"/>
            <a:ext cx="4983480" cy="786384"/>
          </a:xfrm>
          <a:prstGeom prst="roundRect">
            <a:avLst>
              <a:gd name="adj" fmla="val 9302"/>
            </a:avLst>
          </a:prstGeom>
          <a:solidFill>
            <a:srgbClr val="FFFFFF">
              <a:alpha val="0"/>
            </a:srgbClr>
          </a:solidFill>
          <a:ln w="12700">
            <a:solidFill>
              <a:srgbClr val="E5E7EB"/>
            </a:solidFill>
            <a:prstDash val="solid"/>
          </a:ln>
        </p:spPr>
      </p:sp>
      <p:sp>
        <p:nvSpPr>
          <p:cNvPr id="19" name="Text 17"/>
          <p:cNvSpPr/>
          <p:nvPr/>
        </p:nvSpPr>
        <p:spPr>
          <a:xfrm>
            <a:off x="6446520" y="2862072"/>
            <a:ext cx="384048" cy="384048"/>
          </a:xfrm>
          <a:prstGeom prst="ellipse">
            <a:avLst/>
          </a:prstGeom>
          <a:solidFill>
            <a:srgbClr val="FEF7E0"/>
          </a:solidFill>
          <a:ln>
            <a:solidFill>
              <a:srgbClr val="FEF7E0"/>
            </a:solidFill>
          </a:ln>
        </p:spPr>
        <p:txBody>
          <a:bodyPr wrap="square" lIns="0" tIns="0" rIns="0" bIns="0" rtlCol="0" anchor="ctr"/>
          <a:lstStyle/>
          <a:p>
            <a:pPr algn="ctr" indent="0" marL="0">
              <a:buNone/>
            </a:pPr>
            <a:r>
              <a:rPr lang="en-US" sz="1600" b="1" dirty="0">
                <a:solidFill>
                  <a:srgbClr val="FBBC04"/>
                </a:solidFill>
                <a:latin typeface="Arial" pitchFamily="34" charset="0"/>
                <a:ea typeface="Arial" pitchFamily="34" charset="-122"/>
                <a:cs typeface="Arial" pitchFamily="34" charset="-120"/>
              </a:rPr>
              <a:t>4</a:t>
            </a:r>
            <a:endParaRPr lang="en-US" sz="1600" dirty="0"/>
          </a:p>
        </p:txBody>
      </p:sp>
      <p:sp>
        <p:nvSpPr>
          <p:cNvPr id="20" name="Text 18"/>
          <p:cNvSpPr/>
          <p:nvPr/>
        </p:nvSpPr>
        <p:spPr>
          <a:xfrm>
            <a:off x="6967728" y="2862072"/>
            <a:ext cx="4178808" cy="256032"/>
          </a:xfrm>
          <a:prstGeom prst="rect">
            <a:avLst/>
          </a:prstGeom>
          <a:noFill/>
          <a:ln/>
        </p:spPr>
        <p:txBody>
          <a:bodyPr wrap="square" lIns="0" tIns="0" rIns="0" bIns="0" rtlCol="0" anchor="ctr"/>
          <a:lstStyle/>
          <a:p>
            <a:pPr indent="0" marL="0">
              <a:buNone/>
            </a:pPr>
            <a:r>
              <a:rPr lang="en-US" sz="1320" b="1" dirty="0">
                <a:solidFill>
                  <a:srgbClr val="111827"/>
                </a:solidFill>
                <a:latin typeface="Arial" pitchFamily="34" charset="0"/>
                <a:ea typeface="Arial" pitchFamily="34" charset="-122"/>
                <a:cs typeface="Arial" pitchFamily="34" charset="-120"/>
              </a:rPr>
              <a:t>Known-good baseline</a:t>
            </a:r>
            <a:endParaRPr lang="en-US" sz="1320" dirty="0"/>
          </a:p>
        </p:txBody>
      </p:sp>
      <p:sp>
        <p:nvSpPr>
          <p:cNvPr id="21" name="Text 19"/>
          <p:cNvSpPr/>
          <p:nvPr/>
        </p:nvSpPr>
        <p:spPr>
          <a:xfrm>
            <a:off x="6967728" y="3172968"/>
            <a:ext cx="4178808" cy="256032"/>
          </a:xfrm>
          <a:prstGeom prst="rect">
            <a:avLst/>
          </a:prstGeom>
          <a:noFill/>
          <a:ln/>
        </p:spPr>
        <p:txBody>
          <a:bodyPr wrap="square" lIns="0" tIns="0" rIns="0" bIns="0" rtlCol="0" anchor="ctr">
            <a:normAutofit/>
          </a:bodyPr>
          <a:lstStyle/>
          <a:p>
            <a:pPr indent="0" marL="0">
              <a:buNone/>
            </a:pPr>
            <a:r>
              <a:rPr lang="en-US" sz="1050" dirty="0">
                <a:solidFill>
                  <a:srgbClr val="475569"/>
                </a:solidFill>
                <a:latin typeface="Arial" pitchFamily="34" charset="0"/>
                <a:ea typeface="Arial" pitchFamily="34" charset="-122"/>
                <a:cs typeface="Arial" pitchFamily="34" charset="-120"/>
              </a:rPr>
              <a:t>Restore a checkpoint instead of being trapped by broken code.</a:t>
            </a:r>
            <a:endParaRPr lang="en-US" sz="1050" dirty="0"/>
          </a:p>
        </p:txBody>
      </p:sp>
      <p:sp>
        <p:nvSpPr>
          <p:cNvPr id="22" name="Shape 20"/>
          <p:cNvSpPr/>
          <p:nvPr/>
        </p:nvSpPr>
        <p:spPr>
          <a:xfrm>
            <a:off x="6309360" y="2715768"/>
            <a:ext cx="4983480" cy="786384"/>
          </a:xfrm>
          <a:prstGeom prst="roundRect">
            <a:avLst>
              <a:gd name="adj" fmla="val 9302"/>
            </a:avLst>
          </a:prstGeom>
          <a:solidFill>
            <a:srgbClr val="FFFFFF">
              <a:alpha val="0"/>
            </a:srgbClr>
          </a:solidFill>
          <a:ln w="12700">
            <a:solidFill>
              <a:srgbClr val="E5E7EB"/>
            </a:solidFill>
            <a:prstDash val="solid"/>
          </a:ln>
        </p:spPr>
      </p:sp>
      <p:sp>
        <p:nvSpPr>
          <p:cNvPr id="23" name="Text 21"/>
          <p:cNvSpPr/>
          <p:nvPr/>
        </p:nvSpPr>
        <p:spPr>
          <a:xfrm>
            <a:off x="868680" y="3977640"/>
            <a:ext cx="384048" cy="384048"/>
          </a:xfrm>
          <a:prstGeom prst="ellipse">
            <a:avLst/>
          </a:prstGeom>
          <a:solidFill>
            <a:srgbClr val="FCE8E6"/>
          </a:solidFill>
          <a:ln>
            <a:solidFill>
              <a:srgbClr val="FCE8E6"/>
            </a:solidFill>
          </a:ln>
        </p:spPr>
        <p:txBody>
          <a:bodyPr wrap="square" lIns="0" tIns="0" rIns="0" bIns="0" rtlCol="0" anchor="ctr"/>
          <a:lstStyle/>
          <a:p>
            <a:pPr algn="ctr" indent="0" marL="0">
              <a:buNone/>
            </a:pPr>
            <a:r>
              <a:rPr lang="en-US" sz="1600" b="1" dirty="0">
                <a:solidFill>
                  <a:srgbClr val="EA4335"/>
                </a:solidFill>
                <a:latin typeface="Arial" pitchFamily="34" charset="0"/>
                <a:ea typeface="Arial" pitchFamily="34" charset="-122"/>
                <a:cs typeface="Arial" pitchFamily="34" charset="-120"/>
              </a:rPr>
              <a:t>5</a:t>
            </a:r>
            <a:endParaRPr lang="en-US" sz="1600" dirty="0"/>
          </a:p>
        </p:txBody>
      </p:sp>
      <p:sp>
        <p:nvSpPr>
          <p:cNvPr id="24" name="Text 22"/>
          <p:cNvSpPr/>
          <p:nvPr/>
        </p:nvSpPr>
        <p:spPr>
          <a:xfrm>
            <a:off x="1389888" y="3977640"/>
            <a:ext cx="4178808" cy="256032"/>
          </a:xfrm>
          <a:prstGeom prst="rect">
            <a:avLst/>
          </a:prstGeom>
          <a:noFill/>
          <a:ln/>
        </p:spPr>
        <p:txBody>
          <a:bodyPr wrap="square" lIns="0" tIns="0" rIns="0" bIns="0" rtlCol="0" anchor="ctr"/>
          <a:lstStyle/>
          <a:p>
            <a:pPr indent="0" marL="0">
              <a:buNone/>
            </a:pPr>
            <a:r>
              <a:rPr lang="en-US" sz="1320" b="1" dirty="0">
                <a:solidFill>
                  <a:srgbClr val="111827"/>
                </a:solidFill>
                <a:latin typeface="Arial" pitchFamily="34" charset="0"/>
                <a:ea typeface="Arial" pitchFamily="34" charset="-122"/>
                <a:cs typeface="Arial" pitchFamily="34" charset="-120"/>
              </a:rPr>
              <a:t>Verification</a:t>
            </a:r>
            <a:endParaRPr lang="en-US" sz="1320" dirty="0"/>
          </a:p>
        </p:txBody>
      </p:sp>
      <p:sp>
        <p:nvSpPr>
          <p:cNvPr id="25" name="Text 23"/>
          <p:cNvSpPr/>
          <p:nvPr/>
        </p:nvSpPr>
        <p:spPr>
          <a:xfrm>
            <a:off x="1389888" y="4288536"/>
            <a:ext cx="4178808" cy="256032"/>
          </a:xfrm>
          <a:prstGeom prst="rect">
            <a:avLst/>
          </a:prstGeom>
          <a:noFill/>
          <a:ln/>
        </p:spPr>
        <p:txBody>
          <a:bodyPr wrap="square" lIns="0" tIns="0" rIns="0" bIns="0" rtlCol="0" anchor="ctr">
            <a:normAutofit/>
          </a:bodyPr>
          <a:lstStyle/>
          <a:p>
            <a:pPr indent="0" marL="0">
              <a:buNone/>
            </a:pPr>
            <a:r>
              <a:rPr lang="en-US" sz="1050" dirty="0">
                <a:solidFill>
                  <a:srgbClr val="475569"/>
                </a:solidFill>
                <a:latin typeface="Arial" pitchFamily="34" charset="0"/>
                <a:ea typeface="Arial" pitchFamily="34" charset="-122"/>
                <a:cs typeface="Arial" pitchFamily="34" charset="-120"/>
              </a:rPr>
              <a:t>Run the health check and interpret pass/fail output.</a:t>
            </a:r>
            <a:endParaRPr lang="en-US" sz="1050" dirty="0"/>
          </a:p>
        </p:txBody>
      </p:sp>
      <p:sp>
        <p:nvSpPr>
          <p:cNvPr id="26" name="Shape 24"/>
          <p:cNvSpPr/>
          <p:nvPr/>
        </p:nvSpPr>
        <p:spPr>
          <a:xfrm>
            <a:off x="731520" y="3831336"/>
            <a:ext cx="4983480" cy="786384"/>
          </a:xfrm>
          <a:prstGeom prst="roundRect">
            <a:avLst>
              <a:gd name="adj" fmla="val 9302"/>
            </a:avLst>
          </a:prstGeom>
          <a:solidFill>
            <a:srgbClr val="FFFFFF">
              <a:alpha val="0"/>
            </a:srgbClr>
          </a:solidFill>
          <a:ln w="12700">
            <a:solidFill>
              <a:srgbClr val="E5E7EB"/>
            </a:solidFill>
            <a:prstDash val="solid"/>
          </a:ln>
        </p:spPr>
      </p:sp>
      <p:sp>
        <p:nvSpPr>
          <p:cNvPr id="27" name="Text 25"/>
          <p:cNvSpPr/>
          <p:nvPr/>
        </p:nvSpPr>
        <p:spPr>
          <a:xfrm>
            <a:off x="6446520" y="3977640"/>
            <a:ext cx="384048" cy="384048"/>
          </a:xfrm>
          <a:prstGeom prst="ellipse">
            <a:avLst/>
          </a:prstGeom>
          <a:solidFill>
            <a:srgbClr val="E8F0FE"/>
          </a:solidFill>
          <a:ln>
            <a:solidFill>
              <a:srgbClr val="E8F0FE"/>
            </a:solidFill>
          </a:ln>
        </p:spPr>
        <p:txBody>
          <a:bodyPr wrap="square" lIns="0" tIns="0" rIns="0" bIns="0" rtlCol="0" anchor="ctr"/>
          <a:lstStyle/>
          <a:p>
            <a:pPr algn="ctr" indent="0" marL="0">
              <a:buNone/>
            </a:pPr>
            <a:r>
              <a:rPr lang="en-US" sz="1600" b="1" dirty="0">
                <a:solidFill>
                  <a:srgbClr val="1A73E8"/>
                </a:solidFill>
                <a:latin typeface="Arial" pitchFamily="34" charset="0"/>
                <a:ea typeface="Arial" pitchFamily="34" charset="-122"/>
                <a:cs typeface="Arial" pitchFamily="34" charset="-120"/>
              </a:rPr>
              <a:t>6</a:t>
            </a:r>
            <a:endParaRPr lang="en-US" sz="1600" dirty="0"/>
          </a:p>
        </p:txBody>
      </p:sp>
      <p:sp>
        <p:nvSpPr>
          <p:cNvPr id="28" name="Text 26"/>
          <p:cNvSpPr/>
          <p:nvPr/>
        </p:nvSpPr>
        <p:spPr>
          <a:xfrm>
            <a:off x="6967728" y="3977640"/>
            <a:ext cx="4178808" cy="256032"/>
          </a:xfrm>
          <a:prstGeom prst="rect">
            <a:avLst/>
          </a:prstGeom>
          <a:noFill/>
          <a:ln/>
        </p:spPr>
        <p:txBody>
          <a:bodyPr wrap="square" lIns="0" tIns="0" rIns="0" bIns="0" rtlCol="0" anchor="ctr"/>
          <a:lstStyle/>
          <a:p>
            <a:pPr indent="0" marL="0">
              <a:buNone/>
            </a:pPr>
            <a:r>
              <a:rPr lang="en-US" sz="1320" b="1" dirty="0">
                <a:solidFill>
                  <a:srgbClr val="111827"/>
                </a:solidFill>
                <a:latin typeface="Arial" pitchFamily="34" charset="0"/>
                <a:ea typeface="Arial" pitchFamily="34" charset="-122"/>
                <a:cs typeface="Arial" pitchFamily="34" charset="-120"/>
              </a:rPr>
              <a:t>Class 2 readiness</a:t>
            </a:r>
            <a:endParaRPr lang="en-US" sz="1320" dirty="0"/>
          </a:p>
        </p:txBody>
      </p:sp>
      <p:sp>
        <p:nvSpPr>
          <p:cNvPr id="29" name="Text 27"/>
          <p:cNvSpPr/>
          <p:nvPr/>
        </p:nvSpPr>
        <p:spPr>
          <a:xfrm>
            <a:off x="6967728" y="4288536"/>
            <a:ext cx="4178808" cy="256032"/>
          </a:xfrm>
          <a:prstGeom prst="rect">
            <a:avLst/>
          </a:prstGeom>
          <a:noFill/>
          <a:ln/>
        </p:spPr>
        <p:txBody>
          <a:bodyPr wrap="square" lIns="0" tIns="0" rIns="0" bIns="0" rtlCol="0" anchor="ctr">
            <a:normAutofit/>
          </a:bodyPr>
          <a:lstStyle/>
          <a:p>
            <a:pPr indent="0" marL="0">
              <a:buNone/>
            </a:pPr>
            <a:r>
              <a:rPr lang="en-US" sz="1050" dirty="0">
                <a:solidFill>
                  <a:srgbClr val="475569"/>
                </a:solidFill>
                <a:latin typeface="Arial" pitchFamily="34" charset="0"/>
                <a:ea typeface="Arial" pitchFamily="34" charset="-122"/>
                <a:cs typeface="Arial" pitchFamily="34" charset="-120"/>
              </a:rPr>
              <a:t>Begin next class from the same validated state.</a:t>
            </a:r>
            <a:endParaRPr lang="en-US" sz="1050" dirty="0"/>
          </a:p>
        </p:txBody>
      </p:sp>
      <p:sp>
        <p:nvSpPr>
          <p:cNvPr id="30" name="Shape 28"/>
          <p:cNvSpPr/>
          <p:nvPr/>
        </p:nvSpPr>
        <p:spPr>
          <a:xfrm>
            <a:off x="6309360" y="3831336"/>
            <a:ext cx="4983480" cy="786384"/>
          </a:xfrm>
          <a:prstGeom prst="roundRect">
            <a:avLst>
              <a:gd name="adj" fmla="val 9302"/>
            </a:avLst>
          </a:prstGeom>
          <a:solidFill>
            <a:srgbClr val="FFFFFF">
              <a:alpha val="0"/>
            </a:srgbClr>
          </a:solidFill>
          <a:ln w="12700">
            <a:solidFill>
              <a:srgbClr val="E5E7EB"/>
            </a:solidFill>
            <a:prstDash val="solid"/>
          </a:ln>
        </p:spPr>
      </p:sp>
      <p:sp>
        <p:nvSpPr>
          <p:cNvPr id="31" name="Text 29"/>
          <p:cNvSpPr/>
          <p:nvPr/>
        </p:nvSpPr>
        <p:spPr>
          <a:xfrm>
            <a:off x="1097280" y="5833872"/>
            <a:ext cx="9875520" cy="329184"/>
          </a:xfrm>
          <a:prstGeom prst="rect">
            <a:avLst/>
          </a:prstGeom>
          <a:noFill/>
          <a:ln/>
        </p:spPr>
        <p:txBody>
          <a:bodyPr wrap="square" lIns="0" tIns="0" rIns="0" bIns="0" rtlCol="0" anchor="ctr"/>
          <a:lstStyle/>
          <a:p>
            <a:pPr algn="ctr" indent="0" marL="0">
              <a:buNone/>
            </a:pPr>
            <a:r>
              <a:rPr lang="en-US" sz="1600" b="1" dirty="0">
                <a:solidFill>
                  <a:srgbClr val="111827"/>
                </a:solidFill>
              </a:rPr>
              <a:t>Class 1 is successful when the whole class is technically and operationally ready to build.</a:t>
            </a:r>
            <a:endParaRPr lang="en-US" sz="1600" dirty="0"/>
          </a:p>
        </p:txBody>
      </p:sp>
      <p:sp>
        <p:nvSpPr>
          <p:cNvPr id="32" name="Text 30"/>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33" name="Text 31"/>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The Rhythm of Every Class</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The sequence stays consistent; the capability being built changes.</a:t>
            </a:r>
            <a:endParaRPr lang="en-US" sz="1250" dirty="0"/>
          </a:p>
        </p:txBody>
      </p:sp>
      <p:sp>
        <p:nvSpPr>
          <p:cNvPr id="6" name="Text 4"/>
          <p:cNvSpPr/>
          <p:nvPr/>
        </p:nvSpPr>
        <p:spPr>
          <a:xfrm>
            <a:off x="594360" y="1234440"/>
            <a:ext cx="1965960" cy="256032"/>
          </a:xfrm>
          <a:prstGeom prst="roundRect">
            <a:avLst>
              <a:gd name="adj" fmla="val 28571"/>
            </a:avLst>
          </a:prstGeom>
          <a:solidFill>
            <a:srgbClr val="E8F0FE"/>
          </a:solidFill>
          <a:ln>
            <a:solidFill>
              <a:srgbClr val="E8F0FE"/>
            </a:solidFill>
          </a:ln>
        </p:spPr>
        <p:txBody>
          <a:bodyPr wrap="square" lIns="508" tIns="508" rIns="508" bIns="508" rtlCol="0" anchor="ctr"/>
          <a:lstStyle/>
          <a:p>
            <a:pPr algn="ctr" indent="0" marL="0">
              <a:buNone/>
            </a:pPr>
            <a:r>
              <a:rPr lang="en-US" sz="950" b="1" dirty="0">
                <a:solidFill>
                  <a:srgbClr val="1A73E8"/>
                </a:solidFill>
                <a:latin typeface="Arial" pitchFamily="34" charset="0"/>
                <a:ea typeface="Arial" pitchFamily="34" charset="-122"/>
                <a:cs typeface="Arial" pitchFamily="34" charset="-120"/>
              </a:rPr>
              <a:t>RECURRING CADENCE</a:t>
            </a:r>
            <a:endParaRPr lang="en-US" sz="950" dirty="0"/>
          </a:p>
        </p:txBody>
      </p:sp>
      <p:sp>
        <p:nvSpPr>
          <p:cNvPr id="7" name="Text 5"/>
          <p:cNvSpPr/>
          <p:nvPr/>
        </p:nvSpPr>
        <p:spPr>
          <a:xfrm>
            <a:off x="566928" y="2240280"/>
            <a:ext cx="1234440" cy="640080"/>
          </a:xfrm>
          <a:prstGeom prst="roundRect">
            <a:avLst>
              <a:gd name="adj" fmla="val 8571"/>
            </a:avLst>
          </a:prstGeom>
          <a:solidFill>
            <a:srgbClr val="E8F0FE"/>
          </a:solidFill>
          <a:ln>
            <a:solidFill>
              <a:srgbClr val="E8F0FE"/>
            </a:solidFill>
          </a:ln>
        </p:spPr>
        <p:txBody>
          <a:bodyPr wrap="square" lIns="508" tIns="508" rIns="508" bIns="508" rtlCol="0" anchor="ctr"/>
          <a:lstStyle/>
          <a:p>
            <a:pPr algn="ctr" indent="0" marL="0">
              <a:buNone/>
            </a:pPr>
            <a:r>
              <a:rPr lang="en-US" sz="1400" b="1" dirty="0">
                <a:solidFill>
                  <a:srgbClr val="1A73E8"/>
                </a:solidFill>
                <a:latin typeface="Arial" pitchFamily="34" charset="0"/>
                <a:ea typeface="Arial" pitchFamily="34" charset="-122"/>
                <a:cs typeface="Arial" pitchFamily="34" charset="-120"/>
              </a:rPr>
              <a:t>Review</a:t>
            </a:r>
            <a:endParaRPr lang="en-US" sz="1400" dirty="0"/>
          </a:p>
        </p:txBody>
      </p:sp>
      <p:sp>
        <p:nvSpPr>
          <p:cNvPr id="8" name="Text 6"/>
          <p:cNvSpPr/>
          <p:nvPr/>
        </p:nvSpPr>
        <p:spPr>
          <a:xfrm>
            <a:off x="1847088" y="2432304"/>
            <a:ext cx="256032" cy="219456"/>
          </a:xfrm>
          <a:prstGeom prst="rect">
            <a:avLst/>
          </a:prstGeom>
          <a:noFill/>
          <a:ln/>
        </p:spPr>
        <p:txBody>
          <a:bodyPr wrap="square" lIns="0" tIns="0" rIns="0" bIns="0" rtlCol="0" anchor="ctr"/>
          <a:lstStyle/>
          <a:p>
            <a:pPr algn="ctr" indent="0" marL="0">
              <a:buNone/>
            </a:pPr>
            <a:r>
              <a:rPr lang="en-US" sz="1500" b="1" dirty="0">
                <a:solidFill>
                  <a:srgbClr val="CBD5E1"/>
                </a:solidFill>
                <a:latin typeface="Arial" pitchFamily="34" charset="0"/>
                <a:ea typeface="Arial" pitchFamily="34" charset="-122"/>
                <a:cs typeface="Arial" pitchFamily="34" charset="-120"/>
              </a:rPr>
              <a:t>→</a:t>
            </a:r>
            <a:endParaRPr lang="en-US" sz="1500" dirty="0"/>
          </a:p>
        </p:txBody>
      </p:sp>
      <p:sp>
        <p:nvSpPr>
          <p:cNvPr id="9" name="Text 7"/>
          <p:cNvSpPr/>
          <p:nvPr/>
        </p:nvSpPr>
        <p:spPr>
          <a:xfrm>
            <a:off x="2185416" y="2240280"/>
            <a:ext cx="1234440" cy="640080"/>
          </a:xfrm>
          <a:prstGeom prst="roundRect">
            <a:avLst>
              <a:gd name="adj" fmla="val 8571"/>
            </a:avLst>
          </a:prstGeom>
          <a:solidFill>
            <a:srgbClr val="F3E8FF"/>
          </a:solidFill>
          <a:ln>
            <a:solidFill>
              <a:srgbClr val="F3E8FF"/>
            </a:solidFill>
          </a:ln>
        </p:spPr>
        <p:txBody>
          <a:bodyPr wrap="square" lIns="508" tIns="508" rIns="508" bIns="508" rtlCol="0" anchor="ctr"/>
          <a:lstStyle/>
          <a:p>
            <a:pPr algn="ctr" indent="0" marL="0">
              <a:buNone/>
            </a:pPr>
            <a:r>
              <a:rPr lang="en-US" sz="1400" b="1" dirty="0">
                <a:solidFill>
                  <a:srgbClr val="7C3AED"/>
                </a:solidFill>
                <a:latin typeface="Arial" pitchFamily="34" charset="0"/>
                <a:ea typeface="Arial" pitchFamily="34" charset="-122"/>
                <a:cs typeface="Arial" pitchFamily="34" charset="-120"/>
              </a:rPr>
              <a:t>Reset</a:t>
            </a:r>
            <a:endParaRPr lang="en-US" sz="1400" dirty="0"/>
          </a:p>
        </p:txBody>
      </p:sp>
      <p:sp>
        <p:nvSpPr>
          <p:cNvPr id="10" name="Text 8"/>
          <p:cNvSpPr/>
          <p:nvPr/>
        </p:nvSpPr>
        <p:spPr>
          <a:xfrm>
            <a:off x="3465576" y="2432304"/>
            <a:ext cx="256032" cy="219456"/>
          </a:xfrm>
          <a:prstGeom prst="rect">
            <a:avLst/>
          </a:prstGeom>
          <a:noFill/>
          <a:ln/>
        </p:spPr>
        <p:txBody>
          <a:bodyPr wrap="square" lIns="0" tIns="0" rIns="0" bIns="0" rtlCol="0" anchor="ctr"/>
          <a:lstStyle/>
          <a:p>
            <a:pPr algn="ctr" indent="0" marL="0">
              <a:buNone/>
            </a:pPr>
            <a:r>
              <a:rPr lang="en-US" sz="1500" b="1" dirty="0">
                <a:solidFill>
                  <a:srgbClr val="CBD5E1"/>
                </a:solidFill>
                <a:latin typeface="Arial" pitchFamily="34" charset="0"/>
                <a:ea typeface="Arial" pitchFamily="34" charset="-122"/>
                <a:cs typeface="Arial" pitchFamily="34" charset="-120"/>
              </a:rPr>
              <a:t>→</a:t>
            </a:r>
            <a:endParaRPr lang="en-US" sz="1500" dirty="0"/>
          </a:p>
        </p:txBody>
      </p:sp>
      <p:sp>
        <p:nvSpPr>
          <p:cNvPr id="11" name="Text 9"/>
          <p:cNvSpPr/>
          <p:nvPr/>
        </p:nvSpPr>
        <p:spPr>
          <a:xfrm>
            <a:off x="3803904" y="2240280"/>
            <a:ext cx="1234440" cy="640080"/>
          </a:xfrm>
          <a:prstGeom prst="roundRect">
            <a:avLst>
              <a:gd name="adj" fmla="val 8571"/>
            </a:avLst>
          </a:prstGeom>
          <a:solidFill>
            <a:srgbClr val="E6F4EA"/>
          </a:solidFill>
          <a:ln>
            <a:solidFill>
              <a:srgbClr val="E6F4EA"/>
            </a:solidFill>
          </a:ln>
        </p:spPr>
        <p:txBody>
          <a:bodyPr wrap="square" lIns="508" tIns="508" rIns="508" bIns="508" rtlCol="0" anchor="ctr"/>
          <a:lstStyle/>
          <a:p>
            <a:pPr algn="ctr" indent="0" marL="0">
              <a:buNone/>
            </a:pPr>
            <a:r>
              <a:rPr lang="en-US" sz="1400" b="1" dirty="0">
                <a:solidFill>
                  <a:srgbClr val="34A853"/>
                </a:solidFill>
                <a:latin typeface="Arial" pitchFamily="34" charset="0"/>
                <a:ea typeface="Arial" pitchFamily="34" charset="-122"/>
                <a:cs typeface="Arial" pitchFamily="34" charset="-120"/>
              </a:rPr>
              <a:t>Learn</a:t>
            </a:r>
            <a:endParaRPr lang="en-US" sz="1400" dirty="0"/>
          </a:p>
        </p:txBody>
      </p:sp>
      <p:sp>
        <p:nvSpPr>
          <p:cNvPr id="12" name="Text 10"/>
          <p:cNvSpPr/>
          <p:nvPr/>
        </p:nvSpPr>
        <p:spPr>
          <a:xfrm>
            <a:off x="5084064" y="2432304"/>
            <a:ext cx="256032" cy="219456"/>
          </a:xfrm>
          <a:prstGeom prst="rect">
            <a:avLst/>
          </a:prstGeom>
          <a:noFill/>
          <a:ln/>
        </p:spPr>
        <p:txBody>
          <a:bodyPr wrap="square" lIns="0" tIns="0" rIns="0" bIns="0" rtlCol="0" anchor="ctr"/>
          <a:lstStyle/>
          <a:p>
            <a:pPr algn="ctr" indent="0" marL="0">
              <a:buNone/>
            </a:pPr>
            <a:r>
              <a:rPr lang="en-US" sz="1500" b="1" dirty="0">
                <a:solidFill>
                  <a:srgbClr val="CBD5E1"/>
                </a:solidFill>
                <a:latin typeface="Arial" pitchFamily="34" charset="0"/>
                <a:ea typeface="Arial" pitchFamily="34" charset="-122"/>
                <a:cs typeface="Arial" pitchFamily="34" charset="-120"/>
              </a:rPr>
              <a:t>→</a:t>
            </a:r>
            <a:endParaRPr lang="en-US" sz="1500" dirty="0"/>
          </a:p>
        </p:txBody>
      </p:sp>
      <p:sp>
        <p:nvSpPr>
          <p:cNvPr id="13" name="Text 11"/>
          <p:cNvSpPr/>
          <p:nvPr/>
        </p:nvSpPr>
        <p:spPr>
          <a:xfrm>
            <a:off x="5422392" y="2240280"/>
            <a:ext cx="1234440" cy="640080"/>
          </a:xfrm>
          <a:prstGeom prst="roundRect">
            <a:avLst>
              <a:gd name="adj" fmla="val 8571"/>
            </a:avLst>
          </a:prstGeom>
          <a:solidFill>
            <a:srgbClr val="FEF7E0"/>
          </a:solidFill>
          <a:ln>
            <a:solidFill>
              <a:srgbClr val="FEF7E0"/>
            </a:solidFill>
          </a:ln>
        </p:spPr>
        <p:txBody>
          <a:bodyPr wrap="square" lIns="508" tIns="508" rIns="508" bIns="508" rtlCol="0" anchor="ctr"/>
          <a:lstStyle/>
          <a:p>
            <a:pPr algn="ctr" indent="0" marL="0">
              <a:buNone/>
            </a:pPr>
            <a:r>
              <a:rPr lang="en-US" sz="1400" b="1" dirty="0">
                <a:solidFill>
                  <a:srgbClr val="A16207"/>
                </a:solidFill>
                <a:latin typeface="Arial" pitchFamily="34" charset="0"/>
                <a:ea typeface="Arial" pitchFamily="34" charset="-122"/>
                <a:cs typeface="Arial" pitchFamily="34" charset="-120"/>
              </a:rPr>
              <a:t>Check</a:t>
            </a:r>
            <a:endParaRPr lang="en-US" sz="1400" dirty="0"/>
          </a:p>
        </p:txBody>
      </p:sp>
      <p:sp>
        <p:nvSpPr>
          <p:cNvPr id="14" name="Text 12"/>
          <p:cNvSpPr/>
          <p:nvPr/>
        </p:nvSpPr>
        <p:spPr>
          <a:xfrm>
            <a:off x="6702552" y="2432304"/>
            <a:ext cx="256032" cy="219456"/>
          </a:xfrm>
          <a:prstGeom prst="rect">
            <a:avLst/>
          </a:prstGeom>
          <a:noFill/>
          <a:ln/>
        </p:spPr>
        <p:txBody>
          <a:bodyPr wrap="square" lIns="0" tIns="0" rIns="0" bIns="0" rtlCol="0" anchor="ctr"/>
          <a:lstStyle/>
          <a:p>
            <a:pPr algn="ctr" indent="0" marL="0">
              <a:buNone/>
            </a:pPr>
            <a:r>
              <a:rPr lang="en-US" sz="1500" b="1" dirty="0">
                <a:solidFill>
                  <a:srgbClr val="CBD5E1"/>
                </a:solidFill>
                <a:latin typeface="Arial" pitchFamily="34" charset="0"/>
                <a:ea typeface="Arial" pitchFamily="34" charset="-122"/>
                <a:cs typeface="Arial" pitchFamily="34" charset="-120"/>
              </a:rPr>
              <a:t>→</a:t>
            </a:r>
            <a:endParaRPr lang="en-US" sz="1500" dirty="0"/>
          </a:p>
        </p:txBody>
      </p:sp>
      <p:sp>
        <p:nvSpPr>
          <p:cNvPr id="15" name="Text 13"/>
          <p:cNvSpPr/>
          <p:nvPr/>
        </p:nvSpPr>
        <p:spPr>
          <a:xfrm>
            <a:off x="7040880" y="2240280"/>
            <a:ext cx="1234440" cy="640080"/>
          </a:xfrm>
          <a:prstGeom prst="roundRect">
            <a:avLst>
              <a:gd name="adj" fmla="val 8571"/>
            </a:avLst>
          </a:prstGeom>
          <a:solidFill>
            <a:srgbClr val="E8F0FE"/>
          </a:solidFill>
          <a:ln>
            <a:solidFill>
              <a:srgbClr val="E8F0FE"/>
            </a:solidFill>
          </a:ln>
        </p:spPr>
        <p:txBody>
          <a:bodyPr wrap="square" lIns="508" tIns="508" rIns="508" bIns="508" rtlCol="0" anchor="ctr"/>
          <a:lstStyle/>
          <a:p>
            <a:pPr algn="ctr" indent="0" marL="0">
              <a:buNone/>
            </a:pPr>
            <a:r>
              <a:rPr lang="en-US" sz="1400" b="1" dirty="0">
                <a:solidFill>
                  <a:srgbClr val="1A73E8"/>
                </a:solidFill>
                <a:latin typeface="Arial" pitchFamily="34" charset="0"/>
                <a:ea typeface="Arial" pitchFamily="34" charset="-122"/>
                <a:cs typeface="Arial" pitchFamily="34" charset="-120"/>
              </a:rPr>
              <a:t>Build</a:t>
            </a:r>
            <a:endParaRPr lang="en-US" sz="1400" dirty="0"/>
          </a:p>
        </p:txBody>
      </p:sp>
      <p:sp>
        <p:nvSpPr>
          <p:cNvPr id="16" name="Text 14"/>
          <p:cNvSpPr/>
          <p:nvPr/>
        </p:nvSpPr>
        <p:spPr>
          <a:xfrm>
            <a:off x="8321040" y="2432304"/>
            <a:ext cx="256032" cy="219456"/>
          </a:xfrm>
          <a:prstGeom prst="rect">
            <a:avLst/>
          </a:prstGeom>
          <a:noFill/>
          <a:ln/>
        </p:spPr>
        <p:txBody>
          <a:bodyPr wrap="square" lIns="0" tIns="0" rIns="0" bIns="0" rtlCol="0" anchor="ctr"/>
          <a:lstStyle/>
          <a:p>
            <a:pPr algn="ctr" indent="0" marL="0">
              <a:buNone/>
            </a:pPr>
            <a:r>
              <a:rPr lang="en-US" sz="1500" b="1" dirty="0">
                <a:solidFill>
                  <a:srgbClr val="CBD5E1"/>
                </a:solidFill>
                <a:latin typeface="Arial" pitchFamily="34" charset="0"/>
                <a:ea typeface="Arial" pitchFamily="34" charset="-122"/>
                <a:cs typeface="Arial" pitchFamily="34" charset="-120"/>
              </a:rPr>
              <a:t>→</a:t>
            </a:r>
            <a:endParaRPr lang="en-US" sz="1500" dirty="0"/>
          </a:p>
        </p:txBody>
      </p:sp>
      <p:sp>
        <p:nvSpPr>
          <p:cNvPr id="17" name="Text 15"/>
          <p:cNvSpPr/>
          <p:nvPr/>
        </p:nvSpPr>
        <p:spPr>
          <a:xfrm>
            <a:off x="8659368" y="2240280"/>
            <a:ext cx="1234440" cy="640080"/>
          </a:xfrm>
          <a:prstGeom prst="roundRect">
            <a:avLst>
              <a:gd name="adj" fmla="val 8571"/>
            </a:avLst>
          </a:prstGeom>
          <a:solidFill>
            <a:srgbClr val="FCE8E6"/>
          </a:solidFill>
          <a:ln>
            <a:solidFill>
              <a:srgbClr val="FCE8E6"/>
            </a:solidFill>
          </a:ln>
        </p:spPr>
        <p:txBody>
          <a:bodyPr wrap="square" lIns="508" tIns="508" rIns="508" bIns="508" rtlCol="0" anchor="ctr"/>
          <a:lstStyle/>
          <a:p>
            <a:pPr algn="ctr" indent="0" marL="0">
              <a:buNone/>
            </a:pPr>
            <a:r>
              <a:rPr lang="en-US" sz="1400" b="1" dirty="0">
                <a:solidFill>
                  <a:srgbClr val="EA4335"/>
                </a:solidFill>
                <a:latin typeface="Arial" pitchFamily="34" charset="0"/>
                <a:ea typeface="Arial" pitchFamily="34" charset="-122"/>
                <a:cs typeface="Arial" pitchFamily="34" charset="-120"/>
              </a:rPr>
              <a:t>Verify</a:t>
            </a:r>
            <a:endParaRPr lang="en-US" sz="1400" dirty="0"/>
          </a:p>
        </p:txBody>
      </p:sp>
      <p:sp>
        <p:nvSpPr>
          <p:cNvPr id="18" name="Text 16"/>
          <p:cNvSpPr/>
          <p:nvPr/>
        </p:nvSpPr>
        <p:spPr>
          <a:xfrm>
            <a:off x="9939528" y="2432304"/>
            <a:ext cx="256032" cy="219456"/>
          </a:xfrm>
          <a:prstGeom prst="rect">
            <a:avLst/>
          </a:prstGeom>
          <a:noFill/>
          <a:ln/>
        </p:spPr>
        <p:txBody>
          <a:bodyPr wrap="square" lIns="0" tIns="0" rIns="0" bIns="0" rtlCol="0" anchor="ctr"/>
          <a:lstStyle/>
          <a:p>
            <a:pPr algn="ctr" indent="0" marL="0">
              <a:buNone/>
            </a:pPr>
            <a:r>
              <a:rPr lang="en-US" sz="1500" b="1" dirty="0">
                <a:solidFill>
                  <a:srgbClr val="CBD5E1"/>
                </a:solidFill>
                <a:latin typeface="Arial" pitchFamily="34" charset="0"/>
                <a:ea typeface="Arial" pitchFamily="34" charset="-122"/>
                <a:cs typeface="Arial" pitchFamily="34" charset="-120"/>
              </a:rPr>
              <a:t>→</a:t>
            </a:r>
            <a:endParaRPr lang="en-US" sz="1500" dirty="0"/>
          </a:p>
        </p:txBody>
      </p:sp>
      <p:sp>
        <p:nvSpPr>
          <p:cNvPr id="19" name="Text 17"/>
          <p:cNvSpPr/>
          <p:nvPr/>
        </p:nvSpPr>
        <p:spPr>
          <a:xfrm>
            <a:off x="10277856" y="2240280"/>
            <a:ext cx="1234440" cy="640080"/>
          </a:xfrm>
          <a:prstGeom prst="roundRect">
            <a:avLst>
              <a:gd name="adj" fmla="val 8571"/>
            </a:avLst>
          </a:prstGeom>
          <a:solidFill>
            <a:srgbClr val="F1F5F9"/>
          </a:solidFill>
          <a:ln>
            <a:solidFill>
              <a:srgbClr val="F1F5F9"/>
            </a:solidFill>
          </a:ln>
        </p:spPr>
        <p:txBody>
          <a:bodyPr wrap="square" lIns="508" tIns="508" rIns="508" bIns="508" rtlCol="0" anchor="ctr"/>
          <a:lstStyle/>
          <a:p>
            <a:pPr algn="ctr" indent="0" marL="0">
              <a:buNone/>
            </a:pPr>
            <a:r>
              <a:rPr lang="en-US" sz="1400" b="1" dirty="0">
                <a:solidFill>
                  <a:srgbClr val="111827"/>
                </a:solidFill>
                <a:latin typeface="Arial" pitchFamily="34" charset="0"/>
                <a:ea typeface="Arial" pitchFamily="34" charset="-122"/>
                <a:cs typeface="Arial" pitchFamily="34" charset="-120"/>
              </a:rPr>
              <a:t>Advance</a:t>
            </a:r>
            <a:endParaRPr lang="en-US" sz="1400" dirty="0"/>
          </a:p>
        </p:txBody>
      </p:sp>
      <p:sp>
        <p:nvSpPr>
          <p:cNvPr id="20" name="Text 18"/>
          <p:cNvSpPr/>
          <p:nvPr/>
        </p:nvSpPr>
        <p:spPr>
          <a:xfrm>
            <a:off x="731520" y="3749040"/>
            <a:ext cx="2148840" cy="640080"/>
          </a:xfrm>
          <a:prstGeom prst="roundRect">
            <a:avLst>
              <a:gd name="adj" fmla="val 14286"/>
            </a:avLst>
          </a:prstGeom>
          <a:solidFill>
            <a:srgbClr val="FFFFFF"/>
          </a:solidFill>
          <a:ln w="12700">
            <a:solidFill>
              <a:srgbClr val="E5E7EB"/>
            </a:solidFill>
          </a:ln>
        </p:spPr>
        <p:txBody>
          <a:bodyPr wrap="square" lIns="1270" tIns="1270" rIns="1270" bIns="1270" rtlCol="0" anchor="t">
            <a:normAutofit/>
          </a:bodyPr>
          <a:lstStyle/>
          <a:p>
            <a:pPr indent="0" marL="0">
              <a:buNone/>
            </a:pPr>
            <a:r>
              <a:rPr lang="en-US" sz="1070" b="1" dirty="0">
                <a:solidFill>
                  <a:srgbClr val="111827"/>
                </a:solidFill>
                <a:latin typeface="Arial" pitchFamily="34" charset="0"/>
                <a:ea typeface="Arial" pitchFamily="34" charset="-122"/>
                <a:cs typeface="Arial" pitchFamily="34" charset="-120"/>
              </a:rPr>
              <a:t>Review</a:t>
            </a:r>
            <a:endParaRPr lang="en-US" sz="1070" dirty="0"/>
          </a:p>
          <a:p>
            <a:pPr indent="0" marL="0">
              <a:buNone/>
            </a:pPr>
            <a:endParaRPr lang="en-US" sz="1070" dirty="0"/>
          </a:p>
          <a:p>
            <a:pPr indent="0" marL="0">
              <a:buNone/>
            </a:pPr>
            <a:r>
              <a:rPr lang="en-US" sz="1070" dirty="0">
                <a:solidFill>
                  <a:srgbClr val="111827"/>
                </a:solidFill>
                <a:latin typeface="Arial" pitchFamily="34" charset="0"/>
                <a:ea typeface="Arial" pitchFamily="34" charset="-122"/>
                <a:cs typeface="Arial" pitchFamily="34" charset="-120"/>
              </a:rPr>
              <a:t>Homework, prior results, questions, mistakes</a:t>
            </a:r>
            <a:endParaRPr lang="en-US" sz="1070" dirty="0"/>
          </a:p>
        </p:txBody>
      </p:sp>
      <p:sp>
        <p:nvSpPr>
          <p:cNvPr id="21" name="Text 19"/>
          <p:cNvSpPr/>
          <p:nvPr/>
        </p:nvSpPr>
        <p:spPr>
          <a:xfrm>
            <a:off x="3520440" y="3749040"/>
            <a:ext cx="2148840" cy="640080"/>
          </a:xfrm>
          <a:prstGeom prst="roundRect">
            <a:avLst>
              <a:gd name="adj" fmla="val 14286"/>
            </a:avLst>
          </a:prstGeom>
          <a:solidFill>
            <a:srgbClr val="FFFFFF"/>
          </a:solidFill>
          <a:ln w="12700">
            <a:solidFill>
              <a:srgbClr val="E5E7EB"/>
            </a:solidFill>
          </a:ln>
        </p:spPr>
        <p:txBody>
          <a:bodyPr wrap="square" lIns="1270" tIns="1270" rIns="1270" bIns="1270" rtlCol="0" anchor="t">
            <a:normAutofit/>
          </a:bodyPr>
          <a:lstStyle/>
          <a:p>
            <a:pPr indent="0" marL="0">
              <a:buNone/>
            </a:pPr>
            <a:r>
              <a:rPr lang="en-US" sz="1070" b="1" dirty="0">
                <a:solidFill>
                  <a:srgbClr val="111827"/>
                </a:solidFill>
                <a:latin typeface="Arial" pitchFamily="34" charset="0"/>
                <a:ea typeface="Arial" pitchFamily="34" charset="-122"/>
                <a:cs typeface="Arial" pitchFamily="34" charset="-120"/>
              </a:rPr>
              <a:t>Reset</a:t>
            </a:r>
            <a:endParaRPr lang="en-US" sz="1070" dirty="0"/>
          </a:p>
          <a:p>
            <a:pPr indent="0" marL="0">
              <a:buNone/>
            </a:pPr>
            <a:endParaRPr lang="en-US" sz="1070" dirty="0"/>
          </a:p>
          <a:p>
            <a:pPr indent="0" marL="0">
              <a:buNone/>
            </a:pPr>
            <a:r>
              <a:rPr lang="en-US" sz="1070" dirty="0">
                <a:solidFill>
                  <a:srgbClr val="111827"/>
                </a:solidFill>
                <a:latin typeface="Arial" pitchFamily="34" charset="0"/>
                <a:ea typeface="Arial" pitchFamily="34" charset="-122"/>
                <a:cs typeface="Arial" pitchFamily="34" charset="-120"/>
              </a:rPr>
              <a:t>Restore the previous known-good checkpoint</a:t>
            </a:r>
            <a:endParaRPr lang="en-US" sz="1070" dirty="0"/>
          </a:p>
        </p:txBody>
      </p:sp>
      <p:sp>
        <p:nvSpPr>
          <p:cNvPr id="22" name="Text 20"/>
          <p:cNvSpPr/>
          <p:nvPr/>
        </p:nvSpPr>
        <p:spPr>
          <a:xfrm>
            <a:off x="6309360" y="3749040"/>
            <a:ext cx="2148840" cy="640080"/>
          </a:xfrm>
          <a:prstGeom prst="roundRect">
            <a:avLst>
              <a:gd name="adj" fmla="val 14286"/>
            </a:avLst>
          </a:prstGeom>
          <a:solidFill>
            <a:srgbClr val="FFFFFF"/>
          </a:solidFill>
          <a:ln w="12700">
            <a:solidFill>
              <a:srgbClr val="E5E7EB"/>
            </a:solidFill>
          </a:ln>
        </p:spPr>
        <p:txBody>
          <a:bodyPr wrap="square" lIns="1270" tIns="1270" rIns="1270" bIns="1270" rtlCol="0" anchor="t">
            <a:normAutofit/>
          </a:bodyPr>
          <a:lstStyle/>
          <a:p>
            <a:pPr indent="0" marL="0">
              <a:buNone/>
            </a:pPr>
            <a:r>
              <a:rPr lang="en-US" sz="1070" b="1" dirty="0">
                <a:solidFill>
                  <a:srgbClr val="111827"/>
                </a:solidFill>
                <a:latin typeface="Arial" pitchFamily="34" charset="0"/>
                <a:ea typeface="Arial" pitchFamily="34" charset="-122"/>
                <a:cs typeface="Arial" pitchFamily="34" charset="-120"/>
              </a:rPr>
              <a:t>Learn</a:t>
            </a:r>
            <a:endParaRPr lang="en-US" sz="1070" dirty="0"/>
          </a:p>
          <a:p>
            <a:pPr indent="0" marL="0">
              <a:buNone/>
            </a:pPr>
            <a:endParaRPr lang="en-US" sz="1070" dirty="0"/>
          </a:p>
          <a:p>
            <a:pPr indent="0" marL="0">
              <a:buNone/>
            </a:pPr>
            <a:r>
              <a:rPr lang="en-US" sz="1070" dirty="0">
                <a:solidFill>
                  <a:srgbClr val="111827"/>
                </a:solidFill>
                <a:latin typeface="Arial" pitchFamily="34" charset="0"/>
                <a:ea typeface="Arial" pitchFamily="34" charset="-122"/>
                <a:cs typeface="Arial" pitchFamily="34" charset="-120"/>
              </a:rPr>
              <a:t>Explain today’s engineering concept and boundaries</a:t>
            </a:r>
            <a:endParaRPr lang="en-US" sz="1070" dirty="0"/>
          </a:p>
        </p:txBody>
      </p:sp>
      <p:sp>
        <p:nvSpPr>
          <p:cNvPr id="23" name="Text 21"/>
          <p:cNvSpPr/>
          <p:nvPr/>
        </p:nvSpPr>
        <p:spPr>
          <a:xfrm>
            <a:off x="9098280" y="3749040"/>
            <a:ext cx="2148840" cy="640080"/>
          </a:xfrm>
          <a:prstGeom prst="roundRect">
            <a:avLst>
              <a:gd name="adj" fmla="val 14286"/>
            </a:avLst>
          </a:prstGeom>
          <a:solidFill>
            <a:srgbClr val="FFFFFF"/>
          </a:solidFill>
          <a:ln w="12700">
            <a:solidFill>
              <a:srgbClr val="E5E7EB"/>
            </a:solidFill>
          </a:ln>
        </p:spPr>
        <p:txBody>
          <a:bodyPr wrap="square" lIns="1270" tIns="1270" rIns="1270" bIns="1270" rtlCol="0" anchor="t">
            <a:normAutofit/>
          </a:bodyPr>
          <a:lstStyle/>
          <a:p>
            <a:pPr indent="0" marL="0">
              <a:buNone/>
            </a:pPr>
            <a:r>
              <a:rPr lang="en-US" sz="1070" b="1" dirty="0">
                <a:solidFill>
                  <a:srgbClr val="111827"/>
                </a:solidFill>
                <a:latin typeface="Arial" pitchFamily="34" charset="0"/>
                <a:ea typeface="Arial" pitchFamily="34" charset="-122"/>
                <a:cs typeface="Arial" pitchFamily="34" charset="-120"/>
              </a:rPr>
              <a:t>Check</a:t>
            </a:r>
            <a:endParaRPr lang="en-US" sz="1070" dirty="0"/>
          </a:p>
          <a:p>
            <a:pPr indent="0" marL="0">
              <a:buNone/>
            </a:pPr>
            <a:endParaRPr lang="en-US" sz="1070" dirty="0"/>
          </a:p>
          <a:p>
            <a:pPr indent="0" marL="0">
              <a:buNone/>
            </a:pPr>
            <a:r>
              <a:rPr lang="en-US" sz="1070" dirty="0">
                <a:solidFill>
                  <a:srgbClr val="111827"/>
                </a:solidFill>
                <a:latin typeface="Arial" pitchFamily="34" charset="0"/>
                <a:ea typeface="Arial" pitchFamily="34" charset="-122"/>
                <a:cs typeface="Arial" pitchFamily="34" charset="-120"/>
              </a:rPr>
              <a:t>Confirm understanding before implementation</a:t>
            </a:r>
            <a:endParaRPr lang="en-US" sz="1070" dirty="0"/>
          </a:p>
        </p:txBody>
      </p:sp>
      <p:sp>
        <p:nvSpPr>
          <p:cNvPr id="24" name="Text 22"/>
          <p:cNvSpPr/>
          <p:nvPr/>
        </p:nvSpPr>
        <p:spPr>
          <a:xfrm>
            <a:off x="2148840" y="4873752"/>
            <a:ext cx="2148840" cy="640080"/>
          </a:xfrm>
          <a:prstGeom prst="roundRect">
            <a:avLst>
              <a:gd name="adj" fmla="val 14286"/>
            </a:avLst>
          </a:prstGeom>
          <a:solidFill>
            <a:srgbClr val="FFFFFF"/>
          </a:solidFill>
          <a:ln w="12700">
            <a:solidFill>
              <a:srgbClr val="E5E7EB"/>
            </a:solidFill>
          </a:ln>
        </p:spPr>
        <p:txBody>
          <a:bodyPr wrap="square" lIns="1270" tIns="1270" rIns="1270" bIns="1270" rtlCol="0" anchor="t">
            <a:normAutofit/>
          </a:bodyPr>
          <a:lstStyle/>
          <a:p>
            <a:pPr indent="0" marL="0">
              <a:buNone/>
            </a:pPr>
            <a:r>
              <a:rPr lang="en-US" sz="1070" b="1" dirty="0">
                <a:solidFill>
                  <a:srgbClr val="111827"/>
                </a:solidFill>
                <a:latin typeface="Arial" pitchFamily="34" charset="0"/>
                <a:ea typeface="Arial" pitchFamily="34" charset="-122"/>
                <a:cs typeface="Arial" pitchFamily="34" charset="-120"/>
              </a:rPr>
              <a:t>Build</a:t>
            </a:r>
            <a:endParaRPr lang="en-US" sz="1070" dirty="0"/>
          </a:p>
          <a:p>
            <a:pPr indent="0" marL="0">
              <a:buNone/>
            </a:pPr>
            <a:endParaRPr lang="en-US" sz="1070" dirty="0"/>
          </a:p>
          <a:p>
            <a:pPr indent="0" marL="0">
              <a:buNone/>
            </a:pPr>
            <a:r>
              <a:rPr lang="en-US" sz="1070" dirty="0">
                <a:solidFill>
                  <a:srgbClr val="111827"/>
                </a:solidFill>
                <a:latin typeface="Arial" pitchFamily="34" charset="0"/>
                <a:ea typeface="Arial" pitchFamily="34" charset="-122"/>
                <a:cs typeface="Arial" pitchFamily="34" charset="-120"/>
              </a:rPr>
              <a:t>Implement the next increment in Antigravity</a:t>
            </a:r>
            <a:endParaRPr lang="en-US" sz="1070" dirty="0"/>
          </a:p>
        </p:txBody>
      </p:sp>
      <p:sp>
        <p:nvSpPr>
          <p:cNvPr id="25" name="Text 23"/>
          <p:cNvSpPr/>
          <p:nvPr/>
        </p:nvSpPr>
        <p:spPr>
          <a:xfrm>
            <a:off x="4937760" y="4873752"/>
            <a:ext cx="2148840" cy="640080"/>
          </a:xfrm>
          <a:prstGeom prst="roundRect">
            <a:avLst>
              <a:gd name="adj" fmla="val 14286"/>
            </a:avLst>
          </a:prstGeom>
          <a:solidFill>
            <a:srgbClr val="FFFFFF"/>
          </a:solidFill>
          <a:ln w="12700">
            <a:solidFill>
              <a:srgbClr val="E5E7EB"/>
            </a:solidFill>
          </a:ln>
        </p:spPr>
        <p:txBody>
          <a:bodyPr wrap="square" lIns="1270" tIns="1270" rIns="1270" bIns="1270" rtlCol="0" anchor="t">
            <a:normAutofit/>
          </a:bodyPr>
          <a:lstStyle/>
          <a:p>
            <a:pPr indent="0" marL="0">
              <a:buNone/>
            </a:pPr>
            <a:r>
              <a:rPr lang="en-US" sz="1070" b="1" dirty="0">
                <a:solidFill>
                  <a:srgbClr val="111827"/>
                </a:solidFill>
                <a:latin typeface="Arial" pitchFamily="34" charset="0"/>
                <a:ea typeface="Arial" pitchFamily="34" charset="-122"/>
                <a:cs typeface="Arial" pitchFamily="34" charset="-120"/>
              </a:rPr>
              <a:t>Verify</a:t>
            </a:r>
            <a:endParaRPr lang="en-US" sz="1070" dirty="0"/>
          </a:p>
          <a:p>
            <a:pPr indent="0" marL="0">
              <a:buNone/>
            </a:pPr>
            <a:endParaRPr lang="en-US" sz="1070" dirty="0"/>
          </a:p>
          <a:p>
            <a:pPr indent="0" marL="0">
              <a:buNone/>
            </a:pPr>
            <a:r>
              <a:rPr lang="en-US" sz="1070" dirty="0">
                <a:solidFill>
                  <a:srgbClr val="111827"/>
                </a:solidFill>
                <a:latin typeface="Arial" pitchFamily="34" charset="0"/>
                <a:ea typeface="Arial" pitchFamily="34" charset="-122"/>
                <a:cs typeface="Arial" pitchFamily="34" charset="-120"/>
              </a:rPr>
              <a:t>Run tests, inspect output, compare, and grade</a:t>
            </a:r>
            <a:endParaRPr lang="en-US" sz="1070" dirty="0"/>
          </a:p>
        </p:txBody>
      </p:sp>
      <p:sp>
        <p:nvSpPr>
          <p:cNvPr id="26" name="Text 24"/>
          <p:cNvSpPr/>
          <p:nvPr/>
        </p:nvSpPr>
        <p:spPr>
          <a:xfrm>
            <a:off x="7726680" y="4873752"/>
            <a:ext cx="2148840" cy="640080"/>
          </a:xfrm>
          <a:prstGeom prst="roundRect">
            <a:avLst>
              <a:gd name="adj" fmla="val 14286"/>
            </a:avLst>
          </a:prstGeom>
          <a:solidFill>
            <a:srgbClr val="FFFFFF"/>
          </a:solidFill>
          <a:ln w="12700">
            <a:solidFill>
              <a:srgbClr val="E5E7EB"/>
            </a:solidFill>
          </a:ln>
        </p:spPr>
        <p:txBody>
          <a:bodyPr wrap="square" lIns="1270" tIns="1270" rIns="1270" bIns="1270" rtlCol="0" anchor="t">
            <a:normAutofit/>
          </a:bodyPr>
          <a:lstStyle/>
          <a:p>
            <a:pPr indent="0" marL="0">
              <a:buNone/>
            </a:pPr>
            <a:r>
              <a:rPr lang="en-US" sz="1070" b="1" dirty="0">
                <a:solidFill>
                  <a:srgbClr val="111827"/>
                </a:solidFill>
                <a:latin typeface="Arial" pitchFamily="34" charset="0"/>
                <a:ea typeface="Arial" pitchFamily="34" charset="-122"/>
                <a:cs typeface="Arial" pitchFamily="34" charset="-120"/>
              </a:rPr>
              <a:t>Advance</a:t>
            </a:r>
            <a:endParaRPr lang="en-US" sz="1070" dirty="0"/>
          </a:p>
          <a:p>
            <a:pPr indent="0" marL="0">
              <a:buNone/>
            </a:pPr>
            <a:endParaRPr lang="en-US" sz="1070" dirty="0"/>
          </a:p>
          <a:p>
            <a:pPr indent="0" marL="0">
              <a:buNone/>
            </a:pPr>
            <a:r>
              <a:rPr lang="en-US" sz="1070" dirty="0">
                <a:solidFill>
                  <a:srgbClr val="111827"/>
                </a:solidFill>
                <a:latin typeface="Arial" pitchFamily="34" charset="0"/>
                <a:ea typeface="Arial" pitchFamily="34" charset="-122"/>
                <a:cs typeface="Arial" pitchFamily="34" charset="-120"/>
              </a:rPr>
              <a:t>Commit, reflect, and prepare for the next class</a:t>
            </a:r>
            <a:endParaRPr lang="en-US" sz="1070" dirty="0"/>
          </a:p>
        </p:txBody>
      </p:sp>
      <p:sp>
        <p:nvSpPr>
          <p:cNvPr id="27" name="Text 25"/>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28" name="Text 26"/>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Phase 1: Review</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Begin with evidence from the previous class before introducing today’s work.</a:t>
            </a:r>
            <a:endParaRPr lang="en-US" sz="1250" dirty="0"/>
          </a:p>
        </p:txBody>
      </p:sp>
      <p:sp>
        <p:nvSpPr>
          <p:cNvPr id="6" name="Text 4"/>
          <p:cNvSpPr/>
          <p:nvPr/>
        </p:nvSpPr>
        <p:spPr>
          <a:xfrm>
            <a:off x="594360" y="1234440"/>
            <a:ext cx="1965960" cy="256032"/>
          </a:xfrm>
          <a:prstGeom prst="roundRect">
            <a:avLst>
              <a:gd name="adj" fmla="val 28571"/>
            </a:avLst>
          </a:prstGeom>
          <a:solidFill>
            <a:srgbClr val="E8F0FE"/>
          </a:solidFill>
          <a:ln>
            <a:solidFill>
              <a:srgbClr val="E8F0FE"/>
            </a:solidFill>
          </a:ln>
        </p:spPr>
        <p:txBody>
          <a:bodyPr wrap="square" lIns="508" tIns="508" rIns="508" bIns="508" rtlCol="0" anchor="ctr"/>
          <a:lstStyle/>
          <a:p>
            <a:pPr algn="ctr" indent="0" marL="0">
              <a:buNone/>
            </a:pPr>
            <a:r>
              <a:rPr lang="en-US" sz="950" b="1" dirty="0">
                <a:solidFill>
                  <a:srgbClr val="1A73E8"/>
                </a:solidFill>
                <a:latin typeface="Arial" pitchFamily="34" charset="0"/>
                <a:ea typeface="Arial" pitchFamily="34" charset="-122"/>
                <a:cs typeface="Arial" pitchFamily="34" charset="-120"/>
              </a:rPr>
              <a:t>START WITH EVIDENCE</a:t>
            </a:r>
            <a:endParaRPr lang="en-US" sz="950" dirty="0"/>
          </a:p>
        </p:txBody>
      </p:sp>
      <p:sp>
        <p:nvSpPr>
          <p:cNvPr id="7" name="Text 5"/>
          <p:cNvSpPr/>
          <p:nvPr/>
        </p:nvSpPr>
        <p:spPr>
          <a:xfrm>
            <a:off x="777240" y="1874520"/>
            <a:ext cx="3200400" cy="2148840"/>
          </a:xfrm>
          <a:prstGeom prst="roundRect">
            <a:avLst>
              <a:gd name="adj" fmla="val 4255"/>
            </a:avLst>
          </a:prstGeom>
          <a:solidFill>
            <a:srgbClr val="E8F0FE"/>
          </a:solidFill>
          <a:ln w="12700">
            <a:solidFill>
              <a:srgbClr val="E8F0FE"/>
            </a:solidFill>
          </a:ln>
        </p:spPr>
        <p:txBody>
          <a:bodyPr wrap="square" lIns="2286" tIns="2286" rIns="2286" bIns="2286" rtlCol="0" anchor="t">
            <a:normAutofit/>
          </a:bodyPr>
          <a:lstStyle/>
          <a:p>
            <a:pPr indent="0" marL="0">
              <a:buNone/>
            </a:pPr>
            <a:r>
              <a:rPr lang="en-US" sz="1600" b="1" dirty="0">
                <a:solidFill>
                  <a:srgbClr val="111827"/>
                </a:solidFill>
                <a:latin typeface="Arial" pitchFamily="34" charset="0"/>
                <a:ea typeface="Arial" pitchFamily="34" charset="-122"/>
                <a:cs typeface="Arial" pitchFamily="34" charset="-120"/>
              </a:rPr>
              <a:t>Review the work</a:t>
            </a:r>
            <a:endParaRPr lang="en-US" sz="1600" dirty="0"/>
          </a:p>
          <a:p>
            <a:pPr indent="0" marL="0">
              <a:buNone/>
            </a:pP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What was completed?</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What remained incomplete?</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Which tests passed or failed?</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What did learners discover?</a:t>
            </a:r>
            <a:endParaRPr lang="en-US" sz="1600" dirty="0"/>
          </a:p>
        </p:txBody>
      </p:sp>
      <p:sp>
        <p:nvSpPr>
          <p:cNvPr id="8" name="Text 6"/>
          <p:cNvSpPr/>
          <p:nvPr/>
        </p:nvSpPr>
        <p:spPr>
          <a:xfrm>
            <a:off x="4480560" y="1874520"/>
            <a:ext cx="3200400" cy="2148840"/>
          </a:xfrm>
          <a:prstGeom prst="roundRect">
            <a:avLst>
              <a:gd name="adj" fmla="val 4255"/>
            </a:avLst>
          </a:prstGeom>
          <a:solidFill>
            <a:srgbClr val="FEF7E0"/>
          </a:solidFill>
          <a:ln w="12700">
            <a:solidFill>
              <a:srgbClr val="FEF7E0"/>
            </a:solidFill>
          </a:ln>
        </p:spPr>
        <p:txBody>
          <a:bodyPr wrap="square" lIns="2286" tIns="2286" rIns="2286" bIns="2286" rtlCol="0" anchor="t">
            <a:normAutofit/>
          </a:bodyPr>
          <a:lstStyle/>
          <a:p>
            <a:pPr indent="0" marL="0">
              <a:buNone/>
            </a:pPr>
            <a:r>
              <a:rPr lang="en-US" sz="1600" b="1" dirty="0">
                <a:solidFill>
                  <a:srgbClr val="111827"/>
                </a:solidFill>
                <a:latin typeface="Arial" pitchFamily="34" charset="0"/>
                <a:ea typeface="Arial" pitchFamily="34" charset="-122"/>
                <a:cs typeface="Arial" pitchFamily="34" charset="-120"/>
              </a:rPr>
              <a:t>Review the mistakes</a:t>
            </a:r>
            <a:endParaRPr lang="en-US" sz="1600" dirty="0"/>
          </a:p>
          <a:p>
            <a:pPr indent="0" marL="0">
              <a:buNone/>
            </a:pP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Common implementation errors</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Incorrect assumptions</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Misunderstood requirements</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Useful alternative approaches</a:t>
            </a:r>
            <a:endParaRPr lang="en-US" sz="1600" dirty="0"/>
          </a:p>
        </p:txBody>
      </p:sp>
      <p:sp>
        <p:nvSpPr>
          <p:cNvPr id="9" name="Text 7"/>
          <p:cNvSpPr/>
          <p:nvPr/>
        </p:nvSpPr>
        <p:spPr>
          <a:xfrm>
            <a:off x="8183880" y="1874520"/>
            <a:ext cx="3200400" cy="2148840"/>
          </a:xfrm>
          <a:prstGeom prst="roundRect">
            <a:avLst>
              <a:gd name="adj" fmla="val 4255"/>
            </a:avLst>
          </a:prstGeom>
          <a:solidFill>
            <a:srgbClr val="E6F4EA"/>
          </a:solidFill>
          <a:ln w="12700">
            <a:solidFill>
              <a:srgbClr val="E6F4EA"/>
            </a:solidFill>
          </a:ln>
        </p:spPr>
        <p:txBody>
          <a:bodyPr wrap="square" lIns="2286" tIns="2286" rIns="2286" bIns="2286" rtlCol="0" anchor="t">
            <a:normAutofit/>
          </a:bodyPr>
          <a:lstStyle/>
          <a:p>
            <a:pPr indent="0" marL="0">
              <a:buNone/>
            </a:pPr>
            <a:r>
              <a:rPr lang="en-US" sz="1600" b="1" dirty="0">
                <a:solidFill>
                  <a:srgbClr val="111827"/>
                </a:solidFill>
                <a:latin typeface="Arial" pitchFamily="34" charset="0"/>
                <a:ea typeface="Arial" pitchFamily="34" charset="-122"/>
                <a:cs typeface="Arial" pitchFamily="34" charset="-120"/>
              </a:rPr>
              <a:t>Review the homework</a:t>
            </a:r>
            <a:endParaRPr lang="en-US" sz="1600" dirty="0"/>
          </a:p>
          <a:p>
            <a:pPr indent="0" marL="0">
              <a:buNone/>
            </a:pP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Selected demonstrations</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Questions from independent work</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Problems that inform today’s lesson</a:t>
            </a:r>
            <a:endParaRPr lang="en-US" sz="1600" dirty="0"/>
          </a:p>
        </p:txBody>
      </p:sp>
      <p:sp>
        <p:nvSpPr>
          <p:cNvPr id="10" name="Text 8"/>
          <p:cNvSpPr/>
          <p:nvPr/>
        </p:nvSpPr>
        <p:spPr>
          <a:xfrm>
            <a:off x="1097280" y="5230368"/>
            <a:ext cx="9875520" cy="384048"/>
          </a:xfrm>
          <a:prstGeom prst="rect">
            <a:avLst/>
          </a:prstGeom>
          <a:noFill/>
          <a:ln/>
        </p:spPr>
        <p:txBody>
          <a:bodyPr wrap="square" lIns="0" tIns="0" rIns="0" bIns="0" rtlCol="0" anchor="ctr"/>
          <a:lstStyle/>
          <a:p>
            <a:pPr algn="ctr" indent="0" marL="0">
              <a:buNone/>
            </a:pPr>
            <a:r>
              <a:rPr lang="en-US" sz="1800" b="1" dirty="0">
                <a:solidFill>
                  <a:srgbClr val="111827"/>
                </a:solidFill>
              </a:rPr>
              <a:t>We do not hide mistakes. We use them as inputs to the next engineering cycle.</a:t>
            </a:r>
            <a:endParaRPr lang="en-US" sz="1800" dirty="0"/>
          </a:p>
        </p:txBody>
      </p:sp>
      <p:sp>
        <p:nvSpPr>
          <p:cNvPr id="11" name="Text 9"/>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12" name="Text 10"/>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Phase 2: Reset to the Golden Baseline</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Everyone begins today from the same working state.</a:t>
            </a:r>
            <a:endParaRPr lang="en-US" sz="1250" dirty="0"/>
          </a:p>
        </p:txBody>
      </p:sp>
      <p:sp>
        <p:nvSpPr>
          <p:cNvPr id="6" name="Text 4"/>
          <p:cNvSpPr/>
          <p:nvPr/>
        </p:nvSpPr>
        <p:spPr>
          <a:xfrm>
            <a:off x="594360" y="1234440"/>
            <a:ext cx="1965960" cy="256032"/>
          </a:xfrm>
          <a:prstGeom prst="roundRect">
            <a:avLst>
              <a:gd name="adj" fmla="val 28571"/>
            </a:avLst>
          </a:prstGeom>
          <a:solidFill>
            <a:srgbClr val="F3E8FF"/>
          </a:solidFill>
          <a:ln>
            <a:solidFill>
              <a:srgbClr val="F3E8FF"/>
            </a:solidFill>
          </a:ln>
        </p:spPr>
        <p:txBody>
          <a:bodyPr wrap="square" lIns="508" tIns="508" rIns="508" bIns="508" rtlCol="0" anchor="ctr"/>
          <a:lstStyle/>
          <a:p>
            <a:pPr algn="ctr" indent="0" marL="0">
              <a:buNone/>
            </a:pPr>
            <a:r>
              <a:rPr lang="en-US" sz="950" b="1" dirty="0">
                <a:solidFill>
                  <a:srgbClr val="7C3AED"/>
                </a:solidFill>
                <a:latin typeface="Arial" pitchFamily="34" charset="0"/>
                <a:ea typeface="Arial" pitchFamily="34" charset="-122"/>
                <a:cs typeface="Arial" pitchFamily="34" charset="-120"/>
              </a:rPr>
              <a:t>BASELINE STRATEGY</a:t>
            </a:r>
            <a:endParaRPr lang="en-US" sz="950" dirty="0"/>
          </a:p>
        </p:txBody>
      </p:sp>
      <p:sp>
        <p:nvSpPr>
          <p:cNvPr id="7" name="Text 5"/>
          <p:cNvSpPr/>
          <p:nvPr/>
        </p:nvSpPr>
        <p:spPr>
          <a:xfrm>
            <a:off x="1234440" y="1874520"/>
            <a:ext cx="365760" cy="365760"/>
          </a:xfrm>
          <a:prstGeom prst="ellipse">
            <a:avLst/>
          </a:prstGeom>
          <a:solidFill>
            <a:srgbClr val="F3E8FF"/>
          </a:solidFill>
          <a:ln>
            <a:solidFill>
              <a:srgbClr val="F3E8FF"/>
            </a:solidFill>
          </a:ln>
        </p:spPr>
        <p:txBody>
          <a:bodyPr wrap="square" lIns="0" tIns="0" rIns="0" bIns="0" rtlCol="0" anchor="ctr"/>
          <a:lstStyle/>
          <a:p>
            <a:pPr algn="ctr" indent="0" marL="0">
              <a:buNone/>
            </a:pPr>
            <a:r>
              <a:rPr lang="en-US" sz="1400" b="1" dirty="0">
                <a:solidFill>
                  <a:srgbClr val="7C3AED"/>
                </a:solidFill>
              </a:rPr>
              <a:t>1</a:t>
            </a:r>
            <a:endParaRPr lang="en-US" sz="1400" dirty="0"/>
          </a:p>
        </p:txBody>
      </p:sp>
      <p:sp>
        <p:nvSpPr>
          <p:cNvPr id="8" name="Text 6"/>
          <p:cNvSpPr/>
          <p:nvPr/>
        </p:nvSpPr>
        <p:spPr>
          <a:xfrm>
            <a:off x="731520" y="2450592"/>
            <a:ext cx="1417320" cy="502920"/>
          </a:xfrm>
          <a:prstGeom prst="rect">
            <a:avLst/>
          </a:prstGeom>
          <a:noFill/>
          <a:ln/>
        </p:spPr>
        <p:txBody>
          <a:bodyPr wrap="square" lIns="254" tIns="254" rIns="254" bIns="254" rtlCol="0" anchor="ctr">
            <a:normAutofit/>
          </a:bodyPr>
          <a:lstStyle/>
          <a:p>
            <a:pPr algn="ctr" indent="0" marL="0">
              <a:buNone/>
            </a:pPr>
            <a:r>
              <a:rPr lang="en-US" sz="1240" b="1" dirty="0">
                <a:solidFill>
                  <a:srgbClr val="111827"/>
                </a:solidFill>
              </a:rPr>
              <a:t>Sync repo</a:t>
            </a:r>
            <a:endParaRPr lang="en-US" sz="1240" dirty="0"/>
          </a:p>
        </p:txBody>
      </p:sp>
      <p:sp>
        <p:nvSpPr>
          <p:cNvPr id="9" name="Text 7"/>
          <p:cNvSpPr/>
          <p:nvPr/>
        </p:nvSpPr>
        <p:spPr>
          <a:xfrm>
            <a:off x="2331720" y="1984248"/>
            <a:ext cx="256032" cy="219456"/>
          </a:xfrm>
          <a:prstGeom prst="rect">
            <a:avLst/>
          </a:prstGeom>
          <a:noFill/>
          <a:ln/>
        </p:spPr>
        <p:txBody>
          <a:bodyPr wrap="square" lIns="0" tIns="0" rIns="0" bIns="0" rtlCol="0" anchor="ctr"/>
          <a:lstStyle/>
          <a:p>
            <a:pPr algn="ctr" indent="0" marL="0">
              <a:buNone/>
            </a:pPr>
            <a:r>
              <a:rPr lang="en-US" sz="1500" b="1" dirty="0">
                <a:solidFill>
                  <a:srgbClr val="CBD5E1"/>
                </a:solidFill>
                <a:latin typeface="Arial" pitchFamily="34" charset="0"/>
                <a:ea typeface="Arial" pitchFamily="34" charset="-122"/>
                <a:cs typeface="Arial" pitchFamily="34" charset="-120"/>
              </a:rPr>
              <a:t>→</a:t>
            </a:r>
            <a:endParaRPr lang="en-US" sz="1500" dirty="0"/>
          </a:p>
        </p:txBody>
      </p:sp>
      <p:sp>
        <p:nvSpPr>
          <p:cNvPr id="10" name="Text 8"/>
          <p:cNvSpPr/>
          <p:nvPr/>
        </p:nvSpPr>
        <p:spPr>
          <a:xfrm>
            <a:off x="3474720" y="1874520"/>
            <a:ext cx="365760" cy="365760"/>
          </a:xfrm>
          <a:prstGeom prst="ellipse">
            <a:avLst/>
          </a:prstGeom>
          <a:solidFill>
            <a:srgbClr val="F3E8FF"/>
          </a:solidFill>
          <a:ln>
            <a:solidFill>
              <a:srgbClr val="F3E8FF"/>
            </a:solidFill>
          </a:ln>
        </p:spPr>
        <p:txBody>
          <a:bodyPr wrap="square" lIns="0" tIns="0" rIns="0" bIns="0" rtlCol="0" anchor="ctr"/>
          <a:lstStyle/>
          <a:p>
            <a:pPr algn="ctr" indent="0" marL="0">
              <a:buNone/>
            </a:pPr>
            <a:r>
              <a:rPr lang="en-US" sz="1400" b="1" dirty="0">
                <a:solidFill>
                  <a:srgbClr val="7C3AED"/>
                </a:solidFill>
              </a:rPr>
              <a:t>2</a:t>
            </a:r>
            <a:endParaRPr lang="en-US" sz="1400" dirty="0"/>
          </a:p>
        </p:txBody>
      </p:sp>
      <p:sp>
        <p:nvSpPr>
          <p:cNvPr id="11" name="Text 9"/>
          <p:cNvSpPr/>
          <p:nvPr/>
        </p:nvSpPr>
        <p:spPr>
          <a:xfrm>
            <a:off x="2971800" y="2450592"/>
            <a:ext cx="1417320" cy="502920"/>
          </a:xfrm>
          <a:prstGeom prst="rect">
            <a:avLst/>
          </a:prstGeom>
          <a:noFill/>
          <a:ln/>
        </p:spPr>
        <p:txBody>
          <a:bodyPr wrap="square" lIns="254" tIns="254" rIns="254" bIns="254" rtlCol="0" anchor="ctr">
            <a:normAutofit/>
          </a:bodyPr>
          <a:lstStyle/>
          <a:p>
            <a:pPr algn="ctr" indent="0" marL="0">
              <a:buNone/>
            </a:pPr>
            <a:r>
              <a:rPr lang="en-US" sz="1240" b="1" dirty="0">
                <a:solidFill>
                  <a:srgbClr val="111827"/>
                </a:solidFill>
              </a:rPr>
              <a:t>Retrieve Class N–1 gold</a:t>
            </a:r>
            <a:endParaRPr lang="en-US" sz="1240" dirty="0"/>
          </a:p>
        </p:txBody>
      </p:sp>
      <p:sp>
        <p:nvSpPr>
          <p:cNvPr id="12" name="Text 10"/>
          <p:cNvSpPr/>
          <p:nvPr/>
        </p:nvSpPr>
        <p:spPr>
          <a:xfrm>
            <a:off x="4572000" y="1984248"/>
            <a:ext cx="256032" cy="219456"/>
          </a:xfrm>
          <a:prstGeom prst="rect">
            <a:avLst/>
          </a:prstGeom>
          <a:noFill/>
          <a:ln/>
        </p:spPr>
        <p:txBody>
          <a:bodyPr wrap="square" lIns="0" tIns="0" rIns="0" bIns="0" rtlCol="0" anchor="ctr"/>
          <a:lstStyle/>
          <a:p>
            <a:pPr algn="ctr" indent="0" marL="0">
              <a:buNone/>
            </a:pPr>
            <a:r>
              <a:rPr lang="en-US" sz="1500" b="1" dirty="0">
                <a:solidFill>
                  <a:srgbClr val="CBD5E1"/>
                </a:solidFill>
                <a:latin typeface="Arial" pitchFamily="34" charset="0"/>
                <a:ea typeface="Arial" pitchFamily="34" charset="-122"/>
                <a:cs typeface="Arial" pitchFamily="34" charset="-120"/>
              </a:rPr>
              <a:t>→</a:t>
            </a:r>
            <a:endParaRPr lang="en-US" sz="1500" dirty="0"/>
          </a:p>
        </p:txBody>
      </p:sp>
      <p:sp>
        <p:nvSpPr>
          <p:cNvPr id="13" name="Text 11"/>
          <p:cNvSpPr/>
          <p:nvPr/>
        </p:nvSpPr>
        <p:spPr>
          <a:xfrm>
            <a:off x="5715000" y="1874520"/>
            <a:ext cx="365760" cy="365760"/>
          </a:xfrm>
          <a:prstGeom prst="ellipse">
            <a:avLst/>
          </a:prstGeom>
          <a:solidFill>
            <a:srgbClr val="F3E8FF"/>
          </a:solidFill>
          <a:ln>
            <a:solidFill>
              <a:srgbClr val="F3E8FF"/>
            </a:solidFill>
          </a:ln>
        </p:spPr>
        <p:txBody>
          <a:bodyPr wrap="square" lIns="0" tIns="0" rIns="0" bIns="0" rtlCol="0" anchor="ctr"/>
          <a:lstStyle/>
          <a:p>
            <a:pPr algn="ctr" indent="0" marL="0">
              <a:buNone/>
            </a:pPr>
            <a:r>
              <a:rPr lang="en-US" sz="1400" b="1" dirty="0">
                <a:solidFill>
                  <a:srgbClr val="7C3AED"/>
                </a:solidFill>
              </a:rPr>
              <a:t>3</a:t>
            </a:r>
            <a:endParaRPr lang="en-US" sz="1400" dirty="0"/>
          </a:p>
        </p:txBody>
      </p:sp>
      <p:sp>
        <p:nvSpPr>
          <p:cNvPr id="14" name="Text 12"/>
          <p:cNvSpPr/>
          <p:nvPr/>
        </p:nvSpPr>
        <p:spPr>
          <a:xfrm>
            <a:off x="5212080" y="2450592"/>
            <a:ext cx="1417320" cy="502920"/>
          </a:xfrm>
          <a:prstGeom prst="rect">
            <a:avLst/>
          </a:prstGeom>
          <a:noFill/>
          <a:ln/>
        </p:spPr>
        <p:txBody>
          <a:bodyPr wrap="square" lIns="254" tIns="254" rIns="254" bIns="254" rtlCol="0" anchor="ctr">
            <a:normAutofit/>
          </a:bodyPr>
          <a:lstStyle/>
          <a:p>
            <a:pPr algn="ctr" indent="0" marL="0">
              <a:buNone/>
            </a:pPr>
            <a:r>
              <a:rPr lang="en-US" sz="1240" b="1" dirty="0">
                <a:solidFill>
                  <a:srgbClr val="111827"/>
                </a:solidFill>
              </a:rPr>
              <a:t>Create Class N workspace</a:t>
            </a:r>
            <a:endParaRPr lang="en-US" sz="1240" dirty="0"/>
          </a:p>
        </p:txBody>
      </p:sp>
      <p:sp>
        <p:nvSpPr>
          <p:cNvPr id="15" name="Text 13"/>
          <p:cNvSpPr/>
          <p:nvPr/>
        </p:nvSpPr>
        <p:spPr>
          <a:xfrm>
            <a:off x="6812280" y="1984248"/>
            <a:ext cx="256032" cy="219456"/>
          </a:xfrm>
          <a:prstGeom prst="rect">
            <a:avLst/>
          </a:prstGeom>
          <a:noFill/>
          <a:ln/>
        </p:spPr>
        <p:txBody>
          <a:bodyPr wrap="square" lIns="0" tIns="0" rIns="0" bIns="0" rtlCol="0" anchor="ctr"/>
          <a:lstStyle/>
          <a:p>
            <a:pPr algn="ctr" indent="0" marL="0">
              <a:buNone/>
            </a:pPr>
            <a:r>
              <a:rPr lang="en-US" sz="1500" b="1" dirty="0">
                <a:solidFill>
                  <a:srgbClr val="CBD5E1"/>
                </a:solidFill>
                <a:latin typeface="Arial" pitchFamily="34" charset="0"/>
                <a:ea typeface="Arial" pitchFamily="34" charset="-122"/>
                <a:cs typeface="Arial" pitchFamily="34" charset="-120"/>
              </a:rPr>
              <a:t>→</a:t>
            </a:r>
            <a:endParaRPr lang="en-US" sz="1500" dirty="0"/>
          </a:p>
        </p:txBody>
      </p:sp>
      <p:sp>
        <p:nvSpPr>
          <p:cNvPr id="16" name="Text 14"/>
          <p:cNvSpPr/>
          <p:nvPr/>
        </p:nvSpPr>
        <p:spPr>
          <a:xfrm>
            <a:off x="7955280" y="1874520"/>
            <a:ext cx="365760" cy="365760"/>
          </a:xfrm>
          <a:prstGeom prst="ellipse">
            <a:avLst/>
          </a:prstGeom>
          <a:solidFill>
            <a:srgbClr val="F3E8FF"/>
          </a:solidFill>
          <a:ln>
            <a:solidFill>
              <a:srgbClr val="F3E8FF"/>
            </a:solidFill>
          </a:ln>
        </p:spPr>
        <p:txBody>
          <a:bodyPr wrap="square" lIns="0" tIns="0" rIns="0" bIns="0" rtlCol="0" anchor="ctr"/>
          <a:lstStyle/>
          <a:p>
            <a:pPr algn="ctr" indent="0" marL="0">
              <a:buNone/>
            </a:pPr>
            <a:r>
              <a:rPr lang="en-US" sz="1400" b="1" dirty="0">
                <a:solidFill>
                  <a:srgbClr val="7C3AED"/>
                </a:solidFill>
              </a:rPr>
              <a:t>4</a:t>
            </a:r>
            <a:endParaRPr lang="en-US" sz="1400" dirty="0"/>
          </a:p>
        </p:txBody>
      </p:sp>
      <p:sp>
        <p:nvSpPr>
          <p:cNvPr id="17" name="Text 15"/>
          <p:cNvSpPr/>
          <p:nvPr/>
        </p:nvSpPr>
        <p:spPr>
          <a:xfrm>
            <a:off x="7452360" y="2450592"/>
            <a:ext cx="1417320" cy="502920"/>
          </a:xfrm>
          <a:prstGeom prst="rect">
            <a:avLst/>
          </a:prstGeom>
          <a:noFill/>
          <a:ln/>
        </p:spPr>
        <p:txBody>
          <a:bodyPr wrap="square" lIns="254" tIns="254" rIns="254" bIns="254" rtlCol="0" anchor="ctr">
            <a:normAutofit/>
          </a:bodyPr>
          <a:lstStyle/>
          <a:p>
            <a:pPr algn="ctr" indent="0" marL="0">
              <a:buNone/>
            </a:pPr>
            <a:r>
              <a:rPr lang="en-US" sz="1240" b="1" dirty="0">
                <a:solidFill>
                  <a:srgbClr val="111827"/>
                </a:solidFill>
              </a:rPr>
              <a:t>Run baseline verification</a:t>
            </a:r>
            <a:endParaRPr lang="en-US" sz="1240" dirty="0"/>
          </a:p>
        </p:txBody>
      </p:sp>
      <p:sp>
        <p:nvSpPr>
          <p:cNvPr id="18" name="Text 16"/>
          <p:cNvSpPr/>
          <p:nvPr/>
        </p:nvSpPr>
        <p:spPr>
          <a:xfrm>
            <a:off x="9052560" y="1984248"/>
            <a:ext cx="256032" cy="219456"/>
          </a:xfrm>
          <a:prstGeom prst="rect">
            <a:avLst/>
          </a:prstGeom>
          <a:noFill/>
          <a:ln/>
        </p:spPr>
        <p:txBody>
          <a:bodyPr wrap="square" lIns="0" tIns="0" rIns="0" bIns="0" rtlCol="0" anchor="ctr"/>
          <a:lstStyle/>
          <a:p>
            <a:pPr algn="ctr" indent="0" marL="0">
              <a:buNone/>
            </a:pPr>
            <a:r>
              <a:rPr lang="en-US" sz="1500" b="1" dirty="0">
                <a:solidFill>
                  <a:srgbClr val="CBD5E1"/>
                </a:solidFill>
                <a:latin typeface="Arial" pitchFamily="34" charset="0"/>
                <a:ea typeface="Arial" pitchFamily="34" charset="-122"/>
                <a:cs typeface="Arial" pitchFamily="34" charset="-120"/>
              </a:rPr>
              <a:t>→</a:t>
            </a:r>
            <a:endParaRPr lang="en-US" sz="1500" dirty="0"/>
          </a:p>
        </p:txBody>
      </p:sp>
      <p:sp>
        <p:nvSpPr>
          <p:cNvPr id="19" name="Text 17"/>
          <p:cNvSpPr/>
          <p:nvPr/>
        </p:nvSpPr>
        <p:spPr>
          <a:xfrm>
            <a:off x="10195560" y="1874520"/>
            <a:ext cx="365760" cy="365760"/>
          </a:xfrm>
          <a:prstGeom prst="ellipse">
            <a:avLst/>
          </a:prstGeom>
          <a:solidFill>
            <a:srgbClr val="F3E8FF"/>
          </a:solidFill>
          <a:ln>
            <a:solidFill>
              <a:srgbClr val="F3E8FF"/>
            </a:solidFill>
          </a:ln>
        </p:spPr>
        <p:txBody>
          <a:bodyPr wrap="square" lIns="0" tIns="0" rIns="0" bIns="0" rtlCol="0" anchor="ctr"/>
          <a:lstStyle/>
          <a:p>
            <a:pPr algn="ctr" indent="0" marL="0">
              <a:buNone/>
            </a:pPr>
            <a:r>
              <a:rPr lang="en-US" sz="1400" b="1" dirty="0">
                <a:solidFill>
                  <a:srgbClr val="7C3AED"/>
                </a:solidFill>
              </a:rPr>
              <a:t>5</a:t>
            </a:r>
            <a:endParaRPr lang="en-US" sz="1400" dirty="0"/>
          </a:p>
        </p:txBody>
      </p:sp>
      <p:sp>
        <p:nvSpPr>
          <p:cNvPr id="20" name="Text 18"/>
          <p:cNvSpPr/>
          <p:nvPr/>
        </p:nvSpPr>
        <p:spPr>
          <a:xfrm>
            <a:off x="9692640" y="2450592"/>
            <a:ext cx="1417320" cy="502920"/>
          </a:xfrm>
          <a:prstGeom prst="rect">
            <a:avLst/>
          </a:prstGeom>
          <a:noFill/>
          <a:ln/>
        </p:spPr>
        <p:txBody>
          <a:bodyPr wrap="square" lIns="254" tIns="254" rIns="254" bIns="254" rtlCol="0" anchor="ctr">
            <a:normAutofit/>
          </a:bodyPr>
          <a:lstStyle/>
          <a:p>
            <a:pPr algn="ctr" indent="0" marL="0">
              <a:buNone/>
            </a:pPr>
            <a:r>
              <a:rPr lang="en-US" sz="1240" b="1" dirty="0">
                <a:solidFill>
                  <a:srgbClr val="111827"/>
                </a:solidFill>
              </a:rPr>
              <a:t>Begin today’s build</a:t>
            </a:r>
            <a:endParaRPr lang="en-US" sz="1240" dirty="0"/>
          </a:p>
        </p:txBody>
      </p:sp>
      <p:sp>
        <p:nvSpPr>
          <p:cNvPr id="21" name="Text 19"/>
          <p:cNvSpPr/>
          <p:nvPr/>
        </p:nvSpPr>
        <p:spPr>
          <a:xfrm>
            <a:off x="987552" y="3840480"/>
            <a:ext cx="4663440" cy="1234440"/>
          </a:xfrm>
          <a:prstGeom prst="roundRect">
            <a:avLst>
              <a:gd name="adj" fmla="val 7407"/>
            </a:avLst>
          </a:prstGeom>
          <a:solidFill>
            <a:srgbClr val="FFFFFF"/>
          </a:solidFill>
          <a:ln w="12700">
            <a:solidFill>
              <a:srgbClr val="E5E7EB"/>
            </a:solidFill>
          </a:ln>
        </p:spPr>
        <p:txBody>
          <a:bodyPr wrap="square" lIns="2286" tIns="2286" rIns="2286" bIns="2286" rtlCol="0" anchor="t">
            <a:normAutofit/>
          </a:bodyPr>
          <a:lstStyle/>
          <a:p>
            <a:pPr indent="0" marL="0">
              <a:buNone/>
            </a:pPr>
            <a:r>
              <a:rPr lang="en-US" sz="1500" b="1" dirty="0">
                <a:solidFill>
                  <a:srgbClr val="111827"/>
                </a:solidFill>
                <a:latin typeface="Arial" pitchFamily="34" charset="0"/>
                <a:ea typeface="Arial" pitchFamily="34" charset="-122"/>
                <a:cs typeface="Arial" pitchFamily="34" charset="-120"/>
              </a:rPr>
              <a:t>Example: starting Class 5</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If Class 4 work is incomplete or buggy, keep it for review, restore the Class 4 golden checkpoint, create a fresh Class 5 workspace, verify it, then continue.</a:t>
            </a:r>
            <a:endParaRPr lang="en-US" sz="1500" dirty="0"/>
          </a:p>
        </p:txBody>
      </p:sp>
      <p:sp>
        <p:nvSpPr>
          <p:cNvPr id="22" name="Text 20"/>
          <p:cNvSpPr/>
          <p:nvPr/>
        </p:nvSpPr>
        <p:spPr>
          <a:xfrm>
            <a:off x="6537960" y="3840480"/>
            <a:ext cx="4663440" cy="1234440"/>
          </a:xfrm>
          <a:prstGeom prst="roundRect">
            <a:avLst>
              <a:gd name="adj" fmla="val 7407"/>
            </a:avLst>
          </a:prstGeom>
          <a:solidFill>
            <a:srgbClr val="F3E8FF"/>
          </a:solidFill>
          <a:ln w="12700">
            <a:solidFill>
              <a:srgbClr val="F3E8FF"/>
            </a:solidFill>
          </a:ln>
        </p:spPr>
        <p:txBody>
          <a:bodyPr wrap="square" lIns="2286" tIns="2286" rIns="2286" bIns="2286" rtlCol="0" anchor="t">
            <a:normAutofit/>
          </a:bodyPr>
          <a:lstStyle/>
          <a:p>
            <a:pPr indent="0" marL="0">
              <a:buNone/>
            </a:pPr>
            <a:r>
              <a:rPr lang="en-US" sz="1500" b="1" dirty="0">
                <a:solidFill>
                  <a:srgbClr val="111827"/>
                </a:solidFill>
                <a:latin typeface="Arial" pitchFamily="34" charset="0"/>
                <a:ea typeface="Arial" pitchFamily="34" charset="-122"/>
                <a:cs typeface="Arial" pitchFamily="34" charset="-120"/>
              </a:rPr>
              <a:t>Why this matters</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Prior mistakes remain available for learning, but they do not block future progress. The class moves forward from a shared baseline.</a:t>
            </a:r>
            <a:endParaRPr lang="en-US" sz="1500" dirty="0"/>
          </a:p>
        </p:txBody>
      </p:sp>
      <p:sp>
        <p:nvSpPr>
          <p:cNvPr id="23" name="Text 21"/>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24" name="Text 22"/>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Fork the Course Repository — One Time Only</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Forking gives each learner a personal copy while preserving the instructor repository as the source of truth.</a:t>
            </a:r>
            <a:endParaRPr lang="en-US" sz="1250" dirty="0"/>
          </a:p>
        </p:txBody>
      </p:sp>
      <p:sp>
        <p:nvSpPr>
          <p:cNvPr id="6" name="Text 4"/>
          <p:cNvSpPr/>
          <p:nvPr/>
        </p:nvSpPr>
        <p:spPr>
          <a:xfrm>
            <a:off x="594360" y="1234440"/>
            <a:ext cx="1965960" cy="256032"/>
          </a:xfrm>
          <a:prstGeom prst="roundRect">
            <a:avLst>
              <a:gd name="adj" fmla="val 28571"/>
            </a:avLst>
          </a:prstGeom>
          <a:solidFill>
            <a:srgbClr val="E6F4EA"/>
          </a:solidFill>
          <a:ln>
            <a:solidFill>
              <a:srgbClr val="E6F4EA"/>
            </a:solidFill>
          </a:ln>
        </p:spPr>
        <p:txBody>
          <a:bodyPr wrap="square" lIns="508" tIns="508" rIns="508" bIns="508" rtlCol="0" anchor="ctr"/>
          <a:lstStyle/>
          <a:p>
            <a:pPr algn="ctr" indent="0" marL="0">
              <a:buNone/>
            </a:pPr>
            <a:r>
              <a:rPr lang="en-US" sz="950" b="1" dirty="0">
                <a:solidFill>
                  <a:srgbClr val="34A853"/>
                </a:solidFill>
                <a:latin typeface="Arial" pitchFamily="34" charset="0"/>
                <a:ea typeface="Arial" pitchFamily="34" charset="-122"/>
                <a:cs typeface="Arial" pitchFamily="34" charset="-120"/>
              </a:rPr>
              <a:t>GITHUB SETUP</a:t>
            </a:r>
            <a:endParaRPr lang="en-US" sz="950" dirty="0"/>
          </a:p>
        </p:txBody>
      </p:sp>
      <p:sp>
        <p:nvSpPr>
          <p:cNvPr id="7" name="Text 5"/>
          <p:cNvSpPr/>
          <p:nvPr/>
        </p:nvSpPr>
        <p:spPr>
          <a:xfrm>
            <a:off x="777240" y="1700784"/>
            <a:ext cx="3017520" cy="1463040"/>
          </a:xfrm>
          <a:prstGeom prst="roundRect">
            <a:avLst>
              <a:gd name="adj" fmla="val 6250"/>
            </a:avLst>
          </a:prstGeom>
          <a:solidFill>
            <a:srgbClr val="E8F0FE"/>
          </a:solidFill>
          <a:ln w="12700">
            <a:solidFill>
              <a:srgbClr val="E8F0FE"/>
            </a:solidFill>
          </a:ln>
        </p:spPr>
        <p:txBody>
          <a:bodyPr wrap="square" lIns="2286" tIns="2286" rIns="2286" bIns="2286" rtlCol="0" anchor="t">
            <a:normAutofit/>
          </a:bodyPr>
          <a:lstStyle/>
          <a:p>
            <a:pPr indent="0" marL="0">
              <a:buNone/>
            </a:pPr>
            <a:r>
              <a:rPr lang="en-US" sz="1400" b="1" dirty="0">
                <a:solidFill>
                  <a:srgbClr val="111827"/>
                </a:solidFill>
                <a:latin typeface="Arial" pitchFamily="34" charset="0"/>
                <a:ea typeface="Arial" pitchFamily="34" charset="-122"/>
                <a:cs typeface="Arial" pitchFamily="34" charset="-120"/>
              </a:rPr>
              <a:t>Instructor repository</a:t>
            </a:r>
            <a:endParaRPr lang="en-US" sz="1400" dirty="0"/>
          </a:p>
          <a:p>
            <a:pPr indent="0" marL="0">
              <a:buNone/>
            </a:pPr>
            <a:endParaRPr lang="en-US" sz="1400" dirty="0"/>
          </a:p>
          <a:p>
            <a:pPr indent="0" marL="0">
              <a:buNone/>
            </a:pPr>
            <a:r>
              <a:rPr lang="en-US" sz="1400" dirty="0">
                <a:solidFill>
                  <a:srgbClr val="111827"/>
                </a:solidFill>
                <a:latin typeface="Arial" pitchFamily="34" charset="0"/>
                <a:ea typeface="Arial" pitchFamily="34" charset="-122"/>
                <a:cs typeface="Arial" pitchFamily="34" charset="-120"/>
              </a:rPr>
              <a:t>github.com/sensei-ji/agent_engineering</a:t>
            </a:r>
            <a:endParaRPr lang="en-US" sz="1400" dirty="0"/>
          </a:p>
        </p:txBody>
      </p:sp>
      <p:sp>
        <p:nvSpPr>
          <p:cNvPr id="8" name="Text 6"/>
          <p:cNvSpPr/>
          <p:nvPr/>
        </p:nvSpPr>
        <p:spPr>
          <a:xfrm>
            <a:off x="4096512" y="2176272"/>
            <a:ext cx="274320" cy="274320"/>
          </a:xfrm>
          <a:prstGeom prst="rect">
            <a:avLst/>
          </a:prstGeom>
          <a:noFill/>
          <a:ln/>
        </p:spPr>
        <p:txBody>
          <a:bodyPr wrap="square" lIns="0" tIns="0" rIns="0" bIns="0" rtlCol="0" anchor="ctr"/>
          <a:lstStyle/>
          <a:p>
            <a:pPr indent="0" marL="0">
              <a:buNone/>
            </a:pPr>
            <a:r>
              <a:rPr lang="en-US" sz="2000" b="1" dirty="0">
                <a:solidFill>
                  <a:srgbClr val="CBD5E1"/>
                </a:solidFill>
              </a:rPr>
              <a:t>→</a:t>
            </a:r>
            <a:endParaRPr lang="en-US" sz="2000" dirty="0"/>
          </a:p>
        </p:txBody>
      </p:sp>
      <p:sp>
        <p:nvSpPr>
          <p:cNvPr id="9" name="Text 7"/>
          <p:cNvSpPr/>
          <p:nvPr/>
        </p:nvSpPr>
        <p:spPr>
          <a:xfrm>
            <a:off x="4572000" y="1700784"/>
            <a:ext cx="3017520" cy="1463040"/>
          </a:xfrm>
          <a:prstGeom prst="roundRect">
            <a:avLst>
              <a:gd name="adj" fmla="val 6250"/>
            </a:avLst>
          </a:prstGeom>
          <a:solidFill>
            <a:srgbClr val="E6F4EA"/>
          </a:solidFill>
          <a:ln w="12700">
            <a:solidFill>
              <a:srgbClr val="E6F4EA"/>
            </a:solidFill>
          </a:ln>
        </p:spPr>
        <p:txBody>
          <a:bodyPr wrap="square" lIns="2286" tIns="2286" rIns="2286" bIns="2286" rtlCol="0" anchor="t">
            <a:normAutofit/>
          </a:bodyPr>
          <a:lstStyle/>
          <a:p>
            <a:pPr indent="0" marL="0">
              <a:buNone/>
            </a:pPr>
            <a:r>
              <a:rPr lang="en-US" sz="1400" b="1" dirty="0">
                <a:solidFill>
                  <a:srgbClr val="111827"/>
                </a:solidFill>
                <a:latin typeface="Arial" pitchFamily="34" charset="0"/>
                <a:ea typeface="Arial" pitchFamily="34" charset="-122"/>
                <a:cs typeface="Arial" pitchFamily="34" charset="-120"/>
              </a:rPr>
              <a:t>Fork</a:t>
            </a:r>
            <a:endParaRPr lang="en-US" sz="1400" dirty="0"/>
          </a:p>
          <a:p>
            <a:pPr indent="0" marL="0">
              <a:buNone/>
            </a:pPr>
            <a:endParaRPr lang="en-US" sz="1400" dirty="0"/>
          </a:p>
          <a:p>
            <a:pPr indent="0" marL="0">
              <a:buNone/>
            </a:pPr>
            <a:r>
              <a:rPr lang="en-US" sz="1400" dirty="0">
                <a:solidFill>
                  <a:srgbClr val="111827"/>
                </a:solidFill>
                <a:latin typeface="Arial" pitchFamily="34" charset="0"/>
                <a:ea typeface="Arial" pitchFamily="34" charset="-122"/>
                <a:cs typeface="Arial" pitchFamily="34" charset="-120"/>
              </a:rPr>
              <a:t>Create your own GitHub copy under your account.</a:t>
            </a:r>
            <a:endParaRPr lang="en-US" sz="1400" dirty="0"/>
          </a:p>
        </p:txBody>
      </p:sp>
      <p:sp>
        <p:nvSpPr>
          <p:cNvPr id="10" name="Text 8"/>
          <p:cNvSpPr/>
          <p:nvPr/>
        </p:nvSpPr>
        <p:spPr>
          <a:xfrm>
            <a:off x="7882128" y="2176272"/>
            <a:ext cx="274320" cy="274320"/>
          </a:xfrm>
          <a:prstGeom prst="rect">
            <a:avLst/>
          </a:prstGeom>
          <a:noFill/>
          <a:ln/>
        </p:spPr>
        <p:txBody>
          <a:bodyPr wrap="square" lIns="0" tIns="0" rIns="0" bIns="0" rtlCol="0" anchor="ctr"/>
          <a:lstStyle/>
          <a:p>
            <a:pPr indent="0" marL="0">
              <a:buNone/>
            </a:pPr>
            <a:r>
              <a:rPr lang="en-US" sz="2000" b="1" dirty="0">
                <a:solidFill>
                  <a:srgbClr val="CBD5E1"/>
                </a:solidFill>
              </a:rPr>
              <a:t>→</a:t>
            </a:r>
            <a:endParaRPr lang="en-US" sz="2000" dirty="0"/>
          </a:p>
        </p:txBody>
      </p:sp>
      <p:sp>
        <p:nvSpPr>
          <p:cNvPr id="11" name="Text 9"/>
          <p:cNvSpPr/>
          <p:nvPr/>
        </p:nvSpPr>
        <p:spPr>
          <a:xfrm>
            <a:off x="8366760" y="1700784"/>
            <a:ext cx="3017520" cy="1463040"/>
          </a:xfrm>
          <a:prstGeom prst="roundRect">
            <a:avLst>
              <a:gd name="adj" fmla="val 6250"/>
            </a:avLst>
          </a:prstGeom>
          <a:solidFill>
            <a:srgbClr val="F3E8FF"/>
          </a:solidFill>
          <a:ln w="12700">
            <a:solidFill>
              <a:srgbClr val="F3E8FF"/>
            </a:solidFill>
          </a:ln>
        </p:spPr>
        <p:txBody>
          <a:bodyPr wrap="square" lIns="2286" tIns="2286" rIns="2286" bIns="2286" rtlCol="0" anchor="t">
            <a:normAutofit/>
          </a:bodyPr>
          <a:lstStyle/>
          <a:p>
            <a:pPr indent="0" marL="0">
              <a:buNone/>
            </a:pPr>
            <a:r>
              <a:rPr lang="en-US" sz="1400" b="1" dirty="0">
                <a:solidFill>
                  <a:srgbClr val="111827"/>
                </a:solidFill>
                <a:latin typeface="Arial" pitchFamily="34" charset="0"/>
                <a:ea typeface="Arial" pitchFamily="34" charset="-122"/>
                <a:cs typeface="Arial" pitchFamily="34" charset="-120"/>
              </a:rPr>
              <a:t>Local clone</a:t>
            </a:r>
            <a:endParaRPr lang="en-US" sz="1400" dirty="0"/>
          </a:p>
          <a:p>
            <a:pPr indent="0" marL="0">
              <a:buNone/>
            </a:pPr>
            <a:endParaRPr lang="en-US" sz="1400" dirty="0"/>
          </a:p>
          <a:p>
            <a:pPr indent="0" marL="0">
              <a:buNone/>
            </a:pPr>
            <a:r>
              <a:rPr lang="en-US" sz="1400" dirty="0">
                <a:solidFill>
                  <a:srgbClr val="111827"/>
                </a:solidFill>
                <a:latin typeface="Arial" pitchFamily="34" charset="0"/>
                <a:ea typeface="Arial" pitchFamily="34" charset="-122"/>
                <a:cs typeface="Arial" pitchFamily="34" charset="-120"/>
              </a:rPr>
              <a:t>Clone your fork into your development machine.</a:t>
            </a:r>
            <a:endParaRPr lang="en-US" sz="1400" dirty="0"/>
          </a:p>
        </p:txBody>
      </p:sp>
      <p:sp>
        <p:nvSpPr>
          <p:cNvPr id="12" name="Text 10"/>
          <p:cNvSpPr/>
          <p:nvPr/>
        </p:nvSpPr>
        <p:spPr>
          <a:xfrm>
            <a:off x="777240" y="3703320"/>
            <a:ext cx="4983480" cy="1280160"/>
          </a:xfrm>
          <a:prstGeom prst="roundRect">
            <a:avLst>
              <a:gd name="adj" fmla="val 7143"/>
            </a:avLst>
          </a:prstGeom>
          <a:solidFill>
            <a:srgbClr val="FFFFFF"/>
          </a:solidFill>
          <a:ln w="12700">
            <a:solidFill>
              <a:srgbClr val="E5E7EB"/>
            </a:solidFill>
          </a:ln>
        </p:spPr>
        <p:txBody>
          <a:bodyPr wrap="square" lIns="2286" tIns="2286" rIns="2286" bIns="2286" rtlCol="0" anchor="t">
            <a:normAutofit/>
          </a:bodyPr>
          <a:lstStyle/>
          <a:p>
            <a:pPr indent="0" marL="0">
              <a:buNone/>
            </a:pPr>
            <a:r>
              <a:rPr lang="en-US" sz="1400" b="1" dirty="0">
                <a:solidFill>
                  <a:srgbClr val="111827"/>
                </a:solidFill>
                <a:latin typeface="Arial" pitchFamily="34" charset="0"/>
                <a:ea typeface="Arial" pitchFamily="34" charset="-122"/>
                <a:cs typeface="Arial" pitchFamily="34" charset="-120"/>
              </a:rPr>
              <a:t>One-time operations</a:t>
            </a:r>
            <a:endParaRPr lang="en-US" sz="1400" dirty="0"/>
          </a:p>
          <a:p>
            <a:pPr indent="0" marL="0">
              <a:buNone/>
            </a:pPr>
            <a:endParaRPr lang="en-US" sz="1400" dirty="0"/>
          </a:p>
          <a:p>
            <a:pPr indent="0" marL="0">
              <a:buNone/>
            </a:pPr>
            <a:r>
              <a:rPr lang="en-US" sz="1400" dirty="0">
                <a:solidFill>
                  <a:srgbClr val="111827"/>
                </a:solidFill>
                <a:latin typeface="Arial" pitchFamily="34" charset="0"/>
                <a:ea typeface="Arial" pitchFamily="34" charset="-122"/>
                <a:cs typeface="Arial" pitchFamily="34" charset="-120"/>
              </a:rPr>
              <a:t>1. Open the instructor repository.</a:t>
            </a:r>
            <a:endParaRPr lang="en-US" sz="1400" dirty="0"/>
          </a:p>
          <a:p>
            <a:pPr indent="0" marL="0">
              <a:buNone/>
            </a:pPr>
            <a:r>
              <a:rPr lang="en-US" sz="1400" dirty="0">
                <a:solidFill>
                  <a:srgbClr val="111827"/>
                </a:solidFill>
                <a:latin typeface="Arial" pitchFamily="34" charset="0"/>
                <a:ea typeface="Arial" pitchFamily="34" charset="-122"/>
                <a:cs typeface="Arial" pitchFamily="34" charset="-120"/>
              </a:rPr>
              <a:t>2. Click Fork in GitHub.</a:t>
            </a:r>
            <a:endParaRPr lang="en-US" sz="1400" dirty="0"/>
          </a:p>
          <a:p>
            <a:pPr indent="0" marL="0">
              <a:buNone/>
            </a:pPr>
            <a:r>
              <a:rPr lang="en-US" sz="1400" dirty="0">
                <a:solidFill>
                  <a:srgbClr val="111827"/>
                </a:solidFill>
                <a:latin typeface="Arial" pitchFamily="34" charset="0"/>
                <a:ea typeface="Arial" pitchFamily="34" charset="-122"/>
                <a:cs typeface="Arial" pitchFamily="34" charset="-120"/>
              </a:rPr>
              <a:t>3. Clone your fork locally.</a:t>
            </a:r>
            <a:endParaRPr lang="en-US" sz="1400" dirty="0"/>
          </a:p>
          <a:p>
            <a:pPr indent="0" marL="0">
              <a:buNone/>
            </a:pPr>
            <a:r>
              <a:rPr lang="en-US" sz="1400" dirty="0">
                <a:solidFill>
                  <a:srgbClr val="111827"/>
                </a:solidFill>
                <a:latin typeface="Arial" pitchFamily="34" charset="0"/>
                <a:ea typeface="Arial" pitchFamily="34" charset="-122"/>
                <a:cs typeface="Arial" pitchFamily="34" charset="-120"/>
              </a:rPr>
              <a:t>4. Add the instructor repository as upstream.</a:t>
            </a:r>
            <a:endParaRPr lang="en-US" sz="1400" dirty="0"/>
          </a:p>
        </p:txBody>
      </p:sp>
      <p:sp>
        <p:nvSpPr>
          <p:cNvPr id="13" name="Text 11"/>
          <p:cNvSpPr/>
          <p:nvPr/>
        </p:nvSpPr>
        <p:spPr>
          <a:xfrm>
            <a:off x="6355080" y="3703320"/>
            <a:ext cx="4983480" cy="1280160"/>
          </a:xfrm>
          <a:prstGeom prst="roundRect">
            <a:avLst>
              <a:gd name="adj" fmla="val 7143"/>
            </a:avLst>
          </a:prstGeom>
          <a:solidFill>
            <a:srgbClr val="FFFFFF"/>
          </a:solidFill>
          <a:ln w="12700">
            <a:solidFill>
              <a:srgbClr val="E5E7EB"/>
            </a:solidFill>
          </a:ln>
        </p:spPr>
        <p:txBody>
          <a:bodyPr wrap="square" lIns="2286" tIns="2286" rIns="2286" bIns="2286" rtlCol="0" anchor="t">
            <a:normAutofit/>
          </a:bodyPr>
          <a:lstStyle/>
          <a:p>
            <a:pPr indent="0" marL="0">
              <a:buNone/>
            </a:pPr>
            <a:r>
              <a:rPr lang="en-US" sz="1400" b="1" dirty="0">
                <a:solidFill>
                  <a:srgbClr val="111827"/>
                </a:solidFill>
                <a:latin typeface="Arial" pitchFamily="34" charset="0"/>
                <a:ea typeface="Arial" pitchFamily="34" charset="-122"/>
                <a:cs typeface="Arial" pitchFamily="34" charset="-120"/>
              </a:rPr>
              <a:t>Course repository</a:t>
            </a:r>
            <a:endParaRPr lang="en-US" sz="1400" dirty="0"/>
          </a:p>
          <a:p>
            <a:pPr indent="0" marL="0">
              <a:buNone/>
            </a:pPr>
            <a:endParaRPr lang="en-US" sz="1400" dirty="0"/>
          </a:p>
          <a:p>
            <a:pPr indent="0" marL="0">
              <a:buNone/>
            </a:pPr>
            <a:r>
              <a:rPr lang="en-US" sz="1400" dirty="0">
                <a:solidFill>
                  <a:srgbClr val="111827"/>
                </a:solidFill>
                <a:latin typeface="Arial" pitchFamily="34" charset="0"/>
                <a:ea typeface="Arial" pitchFamily="34" charset="-122"/>
                <a:cs typeface="Arial" pitchFamily="34" charset="-120"/>
              </a:rPr>
              <a:t>https://github.com/sensei-ji/agent_engineering</a:t>
            </a:r>
            <a:endParaRPr lang="en-US" sz="1400" dirty="0"/>
          </a:p>
        </p:txBody>
      </p:sp>
      <p:sp>
        <p:nvSpPr>
          <p:cNvPr id="14" name="Text 12">
            <a:hlinkClick r:id="rId1" tooltip=""/>
          </p:cNvPr>
          <p:cNvSpPr/>
          <p:nvPr/>
        </p:nvSpPr>
        <p:spPr>
          <a:xfrm>
            <a:off x="7909560" y="5376672"/>
            <a:ext cx="1600200" cy="320040"/>
          </a:xfrm>
          <a:prstGeom prst="roundRect">
            <a:avLst/>
          </a:prstGeom>
          <a:solidFill>
            <a:srgbClr val="1A73E8"/>
          </a:solidFill>
          <a:ln>
            <a:solidFill>
              <a:srgbClr val="1A73E8"/>
            </a:solidFill>
          </a:ln>
        </p:spPr>
        <p:txBody>
          <a:bodyPr wrap="square" lIns="635" tIns="635" rIns="635" bIns="635" rtlCol="0" anchor="ctr"/>
          <a:lstStyle/>
          <a:p>
            <a:pPr algn="ctr" indent="0" marL="0">
              <a:buNone/>
            </a:pPr>
            <a:r>
              <a:rPr lang="en-US" sz="1100" b="1" u="sng"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Open repository</a:t>
            </a:r>
            <a:endParaRPr lang="en-US" sz="1100" dirty="0"/>
          </a:p>
        </p:txBody>
      </p:sp>
      <p:sp>
        <p:nvSpPr>
          <p:cNvPr id="15" name="Text 13"/>
          <p:cNvSpPr/>
          <p:nvPr/>
        </p:nvSpPr>
        <p:spPr>
          <a:xfrm>
            <a:off x="1188720" y="5907024"/>
            <a:ext cx="9784080" cy="274320"/>
          </a:xfrm>
          <a:prstGeom prst="rect">
            <a:avLst/>
          </a:prstGeom>
          <a:noFill/>
          <a:ln/>
        </p:spPr>
        <p:txBody>
          <a:bodyPr wrap="square" lIns="0" tIns="0" rIns="0" bIns="0" rtlCol="0" anchor="ctr"/>
          <a:lstStyle/>
          <a:p>
            <a:pPr algn="ctr" indent="0" marL="0">
              <a:buNone/>
            </a:pPr>
            <a:r>
              <a:rPr lang="en-US" sz="1550" b="1" dirty="0">
                <a:solidFill>
                  <a:srgbClr val="111827"/>
                </a:solidFill>
              </a:rPr>
              <a:t>Fork once. Clone once. Synchronize every class.</a:t>
            </a:r>
            <a:endParaRPr lang="en-US" sz="1550" dirty="0"/>
          </a:p>
        </p:txBody>
      </p:sp>
      <p:sp>
        <p:nvSpPr>
          <p:cNvPr id="16" name="Text 14"/>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17" name="Text 15"/>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Clone Once, Synchronize Every Class</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The daily workflow is sync-and-restore, not re-clone-and-start-over.</a:t>
            </a:r>
            <a:endParaRPr lang="en-US" sz="1250" dirty="0"/>
          </a:p>
        </p:txBody>
      </p:sp>
      <p:sp>
        <p:nvSpPr>
          <p:cNvPr id="6" name="Text 4"/>
          <p:cNvSpPr/>
          <p:nvPr/>
        </p:nvSpPr>
        <p:spPr>
          <a:xfrm>
            <a:off x="594360" y="1234440"/>
            <a:ext cx="1965960" cy="256032"/>
          </a:xfrm>
          <a:prstGeom prst="roundRect">
            <a:avLst>
              <a:gd name="adj" fmla="val 28571"/>
            </a:avLst>
          </a:prstGeom>
          <a:solidFill>
            <a:srgbClr val="E8F0FE"/>
          </a:solidFill>
          <a:ln>
            <a:solidFill>
              <a:srgbClr val="E8F0FE"/>
            </a:solidFill>
          </a:ln>
        </p:spPr>
        <p:txBody>
          <a:bodyPr wrap="square" lIns="508" tIns="508" rIns="508" bIns="508" rtlCol="0" anchor="ctr"/>
          <a:lstStyle/>
          <a:p>
            <a:pPr algn="ctr" indent="0" marL="0">
              <a:buNone/>
            </a:pPr>
            <a:r>
              <a:rPr lang="en-US" sz="950" b="1" dirty="0">
                <a:solidFill>
                  <a:srgbClr val="1A73E8"/>
                </a:solidFill>
                <a:latin typeface="Arial" pitchFamily="34" charset="0"/>
                <a:ea typeface="Arial" pitchFamily="34" charset="-122"/>
                <a:cs typeface="Arial" pitchFamily="34" charset="-120"/>
              </a:rPr>
              <a:t>REPOSITORY WORKFLOW</a:t>
            </a:r>
            <a:endParaRPr lang="en-US" sz="950" dirty="0"/>
          </a:p>
        </p:txBody>
      </p:sp>
      <p:sp>
        <p:nvSpPr>
          <p:cNvPr id="7" name="Text 5"/>
          <p:cNvSpPr/>
          <p:nvPr/>
        </p:nvSpPr>
        <p:spPr>
          <a:xfrm>
            <a:off x="777240" y="1755648"/>
            <a:ext cx="5120640" cy="1874520"/>
          </a:xfrm>
          <a:prstGeom prst="roundRect">
            <a:avLst>
              <a:gd name="adj" fmla="val 4878"/>
            </a:avLst>
          </a:prstGeom>
          <a:solidFill>
            <a:srgbClr val="E8F0FE"/>
          </a:solidFill>
          <a:ln w="12700">
            <a:solidFill>
              <a:srgbClr val="E8F0FE"/>
            </a:solidFill>
          </a:ln>
        </p:spPr>
        <p:txBody>
          <a:bodyPr wrap="square" lIns="2286" tIns="2286" rIns="2286" bIns="2286" rtlCol="0" anchor="t">
            <a:normAutofit/>
          </a:bodyPr>
          <a:lstStyle/>
          <a:p>
            <a:pPr indent="0" marL="0">
              <a:buNone/>
            </a:pPr>
            <a:r>
              <a:rPr lang="en-US" sz="1600" b="1" dirty="0">
                <a:solidFill>
                  <a:srgbClr val="111827"/>
                </a:solidFill>
                <a:latin typeface="Arial" pitchFamily="34" charset="0"/>
                <a:ea typeface="Arial" pitchFamily="34" charset="-122"/>
                <a:cs typeface="Arial" pitchFamily="34" charset="-120"/>
              </a:rPr>
              <a:t>One-time setup</a:t>
            </a:r>
            <a:endParaRPr lang="en-US" sz="1600" dirty="0"/>
          </a:p>
          <a:p>
            <a:pPr indent="0" marL="0">
              <a:buNone/>
            </a:pP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 Fork the course repository</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 Clone your fork</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 Configure the instructor repository as upstream</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 Install and verify prerequisites</a:t>
            </a:r>
            <a:endParaRPr lang="en-US" sz="1600" dirty="0"/>
          </a:p>
        </p:txBody>
      </p:sp>
      <p:sp>
        <p:nvSpPr>
          <p:cNvPr id="8" name="Text 6"/>
          <p:cNvSpPr/>
          <p:nvPr/>
        </p:nvSpPr>
        <p:spPr>
          <a:xfrm>
            <a:off x="6309360" y="1755648"/>
            <a:ext cx="5120640" cy="1874520"/>
          </a:xfrm>
          <a:prstGeom prst="roundRect">
            <a:avLst>
              <a:gd name="adj" fmla="val 4878"/>
            </a:avLst>
          </a:prstGeom>
          <a:solidFill>
            <a:srgbClr val="E6F4EA"/>
          </a:solidFill>
          <a:ln w="12700">
            <a:solidFill>
              <a:srgbClr val="E6F4EA"/>
            </a:solidFill>
          </a:ln>
        </p:spPr>
        <p:txBody>
          <a:bodyPr wrap="square" lIns="2286" tIns="2286" rIns="2286" bIns="2286" rtlCol="0" anchor="t">
            <a:normAutofit/>
          </a:bodyPr>
          <a:lstStyle/>
          <a:p>
            <a:pPr indent="0" marL="0">
              <a:buNone/>
            </a:pPr>
            <a:r>
              <a:rPr lang="en-US" sz="1600" b="1" dirty="0">
                <a:solidFill>
                  <a:srgbClr val="111827"/>
                </a:solidFill>
                <a:latin typeface="Arial" pitchFamily="34" charset="0"/>
                <a:ea typeface="Arial" pitchFamily="34" charset="-122"/>
                <a:cs typeface="Arial" pitchFamily="34" charset="-120"/>
              </a:rPr>
              <a:t>Beginning of every class</a:t>
            </a:r>
            <a:endParaRPr lang="en-US" sz="1600" dirty="0"/>
          </a:p>
          <a:p>
            <a:pPr indent="0" marL="0">
              <a:buNone/>
            </a:pP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 Fetch instructor updates</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 Sync your learner fork</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 Restore the previous completed checkpoint</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 Create today’s clean workspace</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 Run baseline tests</a:t>
            </a:r>
            <a:endParaRPr lang="en-US" sz="1600" dirty="0"/>
          </a:p>
        </p:txBody>
      </p:sp>
      <p:sp>
        <p:nvSpPr>
          <p:cNvPr id="9" name="Text 7"/>
          <p:cNvSpPr/>
          <p:nvPr/>
        </p:nvSpPr>
        <p:spPr>
          <a:xfrm>
            <a:off x="1143000" y="4315968"/>
            <a:ext cx="9921240" cy="749808"/>
          </a:xfrm>
          <a:prstGeom prst="roundRect">
            <a:avLst>
              <a:gd name="adj" fmla="val 12195"/>
            </a:avLst>
          </a:prstGeom>
          <a:solidFill>
            <a:srgbClr val="F8FAFC"/>
          </a:solidFill>
          <a:ln w="12700">
            <a:solidFill>
              <a:srgbClr val="E5E7EB"/>
            </a:solidFill>
          </a:ln>
        </p:spPr>
        <p:txBody>
          <a:bodyPr wrap="square" lIns="1905" tIns="1905" rIns="1905" bIns="1905" rtlCol="0" anchor="t">
            <a:normAutofit/>
          </a:bodyPr>
          <a:lstStyle/>
          <a:p>
            <a:pPr indent="0" marL="0">
              <a:buNone/>
            </a:pPr>
            <a:r>
              <a:rPr lang="en-US" sz="1500" b="1" dirty="0">
                <a:solidFill>
                  <a:srgbClr val="111827"/>
                </a:solidFill>
                <a:latin typeface="Arial" pitchFamily="34" charset="0"/>
                <a:ea typeface="Arial" pitchFamily="34" charset="-122"/>
                <a:cs typeface="Arial" pitchFamily="34" charset="-120"/>
              </a:rPr>
              <a:t>Command pattern</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fork once → clone your fork → add upstream → fetch updates → restore checkpoint → verify baseline</a:t>
            </a:r>
            <a:endParaRPr lang="en-US" sz="1500" dirty="0"/>
          </a:p>
        </p:txBody>
      </p:sp>
      <p:sp>
        <p:nvSpPr>
          <p:cNvPr id="10" name="Text 8"/>
          <p:cNvSpPr/>
          <p:nvPr/>
        </p:nvSpPr>
        <p:spPr>
          <a:xfrm>
            <a:off x="1143000" y="5614416"/>
            <a:ext cx="9784080" cy="329184"/>
          </a:xfrm>
          <a:prstGeom prst="rect">
            <a:avLst/>
          </a:prstGeom>
          <a:noFill/>
          <a:ln/>
        </p:spPr>
        <p:txBody>
          <a:bodyPr wrap="square" lIns="0" tIns="0" rIns="0" bIns="0" rtlCol="0" anchor="ctr"/>
          <a:lstStyle/>
          <a:p>
            <a:pPr algn="ctr" indent="0" marL="0">
              <a:buNone/>
            </a:pPr>
            <a:r>
              <a:rPr lang="en-US" sz="1600" b="1" dirty="0">
                <a:solidFill>
                  <a:srgbClr val="111827"/>
                </a:solidFill>
              </a:rPr>
              <a:t>Do not repeatedly clone the entire repository. Keep a stable workspace and refresh it correctly.</a:t>
            </a:r>
            <a:endParaRPr lang="en-US" sz="1600" dirty="0"/>
          </a:p>
        </p:txBody>
      </p:sp>
      <p:sp>
        <p:nvSpPr>
          <p:cNvPr id="11" name="Text 9"/>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12" name="Text 10"/>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Three Code States, Three Different Purposes</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A clean separation prevents confusion between starting points, learner work, and reference solutions.</a:t>
            </a:r>
            <a:endParaRPr lang="en-US" sz="1250" dirty="0"/>
          </a:p>
        </p:txBody>
      </p:sp>
      <p:sp>
        <p:nvSpPr>
          <p:cNvPr id="6" name="Text 4"/>
          <p:cNvSpPr/>
          <p:nvPr/>
        </p:nvSpPr>
        <p:spPr>
          <a:xfrm>
            <a:off x="594360" y="1234440"/>
            <a:ext cx="1965960" cy="256032"/>
          </a:xfrm>
          <a:prstGeom prst="roundRect">
            <a:avLst>
              <a:gd name="adj" fmla="val 28571"/>
            </a:avLst>
          </a:prstGeom>
          <a:solidFill>
            <a:srgbClr val="E8F0FE"/>
          </a:solidFill>
          <a:ln>
            <a:solidFill>
              <a:srgbClr val="E8F0FE"/>
            </a:solidFill>
          </a:ln>
        </p:spPr>
        <p:txBody>
          <a:bodyPr wrap="square" lIns="508" tIns="508" rIns="508" bIns="508" rtlCol="0" anchor="ctr"/>
          <a:lstStyle/>
          <a:p>
            <a:pPr algn="ctr" indent="0" marL="0">
              <a:buNone/>
            </a:pPr>
            <a:r>
              <a:rPr lang="en-US" sz="950" b="1" dirty="0">
                <a:solidFill>
                  <a:srgbClr val="1A73E8"/>
                </a:solidFill>
                <a:latin typeface="Arial" pitchFamily="34" charset="0"/>
                <a:ea typeface="Arial" pitchFamily="34" charset="-122"/>
                <a:cs typeface="Arial" pitchFamily="34" charset="-120"/>
              </a:rPr>
              <a:t>CODE STATES</a:t>
            </a:r>
            <a:endParaRPr lang="en-US" sz="950" dirty="0"/>
          </a:p>
        </p:txBody>
      </p:sp>
      <p:sp>
        <p:nvSpPr>
          <p:cNvPr id="7" name="Text 5"/>
          <p:cNvSpPr/>
          <p:nvPr/>
        </p:nvSpPr>
        <p:spPr>
          <a:xfrm>
            <a:off x="822960" y="1783080"/>
            <a:ext cx="3154680" cy="1417320"/>
          </a:xfrm>
          <a:prstGeom prst="roundRect">
            <a:avLst>
              <a:gd name="adj" fmla="val 6452"/>
            </a:avLst>
          </a:prstGeom>
          <a:solidFill>
            <a:srgbClr val="F3E8FF"/>
          </a:solidFill>
          <a:ln w="12700">
            <a:solidFill>
              <a:srgbClr val="F3E8FF"/>
            </a:solidFill>
          </a:ln>
        </p:spPr>
        <p:txBody>
          <a:bodyPr wrap="square" lIns="2286" tIns="2286" rIns="2286" bIns="2286" rtlCol="0" anchor="t">
            <a:normAutofit/>
          </a:bodyPr>
          <a:lstStyle/>
          <a:p>
            <a:pPr indent="0" marL="0">
              <a:buNone/>
            </a:pPr>
            <a:r>
              <a:rPr lang="en-US" sz="1420" b="1" dirty="0">
                <a:solidFill>
                  <a:srgbClr val="7C3AED"/>
                </a:solidFill>
                <a:latin typeface="Arial" pitchFamily="34" charset="0"/>
                <a:ea typeface="Arial" pitchFamily="34" charset="-122"/>
                <a:cs typeface="Arial" pitchFamily="34" charset="-120"/>
              </a:rPr>
              <a:t>Previous-class golden checkpoint</a:t>
            </a:r>
            <a:endParaRPr lang="en-US" sz="1420" dirty="0"/>
          </a:p>
          <a:p>
            <a:pPr indent="0" marL="0">
              <a:buNone/>
            </a:pPr>
            <a:endParaRPr lang="en-US" sz="1420" dirty="0"/>
          </a:p>
          <a:p>
            <a:pPr indent="0" marL="0">
              <a:buNone/>
            </a:pPr>
            <a:r>
              <a:rPr lang="en-US" sz="1420" dirty="0">
                <a:solidFill>
                  <a:srgbClr val="7C3AED"/>
                </a:solidFill>
                <a:latin typeface="Arial" pitchFamily="34" charset="0"/>
                <a:ea typeface="Arial" pitchFamily="34" charset="-122"/>
                <a:cs typeface="Arial" pitchFamily="34" charset="-120"/>
              </a:rPr>
              <a:t>Known-good starting point for today.</a:t>
            </a:r>
            <a:endParaRPr lang="en-US" sz="1420" dirty="0"/>
          </a:p>
        </p:txBody>
      </p:sp>
      <p:sp>
        <p:nvSpPr>
          <p:cNvPr id="8" name="Text 6"/>
          <p:cNvSpPr/>
          <p:nvPr/>
        </p:nvSpPr>
        <p:spPr>
          <a:xfrm>
            <a:off x="4617720" y="1783080"/>
            <a:ext cx="3154680" cy="1417320"/>
          </a:xfrm>
          <a:prstGeom prst="roundRect">
            <a:avLst>
              <a:gd name="adj" fmla="val 6452"/>
            </a:avLst>
          </a:prstGeom>
          <a:solidFill>
            <a:srgbClr val="E6F4EA"/>
          </a:solidFill>
          <a:ln w="12700">
            <a:solidFill>
              <a:srgbClr val="E6F4EA"/>
            </a:solidFill>
          </a:ln>
        </p:spPr>
        <p:txBody>
          <a:bodyPr wrap="square" lIns="2286" tIns="2286" rIns="2286" bIns="2286" rtlCol="0" anchor="t">
            <a:normAutofit/>
          </a:bodyPr>
          <a:lstStyle/>
          <a:p>
            <a:pPr indent="0" marL="0">
              <a:buNone/>
            </a:pPr>
            <a:r>
              <a:rPr lang="en-US" sz="1420" b="1" dirty="0">
                <a:solidFill>
                  <a:srgbClr val="34A853"/>
                </a:solidFill>
                <a:latin typeface="Arial" pitchFamily="34" charset="0"/>
                <a:ea typeface="Arial" pitchFamily="34" charset="-122"/>
                <a:cs typeface="Arial" pitchFamily="34" charset="-120"/>
              </a:rPr>
              <a:t>Learner working copy</a:t>
            </a:r>
            <a:endParaRPr lang="en-US" sz="1420" dirty="0"/>
          </a:p>
          <a:p>
            <a:pPr indent="0" marL="0">
              <a:buNone/>
            </a:pPr>
            <a:endParaRPr lang="en-US" sz="1420" dirty="0"/>
          </a:p>
          <a:p>
            <a:pPr indent="0" marL="0">
              <a:buNone/>
            </a:pPr>
            <a:r>
              <a:rPr lang="en-US" sz="1420" dirty="0">
                <a:solidFill>
                  <a:srgbClr val="34A853"/>
                </a:solidFill>
                <a:latin typeface="Arial" pitchFamily="34" charset="0"/>
                <a:ea typeface="Arial" pitchFamily="34" charset="-122"/>
                <a:cs typeface="Arial" pitchFamily="34" charset="-120"/>
              </a:rPr>
              <a:t>Where today’s implementation happens.</a:t>
            </a:r>
            <a:endParaRPr lang="en-US" sz="1420" dirty="0"/>
          </a:p>
        </p:txBody>
      </p:sp>
      <p:sp>
        <p:nvSpPr>
          <p:cNvPr id="9" name="Text 7"/>
          <p:cNvSpPr/>
          <p:nvPr/>
        </p:nvSpPr>
        <p:spPr>
          <a:xfrm>
            <a:off x="8412480" y="1783080"/>
            <a:ext cx="3154680" cy="1417320"/>
          </a:xfrm>
          <a:prstGeom prst="roundRect">
            <a:avLst>
              <a:gd name="adj" fmla="val 6452"/>
            </a:avLst>
          </a:prstGeom>
          <a:solidFill>
            <a:srgbClr val="E8F0FE"/>
          </a:solidFill>
          <a:ln w="12700">
            <a:solidFill>
              <a:srgbClr val="E8F0FE"/>
            </a:solidFill>
          </a:ln>
        </p:spPr>
        <p:txBody>
          <a:bodyPr wrap="square" lIns="2286" tIns="2286" rIns="2286" bIns="2286" rtlCol="0" anchor="t">
            <a:normAutofit/>
          </a:bodyPr>
          <a:lstStyle/>
          <a:p>
            <a:pPr indent="0" marL="0">
              <a:buNone/>
            </a:pPr>
            <a:r>
              <a:rPr lang="en-US" sz="1420" b="1" dirty="0">
                <a:solidFill>
                  <a:srgbClr val="1A73E8"/>
                </a:solidFill>
                <a:latin typeface="Arial" pitchFamily="34" charset="0"/>
                <a:ea typeface="Arial" pitchFamily="34" charset="-122"/>
                <a:cs typeface="Arial" pitchFamily="34" charset="-120"/>
              </a:rPr>
              <a:t>Current-class reference solution</a:t>
            </a:r>
            <a:endParaRPr lang="en-US" sz="1420" dirty="0"/>
          </a:p>
          <a:p>
            <a:pPr indent="0" marL="0">
              <a:buNone/>
            </a:pPr>
            <a:endParaRPr lang="en-US" sz="1420" dirty="0"/>
          </a:p>
          <a:p>
            <a:pPr indent="0" marL="0">
              <a:buNone/>
            </a:pPr>
            <a:r>
              <a:rPr lang="en-US" sz="1420" dirty="0">
                <a:solidFill>
                  <a:srgbClr val="1A73E8"/>
                </a:solidFill>
                <a:latin typeface="Arial" pitchFamily="34" charset="0"/>
                <a:ea typeface="Arial" pitchFamily="34" charset="-122"/>
                <a:cs typeface="Arial" pitchFamily="34" charset="-120"/>
              </a:rPr>
              <a:t>Opened after testing for comparison.</a:t>
            </a:r>
            <a:endParaRPr lang="en-US" sz="1420" dirty="0"/>
          </a:p>
        </p:txBody>
      </p:sp>
      <p:sp>
        <p:nvSpPr>
          <p:cNvPr id="10" name="Text 8"/>
          <p:cNvSpPr/>
          <p:nvPr/>
        </p:nvSpPr>
        <p:spPr>
          <a:xfrm>
            <a:off x="1097280" y="3950208"/>
            <a:ext cx="9875520" cy="475488"/>
          </a:xfrm>
          <a:prstGeom prst="rect">
            <a:avLst/>
          </a:prstGeom>
          <a:noFill/>
          <a:ln/>
        </p:spPr>
        <p:txBody>
          <a:bodyPr wrap="square" lIns="0" tIns="0" rIns="0" bIns="0" rtlCol="0" anchor="ctr"/>
          <a:lstStyle/>
          <a:p>
            <a:pPr algn="ctr" indent="0" marL="0">
              <a:buNone/>
            </a:pPr>
            <a:r>
              <a:rPr lang="en-US" sz="2300" b="1" dirty="0">
                <a:solidFill>
                  <a:srgbClr val="111827"/>
                </a:solidFill>
              </a:rPr>
              <a:t>Start from yesterday’s gold. Do not copy today’s gold.</a:t>
            </a:r>
            <a:endParaRPr lang="en-US" sz="2300" dirty="0"/>
          </a:p>
        </p:txBody>
      </p:sp>
      <p:sp>
        <p:nvSpPr>
          <p:cNvPr id="11" name="Text 9"/>
          <p:cNvSpPr/>
          <p:nvPr/>
        </p:nvSpPr>
        <p:spPr>
          <a:xfrm>
            <a:off x="1783080" y="4754880"/>
            <a:ext cx="8503920" cy="914400"/>
          </a:xfrm>
          <a:prstGeom prst="rect">
            <a:avLst/>
          </a:prstGeom>
          <a:noFill/>
          <a:ln/>
        </p:spPr>
        <p:txBody>
          <a:bodyPr wrap="square" lIns="254" tIns="254" rIns="254" bIns="254" rtlCol="0" anchor="t">
            <a:normAutofit/>
          </a:bodyPr>
          <a:lstStyle/>
          <a:p>
            <a:pPr indent="0" marL="0">
              <a:buNone/>
            </a:pPr>
            <a:r>
              <a:rPr lang="en-US" sz="1480" dirty="0">
                <a:solidFill>
                  <a:srgbClr val="475569"/>
                </a:solidFill>
                <a:latin typeface="Arial" pitchFamily="34" charset="0"/>
                <a:ea typeface="Arial" pitchFamily="34" charset="-122"/>
                <a:cs typeface="Arial" pitchFamily="34" charset="-120"/>
              </a:rPr>
              <a:t>• Learners are never trapped by prior bugs.</a:t>
            </a:r>
            <a:endParaRPr lang="en-US" sz="1480" dirty="0"/>
          </a:p>
          <a:p>
            <a:pPr indent="0" marL="0">
              <a:buNone/>
            </a:pPr>
            <a:r>
              <a:rPr lang="en-US" sz="1480" dirty="0">
                <a:solidFill>
                  <a:srgbClr val="475569"/>
                </a:solidFill>
                <a:latin typeface="Arial" pitchFamily="34" charset="0"/>
                <a:ea typeface="Arial" pitchFamily="34" charset="-122"/>
                <a:cs typeface="Arial" pitchFamily="34" charset="-120"/>
              </a:rPr>
              <a:t>• Everyone starts from a consistent technical baseline.</a:t>
            </a:r>
            <a:endParaRPr lang="en-US" sz="1480" dirty="0"/>
          </a:p>
          <a:p>
            <a:pPr indent="0" marL="0">
              <a:buNone/>
            </a:pPr>
            <a:r>
              <a:rPr lang="en-US" sz="1480" dirty="0">
                <a:solidFill>
                  <a:srgbClr val="475569"/>
                </a:solidFill>
                <a:latin typeface="Arial" pitchFamily="34" charset="0"/>
                <a:ea typeface="Arial" pitchFamily="34" charset="-122"/>
                <a:cs typeface="Arial" pitchFamily="34" charset="-120"/>
              </a:rPr>
              <a:t>• Learners still make independent implementation decisions.</a:t>
            </a:r>
            <a:endParaRPr lang="en-US" sz="1480" dirty="0"/>
          </a:p>
          <a:p>
            <a:pPr indent="0" marL="0">
              <a:buNone/>
            </a:pPr>
            <a:r>
              <a:rPr lang="en-US" sz="1480" dirty="0">
                <a:solidFill>
                  <a:srgbClr val="475569"/>
                </a:solidFill>
                <a:latin typeface="Arial" pitchFamily="34" charset="0"/>
                <a:ea typeface="Arial" pitchFamily="34" charset="-122"/>
                <a:cs typeface="Arial" pitchFamily="34" charset="-120"/>
              </a:rPr>
              <a:t>• The current-class reference is a comparison tool, not an answer sheet.</a:t>
            </a:r>
            <a:endParaRPr lang="en-US" sz="1480" dirty="0"/>
          </a:p>
        </p:txBody>
      </p:sp>
      <p:sp>
        <p:nvSpPr>
          <p:cNvPr id="12" name="Text 10"/>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13" name="Text 11"/>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Phases 3–5: Learn, Check, Build</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The class moves from concept to prediction to implementation to evidence.</a:t>
            </a:r>
            <a:endParaRPr lang="en-US" sz="1250" dirty="0"/>
          </a:p>
        </p:txBody>
      </p:sp>
      <p:sp>
        <p:nvSpPr>
          <p:cNvPr id="6" name="Text 4"/>
          <p:cNvSpPr/>
          <p:nvPr/>
        </p:nvSpPr>
        <p:spPr>
          <a:xfrm>
            <a:off x="594360" y="1234440"/>
            <a:ext cx="1965960" cy="256032"/>
          </a:xfrm>
          <a:prstGeom prst="roundRect">
            <a:avLst>
              <a:gd name="adj" fmla="val 28571"/>
            </a:avLst>
          </a:prstGeom>
          <a:solidFill>
            <a:srgbClr val="E8F0FE"/>
          </a:solidFill>
          <a:ln>
            <a:solidFill>
              <a:srgbClr val="E8F0FE"/>
            </a:solidFill>
          </a:ln>
        </p:spPr>
        <p:txBody>
          <a:bodyPr wrap="square" lIns="508" tIns="508" rIns="508" bIns="508" rtlCol="0" anchor="ctr"/>
          <a:lstStyle/>
          <a:p>
            <a:pPr algn="ctr" indent="0" marL="0">
              <a:buNone/>
            </a:pPr>
            <a:r>
              <a:rPr lang="en-US" sz="950" b="1" dirty="0">
                <a:solidFill>
                  <a:srgbClr val="1A73E8"/>
                </a:solidFill>
                <a:latin typeface="Arial" pitchFamily="34" charset="0"/>
                <a:ea typeface="Arial" pitchFamily="34" charset="-122"/>
                <a:cs typeface="Arial" pitchFamily="34" charset="-120"/>
              </a:rPr>
              <a:t>CORE LEARNING LOOP</a:t>
            </a:r>
            <a:endParaRPr lang="en-US" sz="950" dirty="0"/>
          </a:p>
        </p:txBody>
      </p:sp>
      <p:sp>
        <p:nvSpPr>
          <p:cNvPr id="7" name="Text 5"/>
          <p:cNvSpPr/>
          <p:nvPr/>
        </p:nvSpPr>
        <p:spPr>
          <a:xfrm>
            <a:off x="822960" y="1737360"/>
            <a:ext cx="3200400" cy="2286000"/>
          </a:xfrm>
          <a:prstGeom prst="roundRect">
            <a:avLst>
              <a:gd name="adj" fmla="val 4000"/>
            </a:avLst>
          </a:prstGeom>
          <a:solidFill>
            <a:srgbClr val="E6F4EA"/>
          </a:solidFill>
          <a:ln w="12700">
            <a:solidFill>
              <a:srgbClr val="E6F4EA"/>
            </a:solidFill>
          </a:ln>
        </p:spPr>
        <p:txBody>
          <a:bodyPr wrap="square" lIns="2286" tIns="2286" rIns="2286" bIns="2286" rtlCol="0" anchor="t">
            <a:normAutofit/>
          </a:bodyPr>
          <a:lstStyle/>
          <a:p>
            <a:pPr indent="0" marL="0">
              <a:buNone/>
            </a:pPr>
            <a:r>
              <a:rPr lang="en-US" sz="1500" b="1" dirty="0">
                <a:solidFill>
                  <a:srgbClr val="111827"/>
                </a:solidFill>
                <a:latin typeface="Arial" pitchFamily="34" charset="0"/>
                <a:ea typeface="Arial" pitchFamily="34" charset="-122"/>
                <a:cs typeface="Arial" pitchFamily="34" charset="-120"/>
              </a:rPr>
              <a:t>Learn</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Introduce the engineering problem</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Explain why the capability matters</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Map it to the Seven Steps</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Define boundaries and success criteria</a:t>
            </a:r>
            <a:endParaRPr lang="en-US" sz="1500" dirty="0"/>
          </a:p>
        </p:txBody>
      </p:sp>
      <p:sp>
        <p:nvSpPr>
          <p:cNvPr id="8" name="Text 6"/>
          <p:cNvSpPr/>
          <p:nvPr/>
        </p:nvSpPr>
        <p:spPr>
          <a:xfrm>
            <a:off x="4480560" y="1737360"/>
            <a:ext cx="3200400" cy="2286000"/>
          </a:xfrm>
          <a:prstGeom prst="roundRect">
            <a:avLst>
              <a:gd name="adj" fmla="val 4000"/>
            </a:avLst>
          </a:prstGeom>
          <a:solidFill>
            <a:srgbClr val="FEF7E0"/>
          </a:solidFill>
          <a:ln w="12700">
            <a:solidFill>
              <a:srgbClr val="FEF7E0"/>
            </a:solidFill>
          </a:ln>
        </p:spPr>
        <p:txBody>
          <a:bodyPr wrap="square" lIns="2286" tIns="2286" rIns="2286" bIns="2286" rtlCol="0" anchor="t">
            <a:normAutofit/>
          </a:bodyPr>
          <a:lstStyle/>
          <a:p>
            <a:pPr indent="0" marL="0">
              <a:buNone/>
            </a:pPr>
            <a:r>
              <a:rPr lang="en-US" sz="1500" b="1" dirty="0">
                <a:solidFill>
                  <a:srgbClr val="111827"/>
                </a:solidFill>
                <a:latin typeface="Arial" pitchFamily="34" charset="0"/>
                <a:ea typeface="Arial" pitchFamily="34" charset="-122"/>
                <a:cs typeface="Arial" pitchFamily="34" charset="-120"/>
              </a:rPr>
              <a:t>Check</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Kahoot or short knowledge check</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Architecture questions</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Requirement interpretation</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Predict expected behavior</a:t>
            </a:r>
            <a:endParaRPr lang="en-US" sz="1500" dirty="0"/>
          </a:p>
        </p:txBody>
      </p:sp>
      <p:sp>
        <p:nvSpPr>
          <p:cNvPr id="9" name="Text 7"/>
          <p:cNvSpPr/>
          <p:nvPr/>
        </p:nvSpPr>
        <p:spPr>
          <a:xfrm>
            <a:off x="8138160" y="1737360"/>
            <a:ext cx="3200400" cy="2286000"/>
          </a:xfrm>
          <a:prstGeom prst="roundRect">
            <a:avLst>
              <a:gd name="adj" fmla="val 4000"/>
            </a:avLst>
          </a:prstGeom>
          <a:solidFill>
            <a:srgbClr val="E8F0FE"/>
          </a:solidFill>
          <a:ln w="12700">
            <a:solidFill>
              <a:srgbClr val="E8F0FE"/>
            </a:solidFill>
          </a:ln>
        </p:spPr>
        <p:txBody>
          <a:bodyPr wrap="square" lIns="2286" tIns="2286" rIns="2286" bIns="2286" rtlCol="0" anchor="t">
            <a:normAutofit/>
          </a:bodyPr>
          <a:lstStyle/>
          <a:p>
            <a:pPr indent="0" marL="0">
              <a:buNone/>
            </a:pPr>
            <a:r>
              <a:rPr lang="en-US" sz="1500" b="1" dirty="0">
                <a:solidFill>
                  <a:srgbClr val="111827"/>
                </a:solidFill>
                <a:latin typeface="Arial" pitchFamily="34" charset="0"/>
                <a:ea typeface="Arial" pitchFamily="34" charset="-122"/>
                <a:cs typeface="Arial" pitchFamily="34" charset="-120"/>
              </a:rPr>
              <a:t>Build</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Instructor-guided first steps</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Learner implementation</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Inspect agent behavior</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Capture decisions and errors</a:t>
            </a:r>
            <a:endParaRPr lang="en-US" sz="1500" dirty="0"/>
          </a:p>
        </p:txBody>
      </p:sp>
      <p:sp>
        <p:nvSpPr>
          <p:cNvPr id="10" name="Text 8"/>
          <p:cNvSpPr/>
          <p:nvPr/>
        </p:nvSpPr>
        <p:spPr>
          <a:xfrm>
            <a:off x="1097280" y="5349240"/>
            <a:ext cx="9875520" cy="411480"/>
          </a:xfrm>
          <a:prstGeom prst="rect">
            <a:avLst/>
          </a:prstGeom>
          <a:noFill/>
          <a:ln/>
        </p:spPr>
        <p:txBody>
          <a:bodyPr wrap="square" lIns="0" tIns="0" rIns="0" bIns="0" rtlCol="0" anchor="ctr"/>
          <a:lstStyle/>
          <a:p>
            <a:pPr algn="ctr" indent="0" marL="0">
              <a:buNone/>
            </a:pPr>
            <a:r>
              <a:rPr lang="en-US" sz="2100" b="1" dirty="0">
                <a:solidFill>
                  <a:srgbClr val="111827"/>
                </a:solidFill>
              </a:rPr>
              <a:t>Concept → prediction → implementation → evidence</a:t>
            </a:r>
            <a:endParaRPr lang="en-US" sz="2100" dirty="0"/>
          </a:p>
        </p:txBody>
      </p:sp>
      <p:sp>
        <p:nvSpPr>
          <p:cNvPr id="11" name="Text 9"/>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12" name="Text 10"/>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Phase 6: Verify at Two Levels</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Passing tests is necessary, but not sufficient.</a:t>
            </a:r>
            <a:endParaRPr lang="en-US" sz="1250" dirty="0"/>
          </a:p>
        </p:txBody>
      </p:sp>
      <p:sp>
        <p:nvSpPr>
          <p:cNvPr id="6" name="Text 4"/>
          <p:cNvSpPr/>
          <p:nvPr/>
        </p:nvSpPr>
        <p:spPr>
          <a:xfrm>
            <a:off x="594360" y="1234440"/>
            <a:ext cx="1965960" cy="256032"/>
          </a:xfrm>
          <a:prstGeom prst="roundRect">
            <a:avLst>
              <a:gd name="adj" fmla="val 28571"/>
            </a:avLst>
          </a:prstGeom>
          <a:solidFill>
            <a:srgbClr val="FCE8E6"/>
          </a:solidFill>
          <a:ln>
            <a:solidFill>
              <a:srgbClr val="FCE8E6"/>
            </a:solidFill>
          </a:ln>
        </p:spPr>
        <p:txBody>
          <a:bodyPr wrap="square" lIns="508" tIns="508" rIns="508" bIns="508" rtlCol="0" anchor="ctr"/>
          <a:lstStyle/>
          <a:p>
            <a:pPr algn="ctr" indent="0" marL="0">
              <a:buNone/>
            </a:pPr>
            <a:r>
              <a:rPr lang="en-US" sz="950" b="1" dirty="0">
                <a:solidFill>
                  <a:srgbClr val="EA4335"/>
                </a:solidFill>
                <a:latin typeface="Arial" pitchFamily="34" charset="0"/>
                <a:ea typeface="Arial" pitchFamily="34" charset="-122"/>
                <a:cs typeface="Arial" pitchFamily="34" charset="-120"/>
              </a:rPr>
              <a:t>VERIFICATION MODEL</a:t>
            </a:r>
            <a:endParaRPr lang="en-US" sz="950" dirty="0"/>
          </a:p>
        </p:txBody>
      </p:sp>
      <p:sp>
        <p:nvSpPr>
          <p:cNvPr id="7" name="Text 5"/>
          <p:cNvSpPr/>
          <p:nvPr/>
        </p:nvSpPr>
        <p:spPr>
          <a:xfrm>
            <a:off x="868680" y="1783080"/>
            <a:ext cx="4800600" cy="2834640"/>
          </a:xfrm>
          <a:prstGeom prst="roundRect">
            <a:avLst>
              <a:gd name="adj" fmla="val 3226"/>
            </a:avLst>
          </a:prstGeom>
          <a:solidFill>
            <a:srgbClr val="FCE8E6"/>
          </a:solidFill>
          <a:ln w="12700">
            <a:solidFill>
              <a:srgbClr val="FCE8E6"/>
            </a:solidFill>
          </a:ln>
        </p:spPr>
        <p:txBody>
          <a:bodyPr wrap="square" lIns="2286" tIns="2286" rIns="2286" bIns="2286" rtlCol="0" anchor="t">
            <a:normAutofit/>
          </a:bodyPr>
          <a:lstStyle/>
          <a:p>
            <a:pPr indent="0" marL="0">
              <a:buNone/>
            </a:pPr>
            <a:r>
              <a:rPr lang="en-US" sz="1500" b="1" dirty="0">
                <a:solidFill>
                  <a:srgbClr val="111827"/>
                </a:solidFill>
                <a:latin typeface="Arial" pitchFamily="34" charset="0"/>
                <a:ea typeface="Arial" pitchFamily="34" charset="-122"/>
                <a:cs typeface="Arial" pitchFamily="34" charset="-120"/>
              </a:rPr>
              <a:t>Gate check</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Question answered:</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Did the implementation meet the technical contract?</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Method:</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Deterministic tests</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Looks for:</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Files, schemas, permissions, boundaries, regressions</a:t>
            </a:r>
            <a:endParaRPr lang="en-US" sz="1500" dirty="0"/>
          </a:p>
        </p:txBody>
      </p:sp>
      <p:sp>
        <p:nvSpPr>
          <p:cNvPr id="8" name="Text 6"/>
          <p:cNvSpPr/>
          <p:nvPr/>
        </p:nvSpPr>
        <p:spPr>
          <a:xfrm>
            <a:off x="6537960" y="1783080"/>
            <a:ext cx="4800600" cy="2834640"/>
          </a:xfrm>
          <a:prstGeom prst="roundRect">
            <a:avLst>
              <a:gd name="adj" fmla="val 3226"/>
            </a:avLst>
          </a:prstGeom>
          <a:solidFill>
            <a:srgbClr val="E8F0FE"/>
          </a:solidFill>
          <a:ln w="12700">
            <a:solidFill>
              <a:srgbClr val="E8F0FE"/>
            </a:solidFill>
          </a:ln>
        </p:spPr>
        <p:txBody>
          <a:bodyPr wrap="square" lIns="2286" tIns="2286" rIns="2286" bIns="2286" rtlCol="0" anchor="t">
            <a:normAutofit/>
          </a:bodyPr>
          <a:lstStyle/>
          <a:p>
            <a:pPr indent="0" marL="0">
              <a:buNone/>
            </a:pPr>
            <a:r>
              <a:rPr lang="en-US" sz="1500" b="1" dirty="0">
                <a:solidFill>
                  <a:srgbClr val="111827"/>
                </a:solidFill>
                <a:latin typeface="Arial" pitchFamily="34" charset="0"/>
                <a:ea typeface="Arial" pitchFamily="34" charset="-122"/>
                <a:cs typeface="Arial" pitchFamily="34" charset="-120"/>
              </a:rPr>
              <a:t>Quality check</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Question answered:</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Is the implementation coherent, useful, and well reasoned?</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Method:</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Rubric-guided review</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Looks for:</a:t>
            </a: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Clarity, evidence, decisions, understanding, valid alternatives</a:t>
            </a:r>
            <a:endParaRPr lang="en-US" sz="1500" dirty="0"/>
          </a:p>
        </p:txBody>
      </p:sp>
      <p:sp>
        <p:nvSpPr>
          <p:cNvPr id="9" name="Text 7"/>
          <p:cNvSpPr/>
          <p:nvPr/>
        </p:nvSpPr>
        <p:spPr>
          <a:xfrm>
            <a:off x="1005840" y="5413248"/>
            <a:ext cx="10149840" cy="411480"/>
          </a:xfrm>
          <a:prstGeom prst="rect">
            <a:avLst/>
          </a:prstGeom>
          <a:noFill/>
          <a:ln/>
        </p:spPr>
        <p:txBody>
          <a:bodyPr wrap="square" lIns="0" tIns="0" rIns="0" bIns="0" rtlCol="0" anchor="ctr"/>
          <a:lstStyle/>
          <a:p>
            <a:pPr algn="ctr" indent="0" marL="0">
              <a:buNone/>
            </a:pPr>
            <a:r>
              <a:rPr lang="en-US" sz="2000" b="1" dirty="0">
                <a:solidFill>
                  <a:srgbClr val="111827"/>
                </a:solidFill>
              </a:rPr>
              <a:t>The gate proves that it works. The rubric asks whether it is good.</a:t>
            </a:r>
            <a:endParaRPr lang="en-US" sz="2000" dirty="0"/>
          </a:p>
        </p:txBody>
      </p:sp>
      <p:sp>
        <p:nvSpPr>
          <p:cNvPr id="10" name="Text 8"/>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11" name="Text 9"/>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Compare Without Copying</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The reference solution becomes useful after the learner has made a serious implementation attempt.</a:t>
            </a:r>
            <a:endParaRPr lang="en-US" sz="1250" dirty="0"/>
          </a:p>
        </p:txBody>
      </p:sp>
      <p:sp>
        <p:nvSpPr>
          <p:cNvPr id="6" name="Text 4"/>
          <p:cNvSpPr/>
          <p:nvPr/>
        </p:nvSpPr>
        <p:spPr>
          <a:xfrm>
            <a:off x="594360" y="1234440"/>
            <a:ext cx="1965960" cy="256032"/>
          </a:xfrm>
          <a:prstGeom prst="roundRect">
            <a:avLst>
              <a:gd name="adj" fmla="val 28571"/>
            </a:avLst>
          </a:prstGeom>
          <a:solidFill>
            <a:srgbClr val="E8F0FE"/>
          </a:solidFill>
          <a:ln>
            <a:solidFill>
              <a:srgbClr val="E8F0FE"/>
            </a:solidFill>
          </a:ln>
        </p:spPr>
        <p:txBody>
          <a:bodyPr wrap="square" lIns="508" tIns="508" rIns="508" bIns="508" rtlCol="0" anchor="ctr"/>
          <a:lstStyle/>
          <a:p>
            <a:pPr algn="ctr" indent="0" marL="0">
              <a:buNone/>
            </a:pPr>
            <a:r>
              <a:rPr lang="en-US" sz="950" b="1" dirty="0">
                <a:solidFill>
                  <a:srgbClr val="1A73E8"/>
                </a:solidFill>
                <a:latin typeface="Arial" pitchFamily="34" charset="0"/>
                <a:ea typeface="Arial" pitchFamily="34" charset="-122"/>
                <a:cs typeface="Arial" pitchFamily="34" charset="-120"/>
              </a:rPr>
              <a:t>REFERENCE USE</a:t>
            </a:r>
            <a:endParaRPr lang="en-US" sz="950" dirty="0"/>
          </a:p>
        </p:txBody>
      </p:sp>
      <p:sp>
        <p:nvSpPr>
          <p:cNvPr id="7" name="Text 5"/>
          <p:cNvSpPr/>
          <p:nvPr/>
        </p:nvSpPr>
        <p:spPr>
          <a:xfrm>
            <a:off x="868680" y="1691640"/>
            <a:ext cx="237744" cy="237744"/>
          </a:xfrm>
          <a:prstGeom prst="ellipse">
            <a:avLst/>
          </a:prstGeom>
          <a:solidFill>
            <a:srgbClr val="E8F0FE"/>
          </a:solidFill>
          <a:ln>
            <a:solidFill>
              <a:srgbClr val="E8F0FE"/>
            </a:solidFill>
          </a:ln>
        </p:spPr>
        <p:txBody>
          <a:bodyPr wrap="square" lIns="0" tIns="0" rIns="0" bIns="0" rtlCol="0" anchor="ctr"/>
          <a:lstStyle/>
          <a:p>
            <a:pPr algn="ctr" indent="0" marL="0">
              <a:buNone/>
            </a:pPr>
            <a:r>
              <a:rPr lang="en-US" sz="920" b="1" dirty="0">
                <a:solidFill>
                  <a:srgbClr val="1A73E8"/>
                </a:solidFill>
              </a:rPr>
              <a:t>1</a:t>
            </a:r>
            <a:endParaRPr lang="en-US" sz="920" dirty="0"/>
          </a:p>
        </p:txBody>
      </p:sp>
      <p:sp>
        <p:nvSpPr>
          <p:cNvPr id="8" name="Text 6"/>
          <p:cNvSpPr/>
          <p:nvPr/>
        </p:nvSpPr>
        <p:spPr>
          <a:xfrm>
            <a:off x="1298448" y="1673352"/>
            <a:ext cx="4663440" cy="274320"/>
          </a:xfrm>
          <a:prstGeom prst="rect">
            <a:avLst/>
          </a:prstGeom>
          <a:noFill/>
          <a:ln/>
        </p:spPr>
        <p:txBody>
          <a:bodyPr wrap="square" lIns="0" tIns="0" rIns="0" bIns="0" rtlCol="0" anchor="ctr"/>
          <a:lstStyle/>
          <a:p>
            <a:pPr indent="0" marL="0">
              <a:buNone/>
            </a:pPr>
            <a:r>
              <a:rPr lang="en-US" sz="1360" dirty="0">
                <a:solidFill>
                  <a:srgbClr val="111827"/>
                </a:solidFill>
              </a:rPr>
              <a:t>Open the current-class reference solution.</a:t>
            </a:r>
            <a:endParaRPr lang="en-US" sz="1360" dirty="0"/>
          </a:p>
        </p:txBody>
      </p:sp>
      <p:sp>
        <p:nvSpPr>
          <p:cNvPr id="9" name="Text 7"/>
          <p:cNvSpPr/>
          <p:nvPr/>
        </p:nvSpPr>
        <p:spPr>
          <a:xfrm>
            <a:off x="868680" y="2130552"/>
            <a:ext cx="237744" cy="237744"/>
          </a:xfrm>
          <a:prstGeom prst="ellipse">
            <a:avLst/>
          </a:prstGeom>
          <a:solidFill>
            <a:srgbClr val="E8F0FE"/>
          </a:solidFill>
          <a:ln>
            <a:solidFill>
              <a:srgbClr val="E8F0FE"/>
            </a:solidFill>
          </a:ln>
        </p:spPr>
        <p:txBody>
          <a:bodyPr wrap="square" lIns="0" tIns="0" rIns="0" bIns="0" rtlCol="0" anchor="ctr"/>
          <a:lstStyle/>
          <a:p>
            <a:pPr algn="ctr" indent="0" marL="0">
              <a:buNone/>
            </a:pPr>
            <a:r>
              <a:rPr lang="en-US" sz="920" b="1" dirty="0">
                <a:solidFill>
                  <a:srgbClr val="1A73E8"/>
                </a:solidFill>
              </a:rPr>
              <a:t>2</a:t>
            </a:r>
            <a:endParaRPr lang="en-US" sz="920" dirty="0"/>
          </a:p>
        </p:txBody>
      </p:sp>
      <p:sp>
        <p:nvSpPr>
          <p:cNvPr id="10" name="Text 8"/>
          <p:cNvSpPr/>
          <p:nvPr/>
        </p:nvSpPr>
        <p:spPr>
          <a:xfrm>
            <a:off x="1298448" y="2112264"/>
            <a:ext cx="4663440" cy="274320"/>
          </a:xfrm>
          <a:prstGeom prst="rect">
            <a:avLst/>
          </a:prstGeom>
          <a:noFill/>
          <a:ln/>
        </p:spPr>
        <p:txBody>
          <a:bodyPr wrap="square" lIns="0" tIns="0" rIns="0" bIns="0" rtlCol="0" anchor="ctr"/>
          <a:lstStyle/>
          <a:p>
            <a:pPr indent="0" marL="0">
              <a:buNone/>
            </a:pPr>
            <a:r>
              <a:rPr lang="en-US" sz="1360" dirty="0">
                <a:solidFill>
                  <a:srgbClr val="111827"/>
                </a:solidFill>
              </a:rPr>
              <a:t>Compare it with the learner implementation.</a:t>
            </a:r>
            <a:endParaRPr lang="en-US" sz="1360" dirty="0"/>
          </a:p>
        </p:txBody>
      </p:sp>
      <p:sp>
        <p:nvSpPr>
          <p:cNvPr id="11" name="Text 9"/>
          <p:cNvSpPr/>
          <p:nvPr/>
        </p:nvSpPr>
        <p:spPr>
          <a:xfrm>
            <a:off x="868680" y="2569464"/>
            <a:ext cx="237744" cy="237744"/>
          </a:xfrm>
          <a:prstGeom prst="ellipse">
            <a:avLst/>
          </a:prstGeom>
          <a:solidFill>
            <a:srgbClr val="E8F0FE"/>
          </a:solidFill>
          <a:ln>
            <a:solidFill>
              <a:srgbClr val="E8F0FE"/>
            </a:solidFill>
          </a:ln>
        </p:spPr>
        <p:txBody>
          <a:bodyPr wrap="square" lIns="0" tIns="0" rIns="0" bIns="0" rtlCol="0" anchor="ctr"/>
          <a:lstStyle/>
          <a:p>
            <a:pPr algn="ctr" indent="0" marL="0">
              <a:buNone/>
            </a:pPr>
            <a:r>
              <a:rPr lang="en-US" sz="920" b="1" dirty="0">
                <a:solidFill>
                  <a:srgbClr val="1A73E8"/>
                </a:solidFill>
              </a:rPr>
              <a:t>3</a:t>
            </a:r>
            <a:endParaRPr lang="en-US" sz="920" dirty="0"/>
          </a:p>
        </p:txBody>
      </p:sp>
      <p:sp>
        <p:nvSpPr>
          <p:cNvPr id="12" name="Text 10"/>
          <p:cNvSpPr/>
          <p:nvPr/>
        </p:nvSpPr>
        <p:spPr>
          <a:xfrm>
            <a:off x="1298448" y="2551176"/>
            <a:ext cx="4663440" cy="274320"/>
          </a:xfrm>
          <a:prstGeom prst="rect">
            <a:avLst/>
          </a:prstGeom>
          <a:noFill/>
          <a:ln/>
        </p:spPr>
        <p:txBody>
          <a:bodyPr wrap="square" lIns="0" tIns="0" rIns="0" bIns="0" rtlCol="0" anchor="ctr"/>
          <a:lstStyle/>
          <a:p>
            <a:pPr indent="0" marL="0">
              <a:buNone/>
            </a:pPr>
            <a:r>
              <a:rPr lang="en-US" sz="1360" dirty="0">
                <a:solidFill>
                  <a:srgbClr val="111827"/>
                </a:solidFill>
              </a:rPr>
              <a:t>Identify missing requirements.</a:t>
            </a:r>
            <a:endParaRPr lang="en-US" sz="1360" dirty="0"/>
          </a:p>
        </p:txBody>
      </p:sp>
      <p:sp>
        <p:nvSpPr>
          <p:cNvPr id="13" name="Text 11"/>
          <p:cNvSpPr/>
          <p:nvPr/>
        </p:nvSpPr>
        <p:spPr>
          <a:xfrm>
            <a:off x="868680" y="3008376"/>
            <a:ext cx="237744" cy="237744"/>
          </a:xfrm>
          <a:prstGeom prst="ellipse">
            <a:avLst/>
          </a:prstGeom>
          <a:solidFill>
            <a:srgbClr val="E8F0FE"/>
          </a:solidFill>
          <a:ln>
            <a:solidFill>
              <a:srgbClr val="E8F0FE"/>
            </a:solidFill>
          </a:ln>
        </p:spPr>
        <p:txBody>
          <a:bodyPr wrap="square" lIns="0" tIns="0" rIns="0" bIns="0" rtlCol="0" anchor="ctr"/>
          <a:lstStyle/>
          <a:p>
            <a:pPr algn="ctr" indent="0" marL="0">
              <a:buNone/>
            </a:pPr>
            <a:r>
              <a:rPr lang="en-US" sz="920" b="1" dirty="0">
                <a:solidFill>
                  <a:srgbClr val="1A73E8"/>
                </a:solidFill>
              </a:rPr>
              <a:t>4</a:t>
            </a:r>
            <a:endParaRPr lang="en-US" sz="920" dirty="0"/>
          </a:p>
        </p:txBody>
      </p:sp>
      <p:sp>
        <p:nvSpPr>
          <p:cNvPr id="14" name="Text 12"/>
          <p:cNvSpPr/>
          <p:nvPr/>
        </p:nvSpPr>
        <p:spPr>
          <a:xfrm>
            <a:off x="1298448" y="2990088"/>
            <a:ext cx="4663440" cy="274320"/>
          </a:xfrm>
          <a:prstGeom prst="rect">
            <a:avLst/>
          </a:prstGeom>
          <a:noFill/>
          <a:ln/>
        </p:spPr>
        <p:txBody>
          <a:bodyPr wrap="square" lIns="0" tIns="0" rIns="0" bIns="0" rtlCol="0" anchor="ctr"/>
          <a:lstStyle/>
          <a:p>
            <a:pPr indent="0" marL="0">
              <a:buNone/>
            </a:pPr>
            <a:r>
              <a:rPr lang="en-US" sz="1360" dirty="0">
                <a:solidFill>
                  <a:srgbClr val="111827"/>
                </a:solidFill>
              </a:rPr>
              <a:t>Examine different design choices.</a:t>
            </a:r>
            <a:endParaRPr lang="en-US" sz="1360" dirty="0"/>
          </a:p>
        </p:txBody>
      </p:sp>
      <p:sp>
        <p:nvSpPr>
          <p:cNvPr id="15" name="Text 13"/>
          <p:cNvSpPr/>
          <p:nvPr/>
        </p:nvSpPr>
        <p:spPr>
          <a:xfrm>
            <a:off x="868680" y="3447288"/>
            <a:ext cx="237744" cy="237744"/>
          </a:xfrm>
          <a:prstGeom prst="ellipse">
            <a:avLst/>
          </a:prstGeom>
          <a:solidFill>
            <a:srgbClr val="E8F0FE"/>
          </a:solidFill>
          <a:ln>
            <a:solidFill>
              <a:srgbClr val="E8F0FE"/>
            </a:solidFill>
          </a:ln>
        </p:spPr>
        <p:txBody>
          <a:bodyPr wrap="square" lIns="0" tIns="0" rIns="0" bIns="0" rtlCol="0" anchor="ctr"/>
          <a:lstStyle/>
          <a:p>
            <a:pPr algn="ctr" indent="0" marL="0">
              <a:buNone/>
            </a:pPr>
            <a:r>
              <a:rPr lang="en-US" sz="920" b="1" dirty="0">
                <a:solidFill>
                  <a:srgbClr val="1A73E8"/>
                </a:solidFill>
              </a:rPr>
              <a:t>5</a:t>
            </a:r>
            <a:endParaRPr lang="en-US" sz="920" dirty="0"/>
          </a:p>
        </p:txBody>
      </p:sp>
      <p:sp>
        <p:nvSpPr>
          <p:cNvPr id="16" name="Text 14"/>
          <p:cNvSpPr/>
          <p:nvPr/>
        </p:nvSpPr>
        <p:spPr>
          <a:xfrm>
            <a:off x="1298448" y="3429000"/>
            <a:ext cx="4663440" cy="274320"/>
          </a:xfrm>
          <a:prstGeom prst="rect">
            <a:avLst/>
          </a:prstGeom>
          <a:noFill/>
          <a:ln/>
        </p:spPr>
        <p:txBody>
          <a:bodyPr wrap="square" lIns="0" tIns="0" rIns="0" bIns="0" rtlCol="0" anchor="ctr"/>
          <a:lstStyle/>
          <a:p>
            <a:pPr indent="0" marL="0">
              <a:buNone/>
            </a:pPr>
            <a:r>
              <a:rPr lang="en-US" sz="1360" dirty="0">
                <a:solidFill>
                  <a:srgbClr val="111827"/>
                </a:solidFill>
              </a:rPr>
              <a:t>Decide whether differences are defects or valid alternatives.</a:t>
            </a:r>
            <a:endParaRPr lang="en-US" sz="1360" dirty="0"/>
          </a:p>
        </p:txBody>
      </p:sp>
      <p:sp>
        <p:nvSpPr>
          <p:cNvPr id="17" name="Text 15"/>
          <p:cNvSpPr/>
          <p:nvPr/>
        </p:nvSpPr>
        <p:spPr>
          <a:xfrm>
            <a:off x="868680" y="3886200"/>
            <a:ext cx="237744" cy="237744"/>
          </a:xfrm>
          <a:prstGeom prst="ellipse">
            <a:avLst/>
          </a:prstGeom>
          <a:solidFill>
            <a:srgbClr val="E8F0FE"/>
          </a:solidFill>
          <a:ln>
            <a:solidFill>
              <a:srgbClr val="E8F0FE"/>
            </a:solidFill>
          </a:ln>
        </p:spPr>
        <p:txBody>
          <a:bodyPr wrap="square" lIns="0" tIns="0" rIns="0" bIns="0" rtlCol="0" anchor="ctr"/>
          <a:lstStyle/>
          <a:p>
            <a:pPr algn="ctr" indent="0" marL="0">
              <a:buNone/>
            </a:pPr>
            <a:r>
              <a:rPr lang="en-US" sz="920" b="1" dirty="0">
                <a:solidFill>
                  <a:srgbClr val="1A73E8"/>
                </a:solidFill>
              </a:rPr>
              <a:t>6</a:t>
            </a:r>
            <a:endParaRPr lang="en-US" sz="920" dirty="0"/>
          </a:p>
        </p:txBody>
      </p:sp>
      <p:sp>
        <p:nvSpPr>
          <p:cNvPr id="18" name="Text 16"/>
          <p:cNvSpPr/>
          <p:nvPr/>
        </p:nvSpPr>
        <p:spPr>
          <a:xfrm>
            <a:off x="1298448" y="3867912"/>
            <a:ext cx="4663440" cy="274320"/>
          </a:xfrm>
          <a:prstGeom prst="rect">
            <a:avLst/>
          </a:prstGeom>
          <a:noFill/>
          <a:ln/>
        </p:spPr>
        <p:txBody>
          <a:bodyPr wrap="square" lIns="0" tIns="0" rIns="0" bIns="0" rtlCol="0" anchor="ctr"/>
          <a:lstStyle/>
          <a:p>
            <a:pPr indent="0" marL="0">
              <a:buNone/>
            </a:pPr>
            <a:r>
              <a:rPr lang="en-US" sz="1360" dirty="0">
                <a:solidFill>
                  <a:srgbClr val="111827"/>
                </a:solidFill>
              </a:rPr>
              <a:t>Run the qualitative grading rubric.</a:t>
            </a:r>
            <a:endParaRPr lang="en-US" sz="1360" dirty="0"/>
          </a:p>
        </p:txBody>
      </p:sp>
      <p:sp>
        <p:nvSpPr>
          <p:cNvPr id="19" name="Text 17"/>
          <p:cNvSpPr/>
          <p:nvPr/>
        </p:nvSpPr>
        <p:spPr>
          <a:xfrm>
            <a:off x="868680" y="4325112"/>
            <a:ext cx="237744" cy="237744"/>
          </a:xfrm>
          <a:prstGeom prst="ellipse">
            <a:avLst/>
          </a:prstGeom>
          <a:solidFill>
            <a:srgbClr val="E8F0FE"/>
          </a:solidFill>
          <a:ln>
            <a:solidFill>
              <a:srgbClr val="E8F0FE"/>
            </a:solidFill>
          </a:ln>
        </p:spPr>
        <p:txBody>
          <a:bodyPr wrap="square" lIns="0" tIns="0" rIns="0" bIns="0" rtlCol="0" anchor="ctr"/>
          <a:lstStyle/>
          <a:p>
            <a:pPr algn="ctr" indent="0" marL="0">
              <a:buNone/>
            </a:pPr>
            <a:r>
              <a:rPr lang="en-US" sz="920" b="1" dirty="0">
                <a:solidFill>
                  <a:srgbClr val="1A73E8"/>
                </a:solidFill>
              </a:rPr>
              <a:t>7</a:t>
            </a:r>
            <a:endParaRPr lang="en-US" sz="920" dirty="0"/>
          </a:p>
        </p:txBody>
      </p:sp>
      <p:sp>
        <p:nvSpPr>
          <p:cNvPr id="20" name="Text 18"/>
          <p:cNvSpPr/>
          <p:nvPr/>
        </p:nvSpPr>
        <p:spPr>
          <a:xfrm>
            <a:off x="1298448" y="4306824"/>
            <a:ext cx="4663440" cy="274320"/>
          </a:xfrm>
          <a:prstGeom prst="rect">
            <a:avLst/>
          </a:prstGeom>
          <a:noFill/>
          <a:ln/>
        </p:spPr>
        <p:txBody>
          <a:bodyPr wrap="square" lIns="0" tIns="0" rIns="0" bIns="0" rtlCol="0" anchor="ctr"/>
          <a:lstStyle/>
          <a:p>
            <a:pPr indent="0" marL="0">
              <a:buNone/>
            </a:pPr>
            <a:r>
              <a:rPr lang="en-US" sz="1360" dirty="0">
                <a:solidFill>
                  <a:srgbClr val="111827"/>
                </a:solidFill>
              </a:rPr>
              <a:t>Revise the highest-priority weakness.</a:t>
            </a:r>
            <a:endParaRPr lang="en-US" sz="1360" dirty="0"/>
          </a:p>
        </p:txBody>
      </p:sp>
      <p:sp>
        <p:nvSpPr>
          <p:cNvPr id="21" name="Text 19"/>
          <p:cNvSpPr/>
          <p:nvPr/>
        </p:nvSpPr>
        <p:spPr>
          <a:xfrm>
            <a:off x="6583680" y="1965960"/>
            <a:ext cx="4480560" cy="1325880"/>
          </a:xfrm>
          <a:prstGeom prst="roundRect">
            <a:avLst>
              <a:gd name="adj" fmla="val 6897"/>
            </a:avLst>
          </a:prstGeom>
          <a:solidFill>
            <a:srgbClr val="E6F4EA"/>
          </a:solidFill>
          <a:ln w="12700">
            <a:solidFill>
              <a:srgbClr val="E6F4EA"/>
            </a:solidFill>
          </a:ln>
        </p:spPr>
        <p:txBody>
          <a:bodyPr wrap="square" lIns="2286" tIns="2286" rIns="2286" bIns="2286" rtlCol="0" anchor="t">
            <a:normAutofit/>
          </a:bodyPr>
          <a:lstStyle/>
          <a:p>
            <a:pPr indent="0" marL="0">
              <a:buNone/>
            </a:pPr>
            <a:r>
              <a:rPr lang="en-US" sz="1500" b="1" dirty="0">
                <a:solidFill>
                  <a:srgbClr val="111827"/>
                </a:solidFill>
                <a:latin typeface="Arial" pitchFamily="34" charset="0"/>
                <a:ea typeface="Arial" pitchFamily="34" charset="-122"/>
                <a:cs typeface="Arial" pitchFamily="34" charset="-120"/>
              </a:rPr>
              <a:t>The reference solution is</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one correct implementation, a comparison point, and a source of engineering discussion.</a:t>
            </a:r>
            <a:endParaRPr lang="en-US" sz="1500" dirty="0"/>
          </a:p>
        </p:txBody>
      </p:sp>
      <p:sp>
        <p:nvSpPr>
          <p:cNvPr id="22" name="Text 20"/>
          <p:cNvSpPr/>
          <p:nvPr/>
        </p:nvSpPr>
        <p:spPr>
          <a:xfrm>
            <a:off x="6583680" y="3794760"/>
            <a:ext cx="4480560" cy="1325880"/>
          </a:xfrm>
          <a:prstGeom prst="roundRect">
            <a:avLst>
              <a:gd name="adj" fmla="val 6897"/>
            </a:avLst>
          </a:prstGeom>
          <a:solidFill>
            <a:srgbClr val="FEF7E0"/>
          </a:solidFill>
          <a:ln w="12700">
            <a:solidFill>
              <a:srgbClr val="FEF7E0"/>
            </a:solidFill>
          </a:ln>
        </p:spPr>
        <p:txBody>
          <a:bodyPr wrap="square" lIns="2286" tIns="2286" rIns="2286" bIns="2286" rtlCol="0" anchor="t">
            <a:normAutofit/>
          </a:bodyPr>
          <a:lstStyle/>
          <a:p>
            <a:pPr indent="0" marL="0">
              <a:buNone/>
            </a:pPr>
            <a:r>
              <a:rPr lang="en-US" sz="1500" b="1" dirty="0">
                <a:solidFill>
                  <a:srgbClr val="111827"/>
                </a:solidFill>
                <a:latin typeface="Arial" pitchFamily="34" charset="0"/>
                <a:ea typeface="Arial" pitchFamily="34" charset="-122"/>
                <a:cs typeface="Arial" pitchFamily="34" charset="-120"/>
              </a:rPr>
              <a:t>The reference solution is not</a:t>
            </a:r>
            <a:endParaRPr lang="en-US" sz="1500" dirty="0"/>
          </a:p>
          <a:p>
            <a:pPr indent="0" marL="0">
              <a:buNone/>
            </a:pPr>
            <a:endParaRPr lang="en-US" sz="1500" dirty="0"/>
          </a:p>
          <a:p>
            <a:pPr indent="0" marL="0">
              <a:buNone/>
            </a:pPr>
            <a:r>
              <a:rPr lang="en-US" sz="1500" dirty="0">
                <a:solidFill>
                  <a:srgbClr val="111827"/>
                </a:solidFill>
                <a:latin typeface="Arial" pitchFamily="34" charset="0"/>
                <a:ea typeface="Arial" pitchFamily="34" charset="-122"/>
                <a:cs typeface="Arial" pitchFamily="34" charset="-120"/>
              </a:rPr>
              <a:t>the only acceptable design, a substitute for understanding, or material to copy before trying.</a:t>
            </a:r>
            <a:endParaRPr lang="en-US" sz="1500" dirty="0"/>
          </a:p>
        </p:txBody>
      </p:sp>
      <p:sp>
        <p:nvSpPr>
          <p:cNvPr id="23" name="Text 21"/>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24" name="Text 22"/>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Phase 7: Advance to the Next Class</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Every class ends with a controlled handoff.</a:t>
            </a:r>
            <a:endParaRPr lang="en-US" sz="1250" dirty="0"/>
          </a:p>
        </p:txBody>
      </p:sp>
      <p:sp>
        <p:nvSpPr>
          <p:cNvPr id="6" name="Text 4"/>
          <p:cNvSpPr/>
          <p:nvPr/>
        </p:nvSpPr>
        <p:spPr>
          <a:xfrm>
            <a:off x="594360" y="1234440"/>
            <a:ext cx="1965960" cy="256032"/>
          </a:xfrm>
          <a:prstGeom prst="roundRect">
            <a:avLst>
              <a:gd name="adj" fmla="val 28571"/>
            </a:avLst>
          </a:prstGeom>
          <a:solidFill>
            <a:srgbClr val="E8F0FE"/>
          </a:solidFill>
          <a:ln>
            <a:solidFill>
              <a:srgbClr val="E8F0FE"/>
            </a:solidFill>
          </a:ln>
        </p:spPr>
        <p:txBody>
          <a:bodyPr wrap="square" lIns="508" tIns="508" rIns="508" bIns="508" rtlCol="0" anchor="ctr"/>
          <a:lstStyle/>
          <a:p>
            <a:pPr algn="ctr" indent="0" marL="0">
              <a:buNone/>
            </a:pPr>
            <a:r>
              <a:rPr lang="en-US" sz="950" b="1" dirty="0">
                <a:solidFill>
                  <a:srgbClr val="1A73E8"/>
                </a:solidFill>
                <a:latin typeface="Arial" pitchFamily="34" charset="0"/>
                <a:ea typeface="Arial" pitchFamily="34" charset="-122"/>
                <a:cs typeface="Arial" pitchFamily="34" charset="-120"/>
              </a:rPr>
              <a:t>CLASS HANDOFF</a:t>
            </a:r>
            <a:endParaRPr lang="en-US" sz="950" dirty="0"/>
          </a:p>
        </p:txBody>
      </p:sp>
      <p:sp>
        <p:nvSpPr>
          <p:cNvPr id="7" name="Text 5"/>
          <p:cNvSpPr/>
          <p:nvPr/>
        </p:nvSpPr>
        <p:spPr>
          <a:xfrm>
            <a:off x="822960" y="1737360"/>
            <a:ext cx="3200400" cy="2103120"/>
          </a:xfrm>
          <a:prstGeom prst="roundRect">
            <a:avLst>
              <a:gd name="adj" fmla="val 4348"/>
            </a:avLst>
          </a:prstGeom>
          <a:solidFill>
            <a:srgbClr val="E8F0FE"/>
          </a:solidFill>
          <a:ln w="12700">
            <a:solidFill>
              <a:srgbClr val="E8F0FE"/>
            </a:solidFill>
          </a:ln>
        </p:spPr>
        <p:txBody>
          <a:bodyPr wrap="square" lIns="2286" tIns="2286" rIns="2286" bIns="2286" rtlCol="0" anchor="t">
            <a:normAutofit/>
          </a:bodyPr>
          <a:lstStyle/>
          <a:p>
            <a:pPr indent="0" marL="0">
              <a:buNone/>
            </a:pPr>
            <a:r>
              <a:rPr lang="en-US" sz="1600" b="1" dirty="0">
                <a:solidFill>
                  <a:srgbClr val="111827"/>
                </a:solidFill>
                <a:latin typeface="Arial" pitchFamily="34" charset="0"/>
                <a:ea typeface="Arial" pitchFamily="34" charset="-122"/>
                <a:cs typeface="Arial" pitchFamily="34" charset="-120"/>
              </a:rPr>
              <a:t>Commit</a:t>
            </a:r>
            <a:endParaRPr lang="en-US" sz="1600" dirty="0"/>
          </a:p>
          <a:p>
            <a:pPr indent="0" marL="0">
              <a:buNone/>
            </a:pP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Save completed work</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Record meaningful changes</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Preserve decisions and experiments</a:t>
            </a:r>
            <a:endParaRPr lang="en-US" sz="1600" dirty="0"/>
          </a:p>
        </p:txBody>
      </p:sp>
      <p:sp>
        <p:nvSpPr>
          <p:cNvPr id="8" name="Text 6"/>
          <p:cNvSpPr/>
          <p:nvPr/>
        </p:nvSpPr>
        <p:spPr>
          <a:xfrm>
            <a:off x="4480560" y="1737360"/>
            <a:ext cx="3200400" cy="2103120"/>
          </a:xfrm>
          <a:prstGeom prst="roundRect">
            <a:avLst>
              <a:gd name="adj" fmla="val 4348"/>
            </a:avLst>
          </a:prstGeom>
          <a:solidFill>
            <a:srgbClr val="F3E8FF"/>
          </a:solidFill>
          <a:ln w="12700">
            <a:solidFill>
              <a:srgbClr val="F3E8FF"/>
            </a:solidFill>
          </a:ln>
        </p:spPr>
        <p:txBody>
          <a:bodyPr wrap="square" lIns="2286" tIns="2286" rIns="2286" bIns="2286" rtlCol="0" anchor="t">
            <a:normAutofit/>
          </a:bodyPr>
          <a:lstStyle/>
          <a:p>
            <a:pPr indent="0" marL="0">
              <a:buNone/>
            </a:pPr>
            <a:r>
              <a:rPr lang="en-US" sz="1600" b="1" dirty="0">
                <a:solidFill>
                  <a:srgbClr val="111827"/>
                </a:solidFill>
                <a:latin typeface="Arial" pitchFamily="34" charset="0"/>
                <a:ea typeface="Arial" pitchFamily="34" charset="-122"/>
                <a:cs typeface="Arial" pitchFamily="34" charset="-120"/>
              </a:rPr>
              <a:t>Reflect</a:t>
            </a:r>
            <a:endParaRPr lang="en-US" sz="1600" dirty="0"/>
          </a:p>
          <a:p>
            <a:pPr indent="0" marL="0">
              <a:buNone/>
            </a:pP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What capability was added?</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What evidence shows it works?</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What remains weak or incomplete?</a:t>
            </a:r>
            <a:endParaRPr lang="en-US" sz="1600" dirty="0"/>
          </a:p>
        </p:txBody>
      </p:sp>
      <p:sp>
        <p:nvSpPr>
          <p:cNvPr id="9" name="Text 7"/>
          <p:cNvSpPr/>
          <p:nvPr/>
        </p:nvSpPr>
        <p:spPr>
          <a:xfrm>
            <a:off x="8138160" y="1737360"/>
            <a:ext cx="3200400" cy="2103120"/>
          </a:xfrm>
          <a:prstGeom prst="roundRect">
            <a:avLst>
              <a:gd name="adj" fmla="val 4348"/>
            </a:avLst>
          </a:prstGeom>
          <a:solidFill>
            <a:srgbClr val="E6F4EA"/>
          </a:solidFill>
          <a:ln w="12700">
            <a:solidFill>
              <a:srgbClr val="E6F4EA"/>
            </a:solidFill>
          </a:ln>
        </p:spPr>
        <p:txBody>
          <a:bodyPr wrap="square" lIns="2286" tIns="2286" rIns="2286" bIns="2286" rtlCol="0" anchor="t">
            <a:normAutofit/>
          </a:bodyPr>
          <a:lstStyle/>
          <a:p>
            <a:pPr indent="0" marL="0">
              <a:buNone/>
            </a:pPr>
            <a:r>
              <a:rPr lang="en-US" sz="1600" b="1" dirty="0">
                <a:solidFill>
                  <a:srgbClr val="111827"/>
                </a:solidFill>
                <a:latin typeface="Arial" pitchFamily="34" charset="0"/>
                <a:ea typeface="Arial" pitchFamily="34" charset="-122"/>
                <a:cs typeface="Arial" pitchFamily="34" charset="-120"/>
              </a:rPr>
              <a:t>Prepare</a:t>
            </a:r>
            <a:endParaRPr lang="en-US" sz="1600" dirty="0"/>
          </a:p>
          <a:p>
            <a:pPr indent="0" marL="0">
              <a:buNone/>
            </a:pP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Complete homework</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Read the next chapter</a:t>
            </a:r>
            <a:endParaRPr lang="en-US" sz="1600" dirty="0"/>
          </a:p>
          <a:p>
            <a:pPr indent="0" marL="0">
              <a:buNone/>
            </a:pPr>
            <a:r>
              <a:rPr lang="en-US" sz="1600" dirty="0">
                <a:solidFill>
                  <a:srgbClr val="111827"/>
                </a:solidFill>
                <a:latin typeface="Arial" pitchFamily="34" charset="0"/>
                <a:ea typeface="Arial" pitchFamily="34" charset="-122"/>
                <a:cs typeface="Arial" pitchFamily="34" charset="-120"/>
              </a:rPr>
              <a:t>Review the next build objective</a:t>
            </a:r>
            <a:endParaRPr lang="en-US" sz="1600" dirty="0"/>
          </a:p>
        </p:txBody>
      </p:sp>
      <p:sp>
        <p:nvSpPr>
          <p:cNvPr id="10" name="Text 8"/>
          <p:cNvSpPr/>
          <p:nvPr/>
        </p:nvSpPr>
        <p:spPr>
          <a:xfrm>
            <a:off x="1920240" y="4617720"/>
            <a:ext cx="3840480" cy="804672"/>
          </a:xfrm>
          <a:prstGeom prst="roundRect">
            <a:avLst>
              <a:gd name="adj" fmla="val 11364"/>
            </a:avLst>
          </a:prstGeom>
          <a:solidFill>
            <a:srgbClr val="E6F4EA"/>
          </a:solidFill>
          <a:ln w="12700">
            <a:solidFill>
              <a:srgbClr val="E6F4EA"/>
            </a:solidFill>
          </a:ln>
        </p:spPr>
        <p:txBody>
          <a:bodyPr wrap="square" lIns="2286" tIns="2286" rIns="2286" bIns="2286" rtlCol="0" anchor="t">
            <a:normAutofit/>
          </a:bodyPr>
          <a:lstStyle/>
          <a:p>
            <a:pPr indent="0" marL="0">
              <a:buNone/>
            </a:pPr>
            <a:r>
              <a:rPr lang="en-US" sz="1400" b="1" dirty="0">
                <a:solidFill>
                  <a:srgbClr val="111827"/>
                </a:solidFill>
                <a:latin typeface="Arial" pitchFamily="34" charset="0"/>
                <a:ea typeface="Arial" pitchFamily="34" charset="-122"/>
                <a:cs typeface="Arial" pitchFamily="34" charset="-120"/>
              </a:rPr>
              <a:t>Ready to move on</a:t>
            </a:r>
            <a:endParaRPr lang="en-US" sz="1400" dirty="0"/>
          </a:p>
          <a:p>
            <a:pPr indent="0" marL="0">
              <a:buNone/>
            </a:pPr>
            <a:endParaRPr lang="en-US" sz="1400" dirty="0"/>
          </a:p>
          <a:p>
            <a:pPr indent="0" marL="0">
              <a:buNone/>
            </a:pPr>
            <a:r>
              <a:rPr lang="en-US" sz="1400" dirty="0">
                <a:solidFill>
                  <a:srgbClr val="111827"/>
                </a:solidFill>
                <a:latin typeface="Arial" pitchFamily="34" charset="0"/>
                <a:ea typeface="Arial" pitchFamily="34" charset="-122"/>
                <a:cs typeface="Arial" pitchFamily="34" charset="-120"/>
              </a:rPr>
              <a:t>Baseline is healthy and next-class bridge is clear.</a:t>
            </a:r>
            <a:endParaRPr lang="en-US" sz="1400" dirty="0"/>
          </a:p>
        </p:txBody>
      </p:sp>
      <p:sp>
        <p:nvSpPr>
          <p:cNvPr id="11" name="Text 9"/>
          <p:cNvSpPr/>
          <p:nvPr/>
        </p:nvSpPr>
        <p:spPr>
          <a:xfrm>
            <a:off x="6400800" y="4617720"/>
            <a:ext cx="3840480" cy="804672"/>
          </a:xfrm>
          <a:prstGeom prst="roundRect">
            <a:avLst>
              <a:gd name="adj" fmla="val 11364"/>
            </a:avLst>
          </a:prstGeom>
          <a:solidFill>
            <a:srgbClr val="FCE8E6"/>
          </a:solidFill>
          <a:ln w="12700">
            <a:solidFill>
              <a:srgbClr val="FCE8E6"/>
            </a:solidFill>
          </a:ln>
        </p:spPr>
        <p:txBody>
          <a:bodyPr wrap="square" lIns="2286" tIns="2286" rIns="2286" bIns="2286" rtlCol="0" anchor="t">
            <a:normAutofit/>
          </a:bodyPr>
          <a:lstStyle/>
          <a:p>
            <a:pPr indent="0" marL="0">
              <a:buNone/>
            </a:pPr>
            <a:r>
              <a:rPr lang="en-US" sz="1400" b="1" dirty="0">
                <a:solidFill>
                  <a:srgbClr val="111827"/>
                </a:solidFill>
                <a:latin typeface="Arial" pitchFamily="34" charset="0"/>
                <a:ea typeface="Arial" pitchFamily="34" charset="-122"/>
                <a:cs typeface="Arial" pitchFamily="34" charset="-120"/>
              </a:rPr>
              <a:t>Needs revision</a:t>
            </a:r>
            <a:endParaRPr lang="en-US" sz="1400" dirty="0"/>
          </a:p>
          <a:p>
            <a:pPr indent="0" marL="0">
              <a:buNone/>
            </a:pPr>
            <a:endParaRPr lang="en-US" sz="1400" dirty="0"/>
          </a:p>
          <a:p>
            <a:pPr indent="0" marL="0">
              <a:buNone/>
            </a:pPr>
            <a:r>
              <a:rPr lang="en-US" sz="1400" dirty="0">
                <a:solidFill>
                  <a:srgbClr val="111827"/>
                </a:solidFill>
                <a:latin typeface="Arial" pitchFamily="34" charset="0"/>
                <a:ea typeface="Arial" pitchFamily="34" charset="-122"/>
                <a:cs typeface="Arial" pitchFamily="34" charset="-120"/>
              </a:rPr>
              <a:t>One prioritized correction is identified.</a:t>
            </a:r>
            <a:endParaRPr lang="en-US" sz="1400" dirty="0"/>
          </a:p>
        </p:txBody>
      </p:sp>
      <p:sp>
        <p:nvSpPr>
          <p:cNvPr id="12" name="Text 10"/>
          <p:cNvSpPr/>
          <p:nvPr/>
        </p:nvSpPr>
        <p:spPr>
          <a:xfrm>
            <a:off x="914400" y="5870448"/>
            <a:ext cx="10332720" cy="283464"/>
          </a:xfrm>
          <a:prstGeom prst="rect">
            <a:avLst/>
          </a:prstGeom>
          <a:noFill/>
          <a:ln/>
        </p:spPr>
        <p:txBody>
          <a:bodyPr wrap="square" lIns="0" tIns="0" rIns="0" bIns="0" rtlCol="0" anchor="ctr"/>
          <a:lstStyle/>
          <a:p>
            <a:pPr algn="ctr" indent="0" marL="0">
              <a:buNone/>
            </a:pPr>
            <a:r>
              <a:rPr lang="en-US" sz="1550" b="1" dirty="0">
                <a:solidFill>
                  <a:srgbClr val="111827"/>
                </a:solidFill>
              </a:rPr>
              <a:t>Every class leaves behind a working checkpoint and a clear bridge to the next one.</a:t>
            </a:r>
            <a:endParaRPr lang="en-US" sz="1550" dirty="0"/>
          </a:p>
        </p:txBody>
      </p:sp>
      <p:sp>
        <p:nvSpPr>
          <p:cNvPr id="13" name="Text 11"/>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14" name="Text 12"/>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566928" y="384048"/>
            <a:ext cx="9875520" cy="502920"/>
          </a:xfrm>
          <a:prstGeom prst="rect">
            <a:avLst/>
          </a:prstGeom>
          <a:noFill/>
          <a:ln/>
        </p:spPr>
        <p:txBody>
          <a:bodyPr wrap="square" lIns="0" tIns="0" rIns="0" bIns="0" rtlCol="0" anchor="ctr"/>
          <a:lstStyle/>
          <a:p>
            <a:pPr indent="0" marL="0">
              <a:buNone/>
            </a:pPr>
            <a:r>
              <a:rPr lang="en-US" sz="2800" b="1" dirty="0">
                <a:solidFill>
                  <a:srgbClr val="111827"/>
                </a:solidFill>
                <a:latin typeface="Arial" pitchFamily="34" charset="0"/>
                <a:ea typeface="Arial" pitchFamily="34" charset="-122"/>
                <a:cs typeface="Arial" pitchFamily="34" charset="-120"/>
              </a:rPr>
              <a:t>Class 1 Setup Policy</a:t>
            </a:r>
            <a:endParaRPr lang="en-US" sz="2800" dirty="0"/>
          </a:p>
        </p:txBody>
      </p:sp>
      <p:sp>
        <p:nvSpPr>
          <p:cNvPr id="5" name="Text 3"/>
          <p:cNvSpPr/>
          <p:nvPr/>
        </p:nvSpPr>
        <p:spPr>
          <a:xfrm>
            <a:off x="594360" y="932688"/>
            <a:ext cx="9875520" cy="292608"/>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Separate preflight installation from guided onboarding.</a:t>
            </a:r>
            <a:endParaRPr lang="en-US" sz="1250" dirty="0"/>
          </a:p>
        </p:txBody>
      </p:sp>
      <p:sp>
        <p:nvSpPr>
          <p:cNvPr id="6" name="Text 4"/>
          <p:cNvSpPr/>
          <p:nvPr/>
        </p:nvSpPr>
        <p:spPr>
          <a:xfrm>
            <a:off x="594360" y="1234440"/>
            <a:ext cx="1965960" cy="256032"/>
          </a:xfrm>
          <a:prstGeom prst="roundRect">
            <a:avLst>
              <a:gd name="adj" fmla="val 28571"/>
            </a:avLst>
          </a:prstGeom>
          <a:solidFill>
            <a:srgbClr val="E8F0FE"/>
          </a:solidFill>
          <a:ln>
            <a:solidFill>
              <a:srgbClr val="E8F0FE"/>
            </a:solidFill>
          </a:ln>
        </p:spPr>
        <p:txBody>
          <a:bodyPr wrap="square" lIns="508" tIns="508" rIns="508" bIns="508" rtlCol="0" anchor="ctr"/>
          <a:lstStyle/>
          <a:p>
            <a:pPr algn="ctr" indent="0" marL="0">
              <a:buNone/>
            </a:pPr>
            <a:r>
              <a:rPr lang="en-US" sz="950" b="1" dirty="0">
                <a:solidFill>
                  <a:srgbClr val="1A73E8"/>
                </a:solidFill>
                <a:latin typeface="Arial" pitchFamily="34" charset="0"/>
                <a:ea typeface="Arial" pitchFamily="34" charset="-122"/>
                <a:cs typeface="Arial" pitchFamily="34" charset="-120"/>
              </a:rPr>
              <a:t>SETUP DISCIPLINE</a:t>
            </a:r>
            <a:endParaRPr lang="en-US" sz="950" dirty="0"/>
          </a:p>
        </p:txBody>
      </p:sp>
      <p:sp>
        <p:nvSpPr>
          <p:cNvPr id="7" name="Text 5"/>
          <p:cNvSpPr/>
          <p:nvPr/>
        </p:nvSpPr>
        <p:spPr>
          <a:xfrm>
            <a:off x="868680" y="1691640"/>
            <a:ext cx="4983480" cy="2057400"/>
          </a:xfrm>
          <a:prstGeom prst="roundRect">
            <a:avLst>
              <a:gd name="adj" fmla="val 4444"/>
            </a:avLst>
          </a:prstGeom>
          <a:solidFill>
            <a:srgbClr val="F8FAFC"/>
          </a:solidFill>
          <a:ln w="12700">
            <a:solidFill>
              <a:srgbClr val="E5E7EB"/>
            </a:solidFill>
          </a:ln>
        </p:spPr>
        <p:txBody>
          <a:bodyPr wrap="square" lIns="2286" tIns="2286" rIns="2286" bIns="2286" rtlCol="0" anchor="t">
            <a:normAutofit/>
          </a:bodyPr>
          <a:lstStyle/>
          <a:p>
            <a:pPr indent="0" marL="0">
              <a:buNone/>
            </a:pPr>
            <a:r>
              <a:rPr lang="en-US" sz="1550" b="1" dirty="0">
                <a:solidFill>
                  <a:srgbClr val="111827"/>
                </a:solidFill>
                <a:latin typeface="Arial" pitchFamily="34" charset="0"/>
                <a:ea typeface="Arial" pitchFamily="34" charset="-122"/>
                <a:cs typeface="Arial" pitchFamily="34" charset="-120"/>
              </a:rPr>
              <a:t>Before Class 1: prerequisite preflight</a:t>
            </a:r>
            <a:endParaRPr lang="en-US" sz="1550" dirty="0"/>
          </a:p>
          <a:p>
            <a:pPr indent="0" marL="0">
              <a:buNone/>
            </a:pP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Git and GitHub access</a:t>
            </a: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Python version</a:t>
            </a: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Google account or cloud access</a:t>
            </a: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Antigravity installation or availability</a:t>
            </a: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Repository access</a:t>
            </a: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Required extensions or command-line tools</a:t>
            </a:r>
            <a:endParaRPr lang="en-US" sz="1550" dirty="0"/>
          </a:p>
        </p:txBody>
      </p:sp>
      <p:sp>
        <p:nvSpPr>
          <p:cNvPr id="8" name="Text 6"/>
          <p:cNvSpPr/>
          <p:nvPr/>
        </p:nvSpPr>
        <p:spPr>
          <a:xfrm>
            <a:off x="6355080" y="1691640"/>
            <a:ext cx="4983480" cy="2057400"/>
          </a:xfrm>
          <a:prstGeom prst="roundRect">
            <a:avLst>
              <a:gd name="adj" fmla="val 4444"/>
            </a:avLst>
          </a:prstGeom>
          <a:solidFill>
            <a:srgbClr val="E8F0FE"/>
          </a:solidFill>
          <a:ln w="12700">
            <a:solidFill>
              <a:srgbClr val="E8F0FE"/>
            </a:solidFill>
          </a:ln>
        </p:spPr>
        <p:txBody>
          <a:bodyPr wrap="square" lIns="2286" tIns="2286" rIns="2286" bIns="2286" rtlCol="0" anchor="t">
            <a:normAutofit/>
          </a:bodyPr>
          <a:lstStyle/>
          <a:p>
            <a:pPr indent="0" marL="0">
              <a:buNone/>
            </a:pPr>
            <a:r>
              <a:rPr lang="en-US" sz="1550" b="1" dirty="0">
                <a:solidFill>
                  <a:srgbClr val="111827"/>
                </a:solidFill>
                <a:latin typeface="Arial" pitchFamily="34" charset="0"/>
                <a:ea typeface="Arial" pitchFamily="34" charset="-122"/>
                <a:cs typeface="Arial" pitchFamily="34" charset="-120"/>
              </a:rPr>
              <a:t>During Class 1: guided verification</a:t>
            </a:r>
            <a:endParaRPr lang="en-US" sz="1550" dirty="0"/>
          </a:p>
          <a:p>
            <a:pPr indent="0" marL="0">
              <a:buNone/>
            </a:pP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Open Antigravity</a:t>
            </a: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Understand repository organization</a:t>
            </a: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Create learner workspace</a:t>
            </a: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Retrieve the initial baseline</a:t>
            </a: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Run the health check</a:t>
            </a:r>
            <a:endParaRPr lang="en-US" sz="1550" dirty="0"/>
          </a:p>
          <a:p>
            <a:pPr indent="0" marL="0">
              <a:buNone/>
            </a:pPr>
            <a:r>
              <a:rPr lang="en-US" sz="1550" dirty="0">
                <a:solidFill>
                  <a:srgbClr val="111827"/>
                </a:solidFill>
                <a:latin typeface="Arial" pitchFamily="34" charset="0"/>
                <a:ea typeface="Arial" pitchFamily="34" charset="-122"/>
                <a:cs typeface="Arial" pitchFamily="34" charset="-120"/>
              </a:rPr>
              <a:t>Resolve common access or environment issues</a:t>
            </a:r>
            <a:endParaRPr lang="en-US" sz="1550" dirty="0"/>
          </a:p>
        </p:txBody>
      </p:sp>
      <p:sp>
        <p:nvSpPr>
          <p:cNvPr id="9" name="Text 7"/>
          <p:cNvSpPr/>
          <p:nvPr/>
        </p:nvSpPr>
        <p:spPr>
          <a:xfrm>
            <a:off x="1143000" y="5166360"/>
            <a:ext cx="9875520" cy="384048"/>
          </a:xfrm>
          <a:prstGeom prst="rect">
            <a:avLst/>
          </a:prstGeom>
          <a:noFill/>
          <a:ln/>
        </p:spPr>
        <p:txBody>
          <a:bodyPr wrap="square" lIns="0" tIns="0" rIns="0" bIns="0" rtlCol="0" anchor="ctr"/>
          <a:lstStyle/>
          <a:p>
            <a:pPr algn="ctr" indent="0" marL="0">
              <a:buNone/>
            </a:pPr>
            <a:r>
              <a:rPr lang="en-US" sz="1800" b="1" dirty="0">
                <a:solidFill>
                  <a:srgbClr val="111827"/>
                </a:solidFill>
              </a:rPr>
              <a:t>Class time should prove readiness, not disappear into avoidable installation problems.</a:t>
            </a:r>
            <a:endParaRPr lang="en-US" sz="1800" dirty="0"/>
          </a:p>
        </p:txBody>
      </p:sp>
      <p:sp>
        <p:nvSpPr>
          <p:cNvPr id="10" name="Text 8"/>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11" name="Text 9"/>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6601968"/>
            <a:ext cx="12191695" cy="256032"/>
          </a:xfrm>
          <a:prstGeom prst="rect">
            <a:avLst/>
          </a:prstGeom>
          <a:solidFill>
            <a:srgbClr val="F8FAFC"/>
          </a:solidFill>
          <a:ln w="12700">
            <a:solidFill>
              <a:srgbClr val="F8FAFC"/>
            </a:solidFill>
            <a:prstDash val="solid"/>
          </a:ln>
        </p:spPr>
      </p:sp>
      <p:sp>
        <p:nvSpPr>
          <p:cNvPr id="4" name="Text 2"/>
          <p:cNvSpPr/>
          <p:nvPr/>
        </p:nvSpPr>
        <p:spPr>
          <a:xfrm>
            <a:off x="685800" y="685800"/>
            <a:ext cx="6858000" cy="530352"/>
          </a:xfrm>
          <a:prstGeom prst="rect">
            <a:avLst/>
          </a:prstGeom>
          <a:noFill/>
          <a:ln/>
        </p:spPr>
        <p:txBody>
          <a:bodyPr wrap="square" lIns="0" tIns="0" rIns="0" bIns="0" rtlCol="0" anchor="ctr"/>
          <a:lstStyle/>
          <a:p>
            <a:pPr indent="0" marL="0">
              <a:buNone/>
            </a:pPr>
            <a:r>
              <a:rPr lang="en-US" sz="3100" b="1" dirty="0">
                <a:solidFill>
                  <a:srgbClr val="111827"/>
                </a:solidFill>
              </a:rPr>
              <a:t>Class 1 Exit Check</a:t>
            </a:r>
            <a:endParaRPr lang="en-US" sz="3100" dirty="0"/>
          </a:p>
        </p:txBody>
      </p:sp>
      <p:sp>
        <p:nvSpPr>
          <p:cNvPr id="5" name="Text 3"/>
          <p:cNvSpPr/>
          <p:nvPr/>
        </p:nvSpPr>
        <p:spPr>
          <a:xfrm>
            <a:off x="713232" y="1298448"/>
            <a:ext cx="7955280" cy="310896"/>
          </a:xfrm>
          <a:prstGeom prst="rect">
            <a:avLst/>
          </a:prstGeom>
          <a:noFill/>
          <a:ln/>
        </p:spPr>
        <p:txBody>
          <a:bodyPr wrap="square" lIns="0" tIns="0" rIns="0" bIns="0" rtlCol="0" anchor="ctr"/>
          <a:lstStyle/>
          <a:p>
            <a:pPr indent="0" marL="0">
              <a:buNone/>
            </a:pPr>
            <a:r>
              <a:rPr lang="en-US" sz="1500" dirty="0">
                <a:solidFill>
                  <a:srgbClr val="475569"/>
                </a:solidFill>
              </a:rPr>
              <a:t>Before we end the class, every learner should be able to answer “yes” to these checks.</a:t>
            </a:r>
            <a:endParaRPr lang="en-US" sz="1500" dirty="0"/>
          </a:p>
        </p:txBody>
      </p:sp>
      <p:sp>
        <p:nvSpPr>
          <p:cNvPr id="6" name="Text 4"/>
          <p:cNvSpPr/>
          <p:nvPr/>
        </p:nvSpPr>
        <p:spPr>
          <a:xfrm>
            <a:off x="914400" y="1965960"/>
            <a:ext cx="320040" cy="320040"/>
          </a:xfrm>
          <a:prstGeom prst="rect">
            <a:avLst/>
          </a:prstGeom>
          <a:noFill/>
          <a:ln/>
        </p:spPr>
        <p:txBody>
          <a:bodyPr wrap="square" lIns="0" tIns="0" rIns="0" bIns="0" rtlCol="0" anchor="ctr"/>
          <a:lstStyle/>
          <a:p>
            <a:pPr algn="ctr" indent="0" marL="0">
              <a:buNone/>
            </a:pPr>
            <a:r>
              <a:rPr lang="en-US" sz="1600" b="1" dirty="0">
                <a:solidFill>
                  <a:srgbClr val="34A853"/>
                </a:solidFill>
              </a:rPr>
              <a:t>✓</a:t>
            </a:r>
            <a:endParaRPr lang="en-US" sz="1600" dirty="0"/>
          </a:p>
        </p:txBody>
      </p:sp>
      <p:sp>
        <p:nvSpPr>
          <p:cNvPr id="7" name="Text 5"/>
          <p:cNvSpPr/>
          <p:nvPr/>
        </p:nvSpPr>
        <p:spPr>
          <a:xfrm>
            <a:off x="1353312" y="1975104"/>
            <a:ext cx="4434840" cy="274320"/>
          </a:xfrm>
          <a:prstGeom prst="rect">
            <a:avLst/>
          </a:prstGeom>
          <a:noFill/>
          <a:ln/>
        </p:spPr>
        <p:txBody>
          <a:bodyPr wrap="square" lIns="0" tIns="0" rIns="0" bIns="0" rtlCol="0" anchor="ctr"/>
          <a:lstStyle/>
          <a:p>
            <a:pPr indent="0" marL="0">
              <a:buNone/>
            </a:pPr>
            <a:r>
              <a:rPr lang="en-US" sz="1350" dirty="0">
                <a:solidFill>
                  <a:srgbClr val="111827"/>
                </a:solidFill>
              </a:rPr>
              <a:t>I can access the GitHub course repository.</a:t>
            </a:r>
            <a:endParaRPr lang="en-US" sz="1350" dirty="0"/>
          </a:p>
        </p:txBody>
      </p:sp>
      <p:sp>
        <p:nvSpPr>
          <p:cNvPr id="8" name="Text 6"/>
          <p:cNvSpPr/>
          <p:nvPr/>
        </p:nvSpPr>
        <p:spPr>
          <a:xfrm>
            <a:off x="914400" y="2606040"/>
            <a:ext cx="320040" cy="320040"/>
          </a:xfrm>
          <a:prstGeom prst="rect">
            <a:avLst/>
          </a:prstGeom>
          <a:noFill/>
          <a:ln/>
        </p:spPr>
        <p:txBody>
          <a:bodyPr wrap="square" lIns="0" tIns="0" rIns="0" bIns="0" rtlCol="0" anchor="ctr"/>
          <a:lstStyle/>
          <a:p>
            <a:pPr algn="ctr" indent="0" marL="0">
              <a:buNone/>
            </a:pPr>
            <a:r>
              <a:rPr lang="en-US" sz="1600" b="1" dirty="0">
                <a:solidFill>
                  <a:srgbClr val="34A853"/>
                </a:solidFill>
              </a:rPr>
              <a:t>✓</a:t>
            </a:r>
            <a:endParaRPr lang="en-US" sz="1600" dirty="0"/>
          </a:p>
        </p:txBody>
      </p:sp>
      <p:sp>
        <p:nvSpPr>
          <p:cNvPr id="9" name="Text 7"/>
          <p:cNvSpPr/>
          <p:nvPr/>
        </p:nvSpPr>
        <p:spPr>
          <a:xfrm>
            <a:off x="1353312" y="2615184"/>
            <a:ext cx="4434840" cy="274320"/>
          </a:xfrm>
          <a:prstGeom prst="rect">
            <a:avLst/>
          </a:prstGeom>
          <a:noFill/>
          <a:ln/>
        </p:spPr>
        <p:txBody>
          <a:bodyPr wrap="square" lIns="0" tIns="0" rIns="0" bIns="0" rtlCol="0" anchor="ctr"/>
          <a:lstStyle/>
          <a:p>
            <a:pPr indent="0" marL="0">
              <a:buNone/>
            </a:pPr>
            <a:r>
              <a:rPr lang="en-US" sz="1350" dirty="0">
                <a:solidFill>
                  <a:srgbClr val="111827"/>
                </a:solidFill>
              </a:rPr>
              <a:t>I have forked the repository under my GitHub account.</a:t>
            </a:r>
            <a:endParaRPr lang="en-US" sz="1350" dirty="0"/>
          </a:p>
        </p:txBody>
      </p:sp>
      <p:sp>
        <p:nvSpPr>
          <p:cNvPr id="10" name="Text 8"/>
          <p:cNvSpPr/>
          <p:nvPr/>
        </p:nvSpPr>
        <p:spPr>
          <a:xfrm>
            <a:off x="914400" y="3246120"/>
            <a:ext cx="320040" cy="320040"/>
          </a:xfrm>
          <a:prstGeom prst="rect">
            <a:avLst/>
          </a:prstGeom>
          <a:noFill/>
          <a:ln/>
        </p:spPr>
        <p:txBody>
          <a:bodyPr wrap="square" lIns="0" tIns="0" rIns="0" bIns="0" rtlCol="0" anchor="ctr"/>
          <a:lstStyle/>
          <a:p>
            <a:pPr algn="ctr" indent="0" marL="0">
              <a:buNone/>
            </a:pPr>
            <a:r>
              <a:rPr lang="en-US" sz="1600" b="1" dirty="0">
                <a:solidFill>
                  <a:srgbClr val="34A853"/>
                </a:solidFill>
              </a:rPr>
              <a:t>✓</a:t>
            </a:r>
            <a:endParaRPr lang="en-US" sz="1600" dirty="0"/>
          </a:p>
        </p:txBody>
      </p:sp>
      <p:sp>
        <p:nvSpPr>
          <p:cNvPr id="11" name="Text 9"/>
          <p:cNvSpPr/>
          <p:nvPr/>
        </p:nvSpPr>
        <p:spPr>
          <a:xfrm>
            <a:off x="1353312" y="3255264"/>
            <a:ext cx="4434840" cy="274320"/>
          </a:xfrm>
          <a:prstGeom prst="rect">
            <a:avLst/>
          </a:prstGeom>
          <a:noFill/>
          <a:ln/>
        </p:spPr>
        <p:txBody>
          <a:bodyPr wrap="square" lIns="0" tIns="0" rIns="0" bIns="0" rtlCol="0" anchor="ctr"/>
          <a:lstStyle/>
          <a:p>
            <a:pPr indent="0" marL="0">
              <a:buNone/>
            </a:pPr>
            <a:r>
              <a:rPr lang="en-US" sz="1350" dirty="0">
                <a:solidFill>
                  <a:srgbClr val="111827"/>
                </a:solidFill>
              </a:rPr>
              <a:t>I have cloned my fork locally once.</a:t>
            </a:r>
            <a:endParaRPr lang="en-US" sz="1350" dirty="0"/>
          </a:p>
        </p:txBody>
      </p:sp>
      <p:sp>
        <p:nvSpPr>
          <p:cNvPr id="12" name="Text 10"/>
          <p:cNvSpPr/>
          <p:nvPr/>
        </p:nvSpPr>
        <p:spPr>
          <a:xfrm>
            <a:off x="914400" y="3886200"/>
            <a:ext cx="320040" cy="320040"/>
          </a:xfrm>
          <a:prstGeom prst="rect">
            <a:avLst/>
          </a:prstGeom>
          <a:noFill/>
          <a:ln/>
        </p:spPr>
        <p:txBody>
          <a:bodyPr wrap="square" lIns="0" tIns="0" rIns="0" bIns="0" rtlCol="0" anchor="ctr"/>
          <a:lstStyle/>
          <a:p>
            <a:pPr algn="ctr" indent="0" marL="0">
              <a:buNone/>
            </a:pPr>
            <a:r>
              <a:rPr lang="en-US" sz="1600" b="1" dirty="0">
                <a:solidFill>
                  <a:srgbClr val="34A853"/>
                </a:solidFill>
              </a:rPr>
              <a:t>✓</a:t>
            </a:r>
            <a:endParaRPr lang="en-US" sz="1600" dirty="0"/>
          </a:p>
        </p:txBody>
      </p:sp>
      <p:sp>
        <p:nvSpPr>
          <p:cNvPr id="13" name="Text 11"/>
          <p:cNvSpPr/>
          <p:nvPr/>
        </p:nvSpPr>
        <p:spPr>
          <a:xfrm>
            <a:off x="1353312" y="3895344"/>
            <a:ext cx="4434840" cy="274320"/>
          </a:xfrm>
          <a:prstGeom prst="rect">
            <a:avLst/>
          </a:prstGeom>
          <a:noFill/>
          <a:ln/>
        </p:spPr>
        <p:txBody>
          <a:bodyPr wrap="square" lIns="0" tIns="0" rIns="0" bIns="0" rtlCol="0" anchor="ctr"/>
          <a:lstStyle/>
          <a:p>
            <a:pPr indent="0" marL="0">
              <a:buNone/>
            </a:pPr>
            <a:r>
              <a:rPr lang="en-US" sz="1350" dirty="0">
                <a:solidFill>
                  <a:srgbClr val="111827"/>
                </a:solidFill>
              </a:rPr>
              <a:t>I understand how upstream synchronization works.</a:t>
            </a:r>
            <a:endParaRPr lang="en-US" sz="1350" dirty="0"/>
          </a:p>
        </p:txBody>
      </p:sp>
      <p:sp>
        <p:nvSpPr>
          <p:cNvPr id="14" name="Text 12"/>
          <p:cNvSpPr/>
          <p:nvPr/>
        </p:nvSpPr>
        <p:spPr>
          <a:xfrm>
            <a:off x="6080760" y="1965960"/>
            <a:ext cx="320040" cy="320040"/>
          </a:xfrm>
          <a:prstGeom prst="rect">
            <a:avLst/>
          </a:prstGeom>
          <a:noFill/>
          <a:ln/>
        </p:spPr>
        <p:txBody>
          <a:bodyPr wrap="square" lIns="0" tIns="0" rIns="0" bIns="0" rtlCol="0" anchor="ctr"/>
          <a:lstStyle/>
          <a:p>
            <a:pPr algn="ctr" indent="0" marL="0">
              <a:buNone/>
            </a:pPr>
            <a:r>
              <a:rPr lang="en-US" sz="1600" b="1" dirty="0">
                <a:solidFill>
                  <a:srgbClr val="34A853"/>
                </a:solidFill>
              </a:rPr>
              <a:t>✓</a:t>
            </a:r>
            <a:endParaRPr lang="en-US" sz="1600" dirty="0"/>
          </a:p>
        </p:txBody>
      </p:sp>
      <p:sp>
        <p:nvSpPr>
          <p:cNvPr id="15" name="Text 13"/>
          <p:cNvSpPr/>
          <p:nvPr/>
        </p:nvSpPr>
        <p:spPr>
          <a:xfrm>
            <a:off x="6519672" y="1975104"/>
            <a:ext cx="4434840" cy="274320"/>
          </a:xfrm>
          <a:prstGeom prst="rect">
            <a:avLst/>
          </a:prstGeom>
          <a:noFill/>
          <a:ln/>
        </p:spPr>
        <p:txBody>
          <a:bodyPr wrap="square" lIns="0" tIns="0" rIns="0" bIns="0" rtlCol="0" anchor="ctr"/>
          <a:lstStyle/>
          <a:p>
            <a:pPr indent="0" marL="0">
              <a:buNone/>
            </a:pPr>
            <a:r>
              <a:rPr lang="en-US" sz="1350" dirty="0">
                <a:solidFill>
                  <a:srgbClr val="111827"/>
                </a:solidFill>
              </a:rPr>
              <a:t>I can open the course workspace in Antigravity.</a:t>
            </a:r>
            <a:endParaRPr lang="en-US" sz="1350" dirty="0"/>
          </a:p>
        </p:txBody>
      </p:sp>
      <p:sp>
        <p:nvSpPr>
          <p:cNvPr id="16" name="Text 14"/>
          <p:cNvSpPr/>
          <p:nvPr/>
        </p:nvSpPr>
        <p:spPr>
          <a:xfrm>
            <a:off x="6080760" y="2606040"/>
            <a:ext cx="320040" cy="320040"/>
          </a:xfrm>
          <a:prstGeom prst="rect">
            <a:avLst/>
          </a:prstGeom>
          <a:noFill/>
          <a:ln/>
        </p:spPr>
        <p:txBody>
          <a:bodyPr wrap="square" lIns="0" tIns="0" rIns="0" bIns="0" rtlCol="0" anchor="ctr"/>
          <a:lstStyle/>
          <a:p>
            <a:pPr algn="ctr" indent="0" marL="0">
              <a:buNone/>
            </a:pPr>
            <a:r>
              <a:rPr lang="en-US" sz="1600" b="1" dirty="0">
                <a:solidFill>
                  <a:srgbClr val="34A853"/>
                </a:solidFill>
              </a:rPr>
              <a:t>✓</a:t>
            </a:r>
            <a:endParaRPr lang="en-US" sz="1600" dirty="0"/>
          </a:p>
        </p:txBody>
      </p:sp>
      <p:sp>
        <p:nvSpPr>
          <p:cNvPr id="17" name="Text 15"/>
          <p:cNvSpPr/>
          <p:nvPr/>
        </p:nvSpPr>
        <p:spPr>
          <a:xfrm>
            <a:off x="6519672" y="2615184"/>
            <a:ext cx="4434840" cy="274320"/>
          </a:xfrm>
          <a:prstGeom prst="rect">
            <a:avLst/>
          </a:prstGeom>
          <a:noFill/>
          <a:ln/>
        </p:spPr>
        <p:txBody>
          <a:bodyPr wrap="square" lIns="0" tIns="0" rIns="0" bIns="0" rtlCol="0" anchor="ctr"/>
          <a:lstStyle/>
          <a:p>
            <a:pPr indent="0" marL="0">
              <a:buNone/>
            </a:pPr>
            <a:r>
              <a:rPr lang="en-US" sz="1350" dirty="0">
                <a:solidFill>
                  <a:srgbClr val="111827"/>
                </a:solidFill>
              </a:rPr>
              <a:t>I can restore the initial baseline and run verification.</a:t>
            </a:r>
            <a:endParaRPr lang="en-US" sz="1350" dirty="0"/>
          </a:p>
        </p:txBody>
      </p:sp>
      <p:sp>
        <p:nvSpPr>
          <p:cNvPr id="18" name="Text 16"/>
          <p:cNvSpPr/>
          <p:nvPr/>
        </p:nvSpPr>
        <p:spPr>
          <a:xfrm>
            <a:off x="6080760" y="3246120"/>
            <a:ext cx="320040" cy="320040"/>
          </a:xfrm>
          <a:prstGeom prst="rect">
            <a:avLst/>
          </a:prstGeom>
          <a:noFill/>
          <a:ln/>
        </p:spPr>
        <p:txBody>
          <a:bodyPr wrap="square" lIns="0" tIns="0" rIns="0" bIns="0" rtlCol="0" anchor="ctr"/>
          <a:lstStyle/>
          <a:p>
            <a:pPr algn="ctr" indent="0" marL="0">
              <a:buNone/>
            </a:pPr>
            <a:r>
              <a:rPr lang="en-US" sz="1600" b="1" dirty="0">
                <a:solidFill>
                  <a:srgbClr val="34A853"/>
                </a:solidFill>
              </a:rPr>
              <a:t>✓</a:t>
            </a:r>
            <a:endParaRPr lang="en-US" sz="1600" dirty="0"/>
          </a:p>
        </p:txBody>
      </p:sp>
      <p:sp>
        <p:nvSpPr>
          <p:cNvPr id="19" name="Text 17"/>
          <p:cNvSpPr/>
          <p:nvPr/>
        </p:nvSpPr>
        <p:spPr>
          <a:xfrm>
            <a:off x="6519672" y="3255264"/>
            <a:ext cx="4434840" cy="274320"/>
          </a:xfrm>
          <a:prstGeom prst="rect">
            <a:avLst/>
          </a:prstGeom>
          <a:noFill/>
          <a:ln/>
        </p:spPr>
        <p:txBody>
          <a:bodyPr wrap="square" lIns="0" tIns="0" rIns="0" bIns="0" rtlCol="0" anchor="ctr"/>
          <a:lstStyle/>
          <a:p>
            <a:pPr indent="0" marL="0">
              <a:buNone/>
            </a:pPr>
            <a:r>
              <a:rPr lang="en-US" sz="1350" dirty="0">
                <a:solidFill>
                  <a:srgbClr val="111827"/>
                </a:solidFill>
              </a:rPr>
              <a:t>I understand the seven-phase class rhythm.</a:t>
            </a:r>
            <a:endParaRPr lang="en-US" sz="1350" dirty="0"/>
          </a:p>
        </p:txBody>
      </p:sp>
      <p:sp>
        <p:nvSpPr>
          <p:cNvPr id="20" name="Text 18"/>
          <p:cNvSpPr/>
          <p:nvPr/>
        </p:nvSpPr>
        <p:spPr>
          <a:xfrm>
            <a:off x="6080760" y="3886200"/>
            <a:ext cx="320040" cy="320040"/>
          </a:xfrm>
          <a:prstGeom prst="rect">
            <a:avLst/>
          </a:prstGeom>
          <a:noFill/>
          <a:ln/>
        </p:spPr>
        <p:txBody>
          <a:bodyPr wrap="square" lIns="0" tIns="0" rIns="0" bIns="0" rtlCol="0" anchor="ctr"/>
          <a:lstStyle/>
          <a:p>
            <a:pPr algn="ctr" indent="0" marL="0">
              <a:buNone/>
            </a:pPr>
            <a:r>
              <a:rPr lang="en-US" sz="1600" b="1" dirty="0">
                <a:solidFill>
                  <a:srgbClr val="34A853"/>
                </a:solidFill>
              </a:rPr>
              <a:t>✓</a:t>
            </a:r>
            <a:endParaRPr lang="en-US" sz="1600" dirty="0"/>
          </a:p>
        </p:txBody>
      </p:sp>
      <p:sp>
        <p:nvSpPr>
          <p:cNvPr id="21" name="Text 19"/>
          <p:cNvSpPr/>
          <p:nvPr/>
        </p:nvSpPr>
        <p:spPr>
          <a:xfrm>
            <a:off x="6519672" y="3895344"/>
            <a:ext cx="4434840" cy="274320"/>
          </a:xfrm>
          <a:prstGeom prst="rect">
            <a:avLst/>
          </a:prstGeom>
          <a:noFill/>
          <a:ln/>
        </p:spPr>
        <p:txBody>
          <a:bodyPr wrap="square" lIns="0" tIns="0" rIns="0" bIns="0" rtlCol="0" anchor="ctr"/>
          <a:lstStyle/>
          <a:p>
            <a:pPr indent="0" marL="0">
              <a:buNone/>
            </a:pPr>
            <a:r>
              <a:rPr lang="en-US" sz="1350" dirty="0">
                <a:solidFill>
                  <a:srgbClr val="111827"/>
                </a:solidFill>
              </a:rPr>
              <a:t>I know what to prepare before Class 2.</a:t>
            </a:r>
            <a:endParaRPr lang="en-US" sz="1350" dirty="0"/>
          </a:p>
        </p:txBody>
      </p:sp>
      <p:sp>
        <p:nvSpPr>
          <p:cNvPr id="22" name="Text 20"/>
          <p:cNvSpPr/>
          <p:nvPr/>
        </p:nvSpPr>
        <p:spPr>
          <a:xfrm>
            <a:off x="914400" y="5440680"/>
            <a:ext cx="10332720" cy="475488"/>
          </a:xfrm>
          <a:prstGeom prst="rect">
            <a:avLst/>
          </a:prstGeom>
          <a:noFill/>
          <a:ln/>
        </p:spPr>
        <p:txBody>
          <a:bodyPr wrap="square" lIns="0" tIns="0" rIns="0" bIns="0" rtlCol="0" anchor="ctr"/>
          <a:lstStyle/>
          <a:p>
            <a:pPr algn="ctr" indent="0" marL="0">
              <a:buNone/>
            </a:pPr>
            <a:r>
              <a:rPr lang="en-US" sz="2400" b="1" dirty="0">
                <a:solidFill>
                  <a:srgbClr val="111827"/>
                </a:solidFill>
              </a:rPr>
              <a:t>Class 2 starts from this shared readiness state.</a:t>
            </a:r>
            <a:endParaRPr lang="en-US" sz="2400" dirty="0"/>
          </a:p>
        </p:txBody>
      </p:sp>
      <p:sp>
        <p:nvSpPr>
          <p:cNvPr id="23" name="Text 21"/>
          <p:cNvSpPr/>
          <p:nvPr/>
        </p:nvSpPr>
        <p:spPr>
          <a:xfrm>
            <a:off x="566928" y="6665976"/>
            <a:ext cx="6858000" cy="146304"/>
          </a:xfrm>
          <a:prstGeom prst="rect">
            <a:avLst/>
          </a:prstGeom>
          <a:noFill/>
          <a:ln/>
        </p:spPr>
        <p:txBody>
          <a:bodyPr wrap="square" lIns="0" tIns="0" rIns="0" bIns="0" rtlCol="0" anchor="ctr"/>
          <a:lstStyle/>
          <a:p>
            <a:pPr indent="0" marL="0">
              <a:buNone/>
            </a:pPr>
            <a:r>
              <a:rPr lang="en-US" sz="780" dirty="0">
                <a:solidFill>
                  <a:srgbClr val="94A3B8"/>
                </a:solidFill>
                <a:latin typeface="Arial" pitchFamily="34" charset="0"/>
                <a:ea typeface="Arial" pitchFamily="34" charset="-122"/>
                <a:cs typeface="Arial" pitchFamily="34" charset="-120"/>
              </a:rPr>
              <a:t>Agent Engineering with Gemini, ADK &amp; Antigravity</a:t>
            </a:r>
            <a:endParaRPr lang="en-US" sz="780" dirty="0"/>
          </a:p>
        </p:txBody>
      </p:sp>
      <p:sp>
        <p:nvSpPr>
          <p:cNvPr id="24" name="Text 22"/>
          <p:cNvSpPr/>
          <p:nvPr/>
        </p:nvSpPr>
        <p:spPr>
          <a:xfrm>
            <a:off x="11384280" y="6647688"/>
            <a:ext cx="320040" cy="164592"/>
          </a:xfrm>
          <a:prstGeom prst="rect">
            <a:avLst/>
          </a:prstGeom>
          <a:noFill/>
          <a:ln/>
        </p:spPr>
        <p:txBody>
          <a:bodyPr wrap="square" lIns="0" tIns="0" rIns="0" bIns="0" rtlCol="0" anchor="ctr"/>
          <a:lstStyle/>
          <a:p>
            <a:pPr algn="r" indent="0" marL="0">
              <a:buNone/>
            </a:pPr>
            <a:r>
              <a:rPr lang="en-US" sz="800" b="1" dirty="0">
                <a:solidFill>
                  <a:srgbClr val="94A3B8"/>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CloudKarya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 Course Orientation and Build Readiness</dc:title>
  <dc:subject>Agent Engineering Class 1 Overview</dc:subject>
  <dc:creator>CloudKarya</dc:creator>
  <cp:lastModifiedBy>CloudKarya</cp:lastModifiedBy>
  <cp:revision>1</cp:revision>
  <dcterms:created xsi:type="dcterms:W3CDTF">2026-07-31T02:06:52Z</dcterms:created>
  <dcterms:modified xsi:type="dcterms:W3CDTF">2026-07-31T02:06:52Z</dcterms:modified>
</cp:coreProperties>
</file>